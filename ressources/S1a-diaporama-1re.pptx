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: « On commence par une expérience. Deux textes courts, deux façons de les apprendre. Vous suivez exactement mes consignes de temps, sans tourner les pages avant le signal. » Ne révélez pas ce que l’on cherche à démontrer.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Feuille d’expérience (support 1), page 1. Lancez le chrono 3:00. Au signal : « Tournez la page.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 1:30 pour la lecture, signal, puis 1:30 pour le rappel écrit page tournée (le texte B est caché). Personne ne revient en arrière.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Chaque document a eu exactement 3 minutes. Seule la façon de travailler a changé. Un test aura lieu plus tard. Rangez la feuille. » Ne dites pas ce que l’expérience cherche à montrer.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Distribuez le support 2 (critères + banque d’amorces). La consigne et l’exemple prennent les 3 premières minutes de la phase, atelier compris.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 12:00. Circulez avec la grille de critères : transformez les questions de pure définition (« c’est ce qu’on te demandera en DS ? »), donnez une amorce de la banque aux élèves bloqués.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Binômes libres — toute la classe découvre le geste cette année. Veillez au cahier fermé : c’est la condition qui fait travailler la mémoire.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Reprenez la feuille, page 3, sans regarder les pages 1 et 2. Répondez aux 8 questions de mémoire. » Chrono 3:00.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Projetez 2 minutes. Comptage à main levée, notez les deux totaux au tableau : ce sont les chiffres de la classe qui feront la démonstration à l’écran suivant.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 maximum. Appuyez chaque idée sur les scores de la classe. Si, chez vous, A fait jeu égal ou mieux que B : dites-le honnêtement et appuyez-vous sur le vécu du binôme (voir guide, phase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 8:00 — la consigne et la règle d’or prennent les 2 premières minutes de la phase. Ceux qui n’ont pas de fiche créent directement au format questions depuis le cours : c’est même plus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Laissez ce modèle affiché pendant tout l’atelier de conversion. Deux interventions types : fiche qui raconte (« cache le verso : peux-tu t’interroger avec le recto seul ? ») ; recopie décorée (« la mise en page n’interroge personne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séance de l’année : distribuez et faites initialiser les carnets (1 minute). Trace écrite sur le support 4, à coller au carnet. Météo du transfert à la prochaine vie de classe (3 à 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socle · 1re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Mémoriser activement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s’interroger, et des fiches qui interrogent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Je n’apprends que si je fais l’effort de chercher 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 Apprendre à apprendre 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2 / 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et relisez le document A.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notez rien — vous relisez, comme on révise souvent.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signal : tournez la page.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 — en deux temps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3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54480" y="13258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 document B, une ou deux fois.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58000" y="1572768"/>
            <a:ext cx="16002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30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57200" y="26974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97180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54480" y="26974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tournée : écrivez de mémoire tout ce dont vous vous souvenez.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858000" y="2944368"/>
            <a:ext cx="16002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30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revient jamais en arrière.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pose tout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4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194560" y="1463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1572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194560" y="2121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572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754880" y="2121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063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documents, le même temps de travail.</a:t>
            </a:r>
            <a:endParaRPr lang="en-US" sz="19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aura lieu plus tard dans l’heure.</a:t>
            </a:r>
            <a:endParaRPr lang="en-US" sz="19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Rangez la feuille — on n’y touche plus.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: fabriquez vos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5 / 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votre chapitre de spécialité : 8 à 10 questions.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à gauche · réponse en mots-clés à droite — vous la cacherez pendant l’interrogation.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3 questions d’application : « à quoi ça sert », « dans quel exercice », « pourquoi ».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question : réponse courte, vérifiable dans le cours.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806440" y="1554480"/>
            <a:ext cx="2880360" cy="2377440"/>
          </a:xfrm>
          <a:prstGeom prst="roundRect">
            <a:avLst>
              <a:gd name="adj" fmla="val 3846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16642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fiche atelier (support 2)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057400"/>
            <a:ext cx="1188720" cy="16002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057400"/>
            <a:ext cx="1188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0" y="2057400"/>
            <a:ext cx="1188720" cy="1600200"/>
          </a:xfrm>
          <a:prstGeom prst="roundRect">
            <a:avLst>
              <a:gd name="adj" fmla="val 4615"/>
            </a:avLst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2057400"/>
            <a:ext cx="1188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(cachée)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— à vos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6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122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627632"/>
            <a:ext cx="1993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457200" y="26883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0" y="16002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8 à 10 questions, dont 3 d’application.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spécialité, c’est l’application qui est évaluée.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DEEAF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401568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faible : </a:t>
            </a:r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Qu’est-ce que… ? »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forte : </a:t>
            </a:r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Comment reconnaître… dans quel exercice… et qu’est-ce que cela signifie ? »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croisée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7 / 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fermé.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interroge l’autre avec ses propres questions : 3 minutes, puis on inverse.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répond fait coter chaque réponse dans sa marge :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293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93408" y="1536192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3:00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612648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463040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788920" y="3520440"/>
            <a:ext cx="548640" cy="54864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6" name="Text 12"/>
          <p:cNvSpPr/>
          <p:nvPr/>
        </p:nvSpPr>
        <p:spPr>
          <a:xfrm>
            <a:off x="27889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429000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54880" y="35204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5394960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su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 et vos N : vos priorités des 7 prochains jours.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— de mémoire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8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051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Seul, en silence · feuille page 3 · sans regarder les pages 1 et 2 · 3 minutes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— tourbières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Comment appelle-t-on le sol organique d’une tourbière ?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Quelle part des terres émergées couvrent-elles ?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Qu’est-ce qui bloque la décomposition ?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Que se passe-t-il quand une tourbière est drainée 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0916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 — récifs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214884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Quels animaux bâtissent les récifs coralliens ?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Quelle part de la surface des océans occupent-ils ?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Qu’est-ce qui déclenche le blanchissement ?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B4. Que deviennent les récifs si l’eau chaude persiste 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— 1 point par réponse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9 / 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la tourbe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environ 3 %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l’eau (absence d’oxygène)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la tourbe s’oxyde et relâche le carbone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09160" y="137160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les polypes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0,2 %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une température trop élevée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B4. le corail meurt, les récifs sont détruits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Comptez vos points : document A ____ / 4 · document B ____ / 4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levée : qui a 3 ou plus sur A ? … sur B 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vient de se passer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10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48132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dans sa mémoire fait mieux retenir que relire.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le testing effect — l’un des résultats les plus solides de la recherche.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4436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paraît facile — le texte devient familier.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facilité est une illusion de fluence : elle ressemble au savoir, elle n’en est pas.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Roediger &amp; Karpicke, 2006 · Bjork, Dunlosky &amp; Kornell, 2013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d’or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11 / 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Une fiche ne raconte pas.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pose des questions. »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309360" y="12801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465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76288" y="1353312"/>
            <a:ext cx="17190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30936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0080" y="2971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Prenez une demi-page de votre fiche-résumé.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Transformez-la : au moins 5 questions au recto, réponses courtes au verso.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schéma légendé devient un schéma à trous.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— avant / après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12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la fiche raconte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force modélise une action mécanique. Elle est représentée par un vecteur : direction, sens, valeur, point d’application. Le poids est une force verticale, vers le bas… »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la fiche interroge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9204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Que modélise une force ?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Par quoi est-elle représentée ?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Cite les 4 caractéristiques du vecteur force.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(appli.). Un livre posé sur une table : quelles forces, et pourquoi reste-t-il immobile 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: peux-tu t’interroger avec le recto seul ?</a:t>
            </a:r>
            <a:endParaRPr lang="en-US" sz="17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histoire (nuit du 4 août / DDHC) sur le support 3.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trace écrite — et votre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Engagement actif 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lis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304288" y="15087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15087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ferme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53128" y="15087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 récite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601968" y="15087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49440" y="15087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 règle d’or et vos deux scores, notés au carnet.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7315200" cy="1600200"/>
          </a:xfrm>
          <a:prstGeom prst="roundRect">
            <a:avLst>
              <a:gd name="adj" fmla="val 5714"/>
            </a:avLst>
          </a:prstGeom>
          <a:solidFill>
            <a:srgbClr val="2E5395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852928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soir : 5 minutes d’auto-interrogation, cahier fermé.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semaine : une fiche complète convertie.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 · écran 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S1a · Mémoriser activement — 1re</dc:title>
  <dc:subject>PptxGenJS Presentation</dc:subject>
  <dc:creator>Institut Stanislas de Cannes</dc:creator>
  <cp:lastModifiedBy>Institut Stanislas de Cannes</cp:lastModifiedBy>
  <cp:revision>1</cp:revision>
  <dcterms:created xsi:type="dcterms:W3CDTF">2026-07-17T21:30:06Z</dcterms:created>
  <dcterms:modified xsi:type="dcterms:W3CDTF">2026-07-17T21:30:06Z</dcterms:modified>
</cp:coreProperties>
</file>