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(0-10 min). Lancement : « En septembre, vous avez appris à réactiver un chapitre dans le temps. Aujourd'hui, on change d'échelle : le trimestre entier. » Enchaîner immédiatement sur l'écran 2. Matériel indispensable projeté à côté : le calendrier consolidé des DS du trimestre obtenu de la vie scolaire.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secondes maximum. Ce cadre justifie la séance, il n'en est pas le contenu : ne pas dériver en cours sur la réforme du bac. Les questions de coefficients fins sont renvoyées hors séance. Vérifier les coefficients de la session concernée auprès de la direction avant de projeter.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5 à 10. Projeter le calendrier consolidé des DS et construire d'abord la ligne de temps de la classe au tableau, puis chacun reporte SES échéances sur le support 1. Demander à la classe ce qui manque (évaluations non centralisées, rendus, oraux). Si le français n'apparaît nulle part, le dire explicitement : les textes étudiés ce trimestre sont une échéance invisible. Un élève qui n'a que 2 lignes a un problème de recensement : le renvoyer à l'agenda.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(10-18 min), lancement. Insister sur la règle héritée de septembre : « où j'en suis » ne se répond pas au feeling, il se vérifie. Enchaîner immédiatement sur l'écran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chrono. Circuler et challenger l'honnêteté de la colonne « préparation ». Question type à un élève qui a tout classé « avancé » : « énonce-moi le plan du chapitre du DS de [matière], sans ouvrir le classeur ». S'il cale, la case bouge. Trancher les hésitations : la n°1 est celle qui combine la date la plus proche et le plus fort enjeu.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(18-40 min), lancement. Verbatim : « Pour votre échéance n°1, vous allez remonter le temps depuis la date du DS. Trois jalons, et pas un de plus. » Enchaîner sur l'écran 7 pour le contenu de chaque jalon.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du lien avec les séances : le jalon J−14 EST une réactivation B3 (on s'interroge, on ne relit pas). Le jalon J−2 annonce D2 en janvier, où l'on apprendra à construire des séries d'exercices mélangées. Laisser cet écran affiché pendant l'atelier si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minutes chrono, cœur de la séance. Trois refus à opposer en circulant : (1) « reprendre le cours » écrit tel quel, sans contenu qui interroge ; (2) le jalon flottant (« pendant les vacances », « ce week-end ») ; (3) le plan héroïque à cinq ou six jalons — le ramener à trois. Vérifier physiquement que les trois dates sont écrites dans l'agenda : « montre-moi ton mardi J−7, qu'y a-t-il avant et après ton jalon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dernières minutes de l'atelier (minutes 38-40). Reprendre le test mot pour mot : c'est celui de la séance B3, les élèves le reconnaissent. Faire relire chaque ligne « contenu » du gabarit à cette aune avant de passer au binôme.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(40-50 min). 40-45 : contrôle croisé, le vérificateur signe. 45-50 : chacun remplit le second gabarit en autonomie complète — c'est le test de transférabilité de la méthode, le PP n'intervient qu'à la demande. En cas de désaccord sur « tenable », l'agenda tranche : si les autres DS de la semaine n'ont pas encore de jalons, le plan est optimiste — déplacer, pas supprimer.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(50-55 min), incompressible. Faire coller ou recopier le support 5 dans le carnet de méthodes, page du pilier Consolidation. Vérifier que l'échéance n°1 et sa date sont bien écrites dans l'engagement. Annoncer le suivi : météo du transfert à la prochaine vie de classe, point à J−7, débrief après le 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640080" y="777240"/>
            <a:ext cx="7863840" cy="365760"/>
          </a:xfrm>
          <a:prstGeom prst="rect">
            <a:avLst/>
          </a:prstGeom>
          <a:noFill/>
          <a:ln/>
        </p:spPr>
        <p:txBody>
          <a:bodyPr wrap="square" lIns="0" tIns="0" rIns="0" bIns="0" rtlCol="0" anchor="ctr"/>
          <a:lstStyle/>
          <a:p>
            <a:pPr algn="ctr" indent="0" marL="0">
              <a:buNone/>
            </a:pPr>
            <a:r>
              <a:rPr lang="en-US" sz="1500" spc="200" kern="0" dirty="0">
                <a:solidFill>
                  <a:srgbClr val="DEEAF6"/>
                </a:solidFill>
                <a:latin typeface="Calibri" pitchFamily="34" charset="0"/>
                <a:ea typeface="Calibri" pitchFamily="34" charset="-122"/>
                <a:cs typeface="Calibri" pitchFamily="34" charset="-120"/>
              </a:rPr>
              <a:t>Séance C3 · Première</a:t>
            </a:r>
            <a:endParaRPr lang="en-US" sz="1500" dirty="0"/>
          </a:p>
        </p:txBody>
      </p:sp>
      <p:sp>
        <p:nvSpPr>
          <p:cNvPr id="3" name="Text 1"/>
          <p:cNvSpPr/>
          <p:nvPr/>
        </p:nvSpPr>
        <p:spPr>
          <a:xfrm>
            <a:off x="640080" y="1188720"/>
            <a:ext cx="786384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Piloter un trimestre sous contrôle continu</a:t>
            </a:r>
            <a:endParaRPr lang="en-US" sz="4000" dirty="0"/>
          </a:p>
        </p:txBody>
      </p:sp>
      <p:sp>
        <p:nvSpPr>
          <p:cNvPr id="4" name="Text 2"/>
          <p:cNvSpPr/>
          <p:nvPr/>
        </p:nvSpPr>
        <p:spPr>
          <a:xfrm>
            <a:off x="640080" y="2011680"/>
            <a:ext cx="7863840" cy="502920"/>
          </a:xfrm>
          <a:prstGeom prst="rect">
            <a:avLst/>
          </a:prstGeom>
          <a:noFill/>
          <a:ln/>
        </p:spPr>
        <p:txBody>
          <a:bodyPr wrap="square" lIns="0" tIns="0" rIns="0" bIns="0" rtlCol="0" anchor="ctr"/>
          <a:lstStyle/>
          <a:p>
            <a:pPr algn="ctr" indent="0" marL="0">
              <a:buNone/>
            </a:pPr>
            <a:r>
              <a:rPr lang="en-US" sz="2200" i="1" dirty="0">
                <a:solidFill>
                  <a:srgbClr val="DEEAF6"/>
                </a:solidFill>
                <a:latin typeface="Calibri" pitchFamily="34" charset="0"/>
                <a:ea typeface="Calibri" pitchFamily="34" charset="-122"/>
                <a:cs typeface="Calibri" pitchFamily="34" charset="-120"/>
              </a:rPr>
              <a:t>Cartographier · prioriser · rétro-planifier</a:t>
            </a:r>
            <a:endParaRPr lang="en-US" sz="2200" dirty="0"/>
          </a:p>
        </p:txBody>
      </p:sp>
      <p:sp>
        <p:nvSpPr>
          <p:cNvPr id="5" name="Shape 3"/>
          <p:cNvSpPr/>
          <p:nvPr/>
        </p:nvSpPr>
        <p:spPr>
          <a:xfrm>
            <a:off x="1417320" y="2880360"/>
            <a:ext cx="6309360" cy="1051560"/>
          </a:xfrm>
          <a:prstGeom prst="roundRect">
            <a:avLst>
              <a:gd name="adj" fmla="val 8696"/>
            </a:avLst>
          </a:prstGeom>
          <a:solidFill>
            <a:srgbClr val="2E5395"/>
          </a:solidFill>
          <a:ln/>
        </p:spPr>
      </p:sp>
      <p:sp>
        <p:nvSpPr>
          <p:cNvPr id="6" name="Text 4"/>
          <p:cNvSpPr/>
          <p:nvPr/>
        </p:nvSpPr>
        <p:spPr>
          <a:xfrm>
            <a:off x="1600200" y="2971800"/>
            <a:ext cx="5943600" cy="868680"/>
          </a:xfrm>
          <a:prstGeom prst="rect">
            <a:avLst/>
          </a:prstGeom>
          <a:noFill/>
          <a:ln/>
        </p:spPr>
        <p:txBody>
          <a:bodyPr wrap="square" lIns="0" tIns="0" rIns="0" bIns="0" rtlCol="0" anchor="ctr"/>
          <a:lstStyle/>
          <a:p>
            <a:pPr algn="ctr" indent="0" marL="0">
              <a:spcAft>
                <a:spcPts val="400"/>
              </a:spcAft>
              <a:buNone/>
            </a:pPr>
            <a:r>
              <a:rPr lang="en-US" sz="1400" b="1" spc="150" kern="0" dirty="0">
                <a:solidFill>
                  <a:srgbClr val="FFFFFF"/>
                </a:solidFill>
                <a:latin typeface="Calibri" pitchFamily="34" charset="0"/>
                <a:ea typeface="Calibri" pitchFamily="34" charset="-122"/>
                <a:cs typeface="Calibri" pitchFamily="34" charset="-120"/>
              </a:rPr>
              <a:t>PILIER 4 · CONSOLIDATION</a:t>
            </a:r>
            <a:endParaRPr lang="en-US" sz="1400" dirty="0"/>
          </a:p>
          <a:p>
            <a:pPr algn="ctr" indent="0" marL="0">
              <a:spcAft>
                <a:spcPts val="400"/>
              </a:spcAft>
              <a:buNone/>
            </a:pPr>
            <a:r>
              <a:rPr lang="en-US" sz="1800" i="1" dirty="0">
                <a:solidFill>
                  <a:srgbClr val="FFFFFF"/>
                </a:solidFill>
                <a:latin typeface="Calibri" pitchFamily="34" charset="0"/>
                <a:ea typeface="Calibri" pitchFamily="34" charset="-122"/>
                <a:cs typeface="Calibri" pitchFamily="34" charset="-120"/>
              </a:rPr>
              <a:t>« Répéter dans le temps, et dormir, gravent ce que j’ai appris »</a:t>
            </a:r>
            <a:endParaRPr lang="en-US" sz="1400" dirty="0"/>
          </a:p>
        </p:txBody>
      </p:sp>
      <p:sp>
        <p:nvSpPr>
          <p:cNvPr id="7" name="Text 5"/>
          <p:cNvSpPr/>
          <p:nvPr/>
        </p:nvSpPr>
        <p:spPr>
          <a:xfrm>
            <a:off x="640080" y="4526280"/>
            <a:ext cx="7863840" cy="320040"/>
          </a:xfrm>
          <a:prstGeom prst="rect">
            <a:avLst/>
          </a:prstGeom>
          <a:noFill/>
          <a:ln/>
        </p:spPr>
        <p:txBody>
          <a:bodyPr wrap="square" lIns="0" tIns="0" rIns="0" bIns="0" rtlCol="0" anchor="ctr"/>
          <a:lstStyle/>
          <a:p>
            <a:pPr algn="ctr" indent="0" marL="0">
              <a:buNone/>
            </a:pPr>
            <a:r>
              <a:rPr lang="en-US" sz="1100" dirty="0">
                <a:solidFill>
                  <a:srgbClr val="DEEAF6"/>
                </a:solidFill>
                <a:latin typeface="Calibri" pitchFamily="34" charset="0"/>
                <a:ea typeface="Calibri" pitchFamily="34" charset="-122"/>
                <a:cs typeface="Calibri" pitchFamily="34" charset="-120"/>
              </a:rPr>
              <a:t>Dispositif « Apprendre à apprendre » · Institut Stanislas de Cannes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Ce qui a changé cette année</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Shape 3"/>
          <p:cNvSpPr/>
          <p:nvPr/>
        </p:nvSpPr>
        <p:spPr>
          <a:xfrm>
            <a:off x="457200" y="1188720"/>
            <a:ext cx="7040880" cy="777240"/>
          </a:xfrm>
          <a:prstGeom prst="roundRect">
            <a:avLst>
              <a:gd name="adj" fmla="val 11765"/>
            </a:avLst>
          </a:prstGeom>
          <a:solidFill>
            <a:srgbClr val="DEEAF6"/>
          </a:solidFill>
          <a:ln/>
        </p:spPr>
      </p:sp>
      <p:sp>
        <p:nvSpPr>
          <p:cNvPr id="7" name="Text 4"/>
          <p:cNvSpPr/>
          <p:nvPr/>
        </p:nvSpPr>
        <p:spPr>
          <a:xfrm>
            <a:off x="685800" y="1188720"/>
            <a:ext cx="6583680" cy="77724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Chaque moyenne de 1re compte déjà pour le bac.</a:t>
            </a:r>
            <a:endParaRPr lang="en-US" sz="2400" dirty="0"/>
          </a:p>
        </p:txBody>
      </p:sp>
      <p:sp>
        <p:nvSpPr>
          <p:cNvPr id="8" name="Shape 5"/>
          <p:cNvSpPr/>
          <p:nvPr/>
        </p:nvSpPr>
        <p:spPr>
          <a:xfrm>
            <a:off x="457200" y="2194560"/>
            <a:ext cx="3429000" cy="1051560"/>
          </a:xfrm>
          <a:prstGeom prst="roundRect">
            <a:avLst>
              <a:gd name="adj" fmla="val 8696"/>
            </a:avLst>
          </a:prstGeom>
          <a:solidFill>
            <a:srgbClr val="F2F2F2"/>
          </a:solidFill>
          <a:ln/>
        </p:spPr>
      </p:sp>
      <p:sp>
        <p:nvSpPr>
          <p:cNvPr id="9" name="Text 6"/>
          <p:cNvSpPr/>
          <p:nvPr/>
        </p:nvSpPr>
        <p:spPr>
          <a:xfrm>
            <a:off x="685800" y="2286000"/>
            <a:ext cx="2971800" cy="868680"/>
          </a:xfrm>
          <a:prstGeom prst="rect">
            <a:avLst/>
          </a:prstGeom>
          <a:noFill/>
          <a:ln/>
        </p:spPr>
        <p:txBody>
          <a:bodyPr wrap="square" lIns="0" tIns="0" rIns="0" bIns="0"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40 %</a:t>
            </a:r>
            <a:endParaRPr lang="en-US" sz="2600" dirty="0"/>
          </a:p>
          <a:p>
            <a:pPr indent="0" marL="0">
              <a:buNone/>
            </a:pPr>
            <a:r>
              <a:rPr lang="en-US" sz="1400" dirty="0">
                <a:solidFill>
                  <a:srgbClr val="2B2B2B"/>
                </a:solidFill>
                <a:latin typeface="Calibri" pitchFamily="34" charset="0"/>
                <a:ea typeface="Calibri" pitchFamily="34" charset="-122"/>
                <a:cs typeface="Calibri" pitchFamily="34" charset="-120"/>
              </a:rPr>
              <a:t>contrôle continu : vos moyennes de 1re et de Tle</a:t>
            </a:r>
            <a:endParaRPr lang="en-US" sz="2600" dirty="0"/>
          </a:p>
        </p:txBody>
      </p:sp>
      <p:sp>
        <p:nvSpPr>
          <p:cNvPr id="10" name="Shape 7"/>
          <p:cNvSpPr/>
          <p:nvPr/>
        </p:nvSpPr>
        <p:spPr>
          <a:xfrm>
            <a:off x="4069080" y="2194560"/>
            <a:ext cx="3429000" cy="1051560"/>
          </a:xfrm>
          <a:prstGeom prst="roundRect">
            <a:avLst>
              <a:gd name="adj" fmla="val 8696"/>
            </a:avLst>
          </a:prstGeom>
          <a:solidFill>
            <a:srgbClr val="F2F2F2"/>
          </a:solidFill>
          <a:ln/>
        </p:spPr>
      </p:sp>
      <p:sp>
        <p:nvSpPr>
          <p:cNvPr id="11" name="Text 8"/>
          <p:cNvSpPr/>
          <p:nvPr/>
        </p:nvSpPr>
        <p:spPr>
          <a:xfrm>
            <a:off x="4297680" y="2286000"/>
            <a:ext cx="2971800" cy="868680"/>
          </a:xfrm>
          <a:prstGeom prst="rect">
            <a:avLst/>
          </a:prstGeom>
          <a:noFill/>
          <a:ln/>
        </p:spPr>
        <p:txBody>
          <a:bodyPr wrap="square" lIns="0" tIns="0" rIns="0" bIns="0"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60 %</a:t>
            </a:r>
            <a:endParaRPr lang="en-US" sz="2600" dirty="0"/>
          </a:p>
          <a:p>
            <a:pPr indent="0" marL="0">
              <a:buNone/>
            </a:pPr>
            <a:r>
              <a:rPr lang="en-US" sz="1400" dirty="0">
                <a:solidFill>
                  <a:srgbClr val="2B2B2B"/>
                </a:solidFill>
                <a:latin typeface="Calibri" pitchFamily="34" charset="0"/>
                <a:ea typeface="Calibri" pitchFamily="34" charset="-122"/>
                <a:cs typeface="Calibri" pitchFamily="34" charset="-120"/>
              </a:rPr>
              <a:t>épreuves terminales : français, spécialités, philosophie, Grand Oral</a:t>
            </a:r>
            <a:endParaRPr lang="en-US" sz="2600" dirty="0"/>
          </a:p>
        </p:txBody>
      </p:sp>
      <p:sp>
        <p:nvSpPr>
          <p:cNvPr id="12" name="Text 9"/>
          <p:cNvSpPr/>
          <p:nvPr/>
        </p:nvSpPr>
        <p:spPr>
          <a:xfrm>
            <a:off x="457200" y="3383280"/>
            <a:ext cx="7040880" cy="320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La spécialité abandonnée en fin de 1re compte aussi — en contrôle continu.</a:t>
            </a:r>
            <a:endParaRPr lang="en-US" sz="1500" dirty="0"/>
          </a:p>
        </p:txBody>
      </p:sp>
      <p:sp>
        <p:nvSpPr>
          <p:cNvPr id="13" name="Text 10"/>
          <p:cNvSpPr/>
          <p:nvPr/>
        </p:nvSpPr>
        <p:spPr>
          <a:xfrm>
            <a:off x="457200" y="3794760"/>
            <a:ext cx="7040880" cy="548640"/>
          </a:xfrm>
          <a:prstGeom prst="rect">
            <a:avLst/>
          </a:prstGeom>
          <a:noFill/>
          <a:ln/>
        </p:spPr>
        <p:txBody>
          <a:bodyPr wrap="square" lIns="0" tIns="0" rIns="0" bIns="0" rtlCol="0" anchor="ctr"/>
          <a:lstStyle/>
          <a:p>
            <a:pPr indent="0" marL="0">
              <a:buNone/>
            </a:pPr>
            <a:r>
              <a:rPr lang="en-US" sz="1600" b="1" i="1" dirty="0">
                <a:solidFill>
                  <a:srgbClr val="2E5395"/>
                </a:solidFill>
                <a:latin typeface="Calibri" pitchFamily="34" charset="0"/>
                <a:ea typeface="Calibri" pitchFamily="34" charset="-122"/>
                <a:cs typeface="Calibri" pitchFamily="34" charset="-120"/>
              </a:rPr>
              <a:t>Donc la question n’est plus « quand est-ce que je m’y mets ? » mais « qu’est-ce qui arrive, et dans quel ordre ? »</a:t>
            </a:r>
            <a:endParaRPr lang="en-US" sz="1600" dirty="0"/>
          </a:p>
        </p:txBody>
      </p:sp>
      <p:sp>
        <p:nvSpPr>
          <p:cNvPr id="14" name="Text 11"/>
          <p:cNvSpPr/>
          <p:nvPr/>
        </p:nvSpPr>
        <p:spPr>
          <a:xfrm>
            <a:off x="457200" y="4590288"/>
            <a:ext cx="69494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Règle de l’examen (cadre réglementaire du baccalauréat) — pas une opinion. Coefficients de la session : à confirmer par l’établissement.</a:t>
            </a:r>
            <a:endParaRPr lang="en-US" sz="1050" dirty="0"/>
          </a:p>
        </p:txBody>
      </p:sp>
      <p:sp>
        <p:nvSpPr>
          <p:cNvPr id="15" name="Text 12"/>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Ma ligne de temps du trimestre</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Shape 3"/>
          <p:cNvSpPr/>
          <p:nvPr/>
        </p:nvSpPr>
        <p:spPr>
          <a:xfrm>
            <a:off x="457200" y="1188720"/>
            <a:ext cx="5349240" cy="640080"/>
          </a:xfrm>
          <a:prstGeom prst="roundRect">
            <a:avLst>
              <a:gd name="adj" fmla="val 14286"/>
            </a:avLst>
          </a:prstGeom>
          <a:solidFill>
            <a:srgbClr val="DEEAF6"/>
          </a:solidFill>
          <a:ln/>
        </p:spPr>
      </p:sp>
      <p:sp>
        <p:nvSpPr>
          <p:cNvPr id="7" name="Text 4"/>
          <p:cNvSpPr/>
          <p:nvPr/>
        </p:nvSpPr>
        <p:spPr>
          <a:xfrm>
            <a:off x="685800" y="1188720"/>
            <a:ext cx="4892040" cy="640080"/>
          </a:xfrm>
          <a:prstGeom prst="rect">
            <a:avLst/>
          </a:prstGeom>
          <a:noFill/>
          <a:ln/>
        </p:spPr>
        <p:txBody>
          <a:bodyPr wrap="square" lIns="0" tIns="0" rIns="0" bIns="0" rtlCol="0" anchor="ctr"/>
          <a:lstStyle/>
          <a:p>
            <a:pPr indent="0" marL="0">
              <a:buNone/>
            </a:pPr>
            <a:r>
              <a:rPr lang="en-US" sz="2000" b="1" dirty="0">
                <a:solidFill>
                  <a:srgbClr val="1F3864"/>
                </a:solidFill>
                <a:latin typeface="Calibri" pitchFamily="34" charset="0"/>
                <a:ea typeface="Calibri" pitchFamily="34" charset="-122"/>
                <a:cs typeface="Calibri" pitchFamily="34" charset="-120"/>
              </a:rPr>
              <a:t>Agenda ouvert · support 1</a:t>
            </a:r>
            <a:endParaRPr lang="en-US" sz="2000" dirty="0"/>
          </a:p>
        </p:txBody>
      </p:sp>
      <p:sp>
        <p:nvSpPr>
          <p:cNvPr id="8" name="Text 5"/>
          <p:cNvSpPr/>
          <p:nvPr/>
        </p:nvSpPr>
        <p:spPr>
          <a:xfrm>
            <a:off x="502920" y="2011680"/>
            <a:ext cx="5303520" cy="1737360"/>
          </a:xfrm>
          <a:prstGeom prst="rect">
            <a:avLst/>
          </a:prstGeom>
          <a:noFill/>
          <a:ln/>
        </p:spPr>
        <p:txBody>
          <a:bodyPr wrap="square" lIns="0" tIns="0" rIns="0" bIns="0" rtlCol="0" anchor="t"/>
          <a:lstStyle/>
          <a:p>
            <a:pPr marL="342900" indent="-342900">
              <a:spcAft>
                <a:spcPts val="1000"/>
              </a:spcAft>
              <a:buSzPct val="100000"/>
              <a:buChar char="•"/>
            </a:pPr>
            <a:r>
              <a:rPr lang="en-US" sz="1700" b="1" dirty="0">
                <a:solidFill>
                  <a:srgbClr val="2B2B2B"/>
                </a:solidFill>
                <a:latin typeface="Calibri" pitchFamily="34" charset="0"/>
                <a:ea typeface="Calibri" pitchFamily="34" charset="-122"/>
                <a:cs typeface="Calibri" pitchFamily="34" charset="-120"/>
              </a:rPr>
              <a:t>Tout ce qui produira une note ou un rendu daté entre sur la ligne.</a:t>
            </a:r>
            <a:endParaRPr lang="en-US" sz="17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DS communs, interrogations, rendus de dossiers, oraux blancs.</a:t>
            </a:r>
            <a:endParaRPr lang="en-US" sz="17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Et vos textes de français du trimestre : l’oral se prépare toute l’année.</a:t>
            </a:r>
            <a:endParaRPr lang="en-US" sz="1700" dirty="0"/>
          </a:p>
        </p:txBody>
      </p:sp>
      <p:sp>
        <p:nvSpPr>
          <p:cNvPr id="9" name="Shape 6"/>
          <p:cNvSpPr/>
          <p:nvPr/>
        </p:nvSpPr>
        <p:spPr>
          <a:xfrm>
            <a:off x="6035040" y="1783080"/>
            <a:ext cx="2651760" cy="1417320"/>
          </a:xfrm>
          <a:prstGeom prst="roundRect">
            <a:avLst>
              <a:gd name="adj" fmla="val 7742"/>
            </a:avLst>
          </a:prstGeom>
          <a:solidFill>
            <a:srgbClr val="F2F2F2"/>
          </a:solidFill>
          <a:ln/>
        </p:spPr>
      </p:sp>
      <p:pic>
        <p:nvPicPr>
          <p:cNvPr id="10" name="Image 1" descr="preencoded.png">    </p:cNvPr>
          <p:cNvPicPr>
            <a:picLocks noChangeAspect="1"/>
          </p:cNvPicPr>
          <p:nvPr/>
        </p:nvPicPr>
        <p:blipFill>
          <a:blip r:embed="rId2"/>
          <a:stretch>
            <a:fillRect/>
          </a:stretch>
        </p:blipFill>
        <p:spPr>
          <a:xfrm>
            <a:off x="6236208" y="2318004"/>
            <a:ext cx="347472" cy="347472"/>
          </a:xfrm>
          <a:prstGeom prst="rect">
            <a:avLst/>
          </a:prstGeom>
        </p:spPr>
      </p:pic>
      <p:sp>
        <p:nvSpPr>
          <p:cNvPr id="11" name="Text 7"/>
          <p:cNvSpPr/>
          <p:nvPr/>
        </p:nvSpPr>
        <p:spPr>
          <a:xfrm>
            <a:off x="6601968" y="18562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5:00</a:t>
            </a:r>
            <a:endParaRPr lang="en-US" sz="4000" dirty="0"/>
          </a:p>
        </p:txBody>
      </p:sp>
      <p:sp>
        <p:nvSpPr>
          <p:cNvPr id="12" name="Text 8"/>
          <p:cNvSpPr/>
          <p:nvPr/>
        </p:nvSpPr>
        <p:spPr>
          <a:xfrm>
            <a:off x="6035040" y="28712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3" name="Text 9"/>
          <p:cNvSpPr/>
          <p:nvPr/>
        </p:nvSpPr>
        <p:spPr>
          <a:xfrm>
            <a:off x="457200" y="3840480"/>
            <a:ext cx="8229600" cy="365760"/>
          </a:xfrm>
          <a:prstGeom prst="rect">
            <a:avLst/>
          </a:prstGeom>
          <a:noFill/>
          <a:ln/>
        </p:spPr>
        <p:txBody>
          <a:bodyPr wrap="square" lIns="0" tIns="0" rIns="0" bIns="0" rtlCol="0" anchor="ctr"/>
          <a:lstStyle/>
          <a:p>
            <a:pPr indent="0" marL="0">
              <a:buNone/>
            </a:pPr>
            <a:r>
              <a:rPr lang="en-US" sz="1500" i="1" dirty="0">
                <a:solidFill>
                  <a:srgbClr val="2E5395"/>
                </a:solidFill>
                <a:latin typeface="Calibri" pitchFamily="34" charset="0"/>
                <a:ea typeface="Calibri" pitchFamily="34" charset="-122"/>
                <a:cs typeface="Calibri" pitchFamily="34" charset="-120"/>
              </a:rPr>
              <a:t>Deux sources, pas une : le calendrier des DS projeté et VOTRE agenda.</a:t>
            </a:r>
            <a:endParaRPr lang="en-US" sz="1500" dirty="0"/>
          </a:p>
        </p:txBody>
      </p:sp>
      <p:sp>
        <p:nvSpPr>
          <p:cNvPr id="14" name="Text 10"/>
          <p:cNvSpPr/>
          <p:nvPr/>
        </p:nvSpPr>
        <p:spPr>
          <a:xfrm>
            <a:off x="457200" y="4590288"/>
            <a:ext cx="69494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Objectif : entre 5 et 12 échéances datées. Moins de 5 = il en manque.</a:t>
            </a:r>
            <a:endParaRPr lang="en-US" sz="1050" dirty="0"/>
          </a:p>
        </p:txBody>
      </p:sp>
      <p:sp>
        <p:nvSpPr>
          <p:cNvPr id="15" name="Text 11"/>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Tout ne se vaut pas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Text 3"/>
          <p:cNvSpPr/>
          <p:nvPr/>
        </p:nvSpPr>
        <p:spPr>
          <a:xfrm>
            <a:off x="457200" y="1143000"/>
            <a:ext cx="7040880" cy="365760"/>
          </a:xfrm>
          <a:prstGeom prst="rect">
            <a:avLst/>
          </a:prstGeom>
          <a:noFill/>
          <a:ln/>
        </p:spPr>
        <p:txBody>
          <a:bodyPr wrap="square" lIns="0" tIns="0" rIns="0" bIns="0" rtlCol="0" anchor="ctr"/>
          <a:lstStyle/>
          <a:p>
            <a:pPr indent="0" marL="0">
              <a:buNone/>
            </a:pPr>
            <a:r>
              <a:rPr lang="en-US" sz="1700" dirty="0">
                <a:solidFill>
                  <a:srgbClr val="2B2B2B"/>
                </a:solidFill>
                <a:latin typeface="Calibri" pitchFamily="34" charset="0"/>
                <a:ea typeface="Calibri" pitchFamily="34" charset="-122"/>
                <a:cs typeface="Calibri" pitchFamily="34" charset="-120"/>
              </a:rPr>
              <a:t>Deux questions, pour chaque échéance :</a:t>
            </a:r>
            <a:endParaRPr lang="en-US" sz="1700" dirty="0"/>
          </a:p>
        </p:txBody>
      </p:sp>
      <p:sp>
        <p:nvSpPr>
          <p:cNvPr id="7" name="Shape 4"/>
          <p:cNvSpPr/>
          <p:nvPr/>
        </p:nvSpPr>
        <p:spPr>
          <a:xfrm>
            <a:off x="457200" y="1600200"/>
            <a:ext cx="3429000" cy="914400"/>
          </a:xfrm>
          <a:prstGeom prst="roundRect">
            <a:avLst>
              <a:gd name="adj" fmla="val 10000"/>
            </a:avLst>
          </a:prstGeom>
          <a:solidFill>
            <a:srgbClr val="F2F2F2"/>
          </a:solidFill>
          <a:ln/>
        </p:spPr>
      </p:sp>
      <p:sp>
        <p:nvSpPr>
          <p:cNvPr id="8" name="Text 5"/>
          <p:cNvSpPr/>
          <p:nvPr/>
        </p:nvSpPr>
        <p:spPr>
          <a:xfrm>
            <a:off x="685800" y="1600200"/>
            <a:ext cx="2971800" cy="914400"/>
          </a:xfrm>
          <a:prstGeom prst="rect">
            <a:avLst/>
          </a:prstGeom>
          <a:noFill/>
          <a:ln/>
        </p:spPr>
        <p:txBody>
          <a:bodyPr wrap="square" lIns="0" tIns="0" rIns="0" bIns="0" rtlCol="0" anchor="ctr"/>
          <a:lstStyle/>
          <a:p>
            <a:pPr indent="0" marL="0">
              <a:buNone/>
            </a:pPr>
            <a:r>
              <a:rPr lang="en-US" sz="2000" b="1" dirty="0">
                <a:solidFill>
                  <a:srgbClr val="1F3864"/>
                </a:solidFill>
                <a:latin typeface="Calibri" pitchFamily="34" charset="0"/>
                <a:ea typeface="Calibri" pitchFamily="34" charset="-122"/>
                <a:cs typeface="Calibri" pitchFamily="34" charset="-120"/>
              </a:rPr>
              <a:t>Combien ça pèse ?</a:t>
            </a:r>
            <a:endParaRPr lang="en-US" sz="2000" dirty="0"/>
          </a:p>
        </p:txBody>
      </p:sp>
      <p:sp>
        <p:nvSpPr>
          <p:cNvPr id="9" name="Shape 6"/>
          <p:cNvSpPr/>
          <p:nvPr/>
        </p:nvSpPr>
        <p:spPr>
          <a:xfrm>
            <a:off x="4069080" y="1600200"/>
            <a:ext cx="3429000" cy="914400"/>
          </a:xfrm>
          <a:prstGeom prst="roundRect">
            <a:avLst>
              <a:gd name="adj" fmla="val 10000"/>
            </a:avLst>
          </a:prstGeom>
          <a:solidFill>
            <a:srgbClr val="F2F2F2"/>
          </a:solidFill>
          <a:ln/>
        </p:spPr>
      </p:sp>
      <p:sp>
        <p:nvSpPr>
          <p:cNvPr id="10" name="Text 7"/>
          <p:cNvSpPr/>
          <p:nvPr/>
        </p:nvSpPr>
        <p:spPr>
          <a:xfrm>
            <a:off x="4297680" y="1600200"/>
            <a:ext cx="2971800" cy="914400"/>
          </a:xfrm>
          <a:prstGeom prst="rect">
            <a:avLst/>
          </a:prstGeom>
          <a:noFill/>
          <a:ln/>
        </p:spPr>
        <p:txBody>
          <a:bodyPr wrap="square" lIns="0" tIns="0" rIns="0" bIns="0" rtlCol="0" anchor="ctr"/>
          <a:lstStyle/>
          <a:p>
            <a:pPr indent="0" marL="0">
              <a:buNone/>
            </a:pPr>
            <a:r>
              <a:rPr lang="en-US" sz="2000" b="1" dirty="0">
                <a:solidFill>
                  <a:srgbClr val="1F3864"/>
                </a:solidFill>
                <a:latin typeface="Calibri" pitchFamily="34" charset="0"/>
                <a:ea typeface="Calibri" pitchFamily="34" charset="-122"/>
                <a:cs typeface="Calibri" pitchFamily="34" charset="-120"/>
              </a:rPr>
              <a:t>Où j’en suis, vraiment ?</a:t>
            </a:r>
            <a:endParaRPr lang="en-US" sz="2000" dirty="0"/>
          </a:p>
        </p:txBody>
      </p:sp>
      <p:sp>
        <p:nvSpPr>
          <p:cNvPr id="11" name="Text 8"/>
          <p:cNvSpPr/>
          <p:nvPr/>
        </p:nvSpPr>
        <p:spPr>
          <a:xfrm>
            <a:off x="457200" y="2743200"/>
            <a:ext cx="7040880" cy="411480"/>
          </a:xfrm>
          <a:prstGeom prst="rect">
            <a:avLst/>
          </a:prstGeom>
          <a:noFill/>
          <a:ln/>
        </p:spPr>
        <p:txBody>
          <a:bodyPr wrap="square" lIns="0" tIns="0" rIns="0" bIns="0" rtlCol="0" anchor="ctr"/>
          <a:lstStyle/>
          <a:p>
            <a:pPr indent="0" marL="0">
              <a:buNone/>
            </a:pPr>
            <a:r>
              <a:rPr lang="en-US" sz="2200" b="1" dirty="0">
                <a:solidFill>
                  <a:srgbClr val="C00000"/>
                </a:solidFill>
                <a:latin typeface="Calibri" pitchFamily="34" charset="0"/>
                <a:ea typeface="Calibri" pitchFamily="34" charset="-122"/>
                <a:cs typeface="Calibri" pitchFamily="34" charset="-120"/>
              </a:rPr>
              <a:t>Interdiction du feeling.</a:t>
            </a:r>
            <a:endParaRPr lang="en-US" sz="2200" dirty="0"/>
          </a:p>
        </p:txBody>
      </p:sp>
      <p:sp>
        <p:nvSpPr>
          <p:cNvPr id="12" name="Shape 9"/>
          <p:cNvSpPr/>
          <p:nvPr/>
        </p:nvSpPr>
        <p:spPr>
          <a:xfrm>
            <a:off x="457200" y="3246120"/>
            <a:ext cx="7040880" cy="1051560"/>
          </a:xfrm>
          <a:prstGeom prst="roundRect">
            <a:avLst>
              <a:gd name="adj" fmla="val 8696"/>
            </a:avLst>
          </a:prstGeom>
          <a:solidFill>
            <a:srgbClr val="DEEAF6"/>
          </a:solidFill>
          <a:ln/>
        </p:spPr>
      </p:sp>
      <p:sp>
        <p:nvSpPr>
          <p:cNvPr id="13" name="Text 10"/>
          <p:cNvSpPr/>
          <p:nvPr/>
        </p:nvSpPr>
        <p:spPr>
          <a:xfrm>
            <a:off x="685800" y="3291840"/>
            <a:ext cx="6583680" cy="960120"/>
          </a:xfrm>
          <a:prstGeom prst="rect">
            <a:avLst/>
          </a:prstGeom>
          <a:noFill/>
          <a:ln/>
        </p:spPr>
        <p:txBody>
          <a:bodyPr wrap="square" lIns="0" tIns="0" rIns="0" bIns="0" rtlCol="0" anchor="ctr"/>
          <a:lstStyle/>
          <a:p>
            <a:pPr indent="0" marL="0">
              <a:spcAft>
                <a:spcPts val="200"/>
              </a:spcAft>
              <a:buNone/>
            </a:pPr>
            <a:r>
              <a:rPr lang="en-US" sz="1600" b="1" dirty="0">
                <a:solidFill>
                  <a:srgbClr val="1F3864"/>
                </a:solidFill>
                <a:latin typeface="Calibri" pitchFamily="34" charset="0"/>
                <a:ea typeface="Calibri" pitchFamily="34" charset="-122"/>
                <a:cs typeface="Calibri" pitchFamily="34" charset="-120"/>
              </a:rPr>
              <a:t>Le test de 30 secondes, classeur fermé :</a:t>
            </a:r>
            <a:endParaRPr lang="en-US" sz="1600" dirty="0"/>
          </a:p>
          <a:p>
            <a:pPr indent="0" marL="0">
              <a:spcAft>
                <a:spcPts val="200"/>
              </a:spcAft>
              <a:buNone/>
            </a:pPr>
            <a:r>
              <a:rPr lang="en-US" sz="1600" dirty="0">
                <a:solidFill>
                  <a:srgbClr val="2B2B2B"/>
                </a:solidFill>
                <a:latin typeface="Calibri" pitchFamily="34" charset="0"/>
                <a:ea typeface="Calibri" pitchFamily="34" charset="-122"/>
                <a:cs typeface="Calibri" pitchFamily="34" charset="-120"/>
              </a:rPr>
              <a:t>suis-je capable, maintenant, d’énoncer le plan du chapitre ou de refaire un exercice type ?</a:t>
            </a:r>
            <a:endParaRPr lang="en-US" sz="1600" dirty="0"/>
          </a:p>
          <a:p>
            <a:pPr indent="0" marL="0">
              <a:spcAft>
                <a:spcPts val="200"/>
              </a:spcAft>
              <a:buNone/>
            </a:pPr>
            <a:r>
              <a:rPr lang="en-US" sz="1600" i="1" dirty="0">
                <a:solidFill>
                  <a:srgbClr val="2B2B2B"/>
                </a:solidFill>
                <a:latin typeface="Calibri" pitchFamily="34" charset="0"/>
                <a:ea typeface="Calibri" pitchFamily="34" charset="-122"/>
                <a:cs typeface="Calibri" pitchFamily="34" charset="-120"/>
              </a:rPr>
              <a:t>Si non : je ne suis pas prêt, même si le cours me semble familier.</a:t>
            </a:r>
            <a:endParaRPr lang="en-US" sz="1600" dirty="0"/>
          </a:p>
        </p:txBody>
      </p:sp>
      <p:sp>
        <p:nvSpPr>
          <p:cNvPr id="14" name="Text 11"/>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Ma matrice de priorisation</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502920" y="1188720"/>
            <a:ext cx="4114800" cy="155448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Support 2 : placez chaque échéance du support 1 dans une case.</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Enjeu = poids dans la moyenne. Préparation = test de 30 secondes.</a:t>
            </a:r>
            <a:endParaRPr lang="en-US" sz="1600" dirty="0"/>
          </a:p>
          <a:p>
            <a:pPr marL="342900" indent="-342900">
              <a:spcAft>
                <a:spcPts val="1000"/>
              </a:spcAft>
              <a:buSzPct val="100000"/>
              <a:buChar char="•"/>
            </a:pPr>
            <a:r>
              <a:rPr lang="en-US" sz="1600" b="1" dirty="0">
                <a:solidFill>
                  <a:srgbClr val="2B2B2B"/>
                </a:solidFill>
                <a:latin typeface="Calibri" pitchFamily="34" charset="0"/>
                <a:ea typeface="Calibri" pitchFamily="34" charset="-122"/>
                <a:cs typeface="Calibri" pitchFamily="34" charset="-120"/>
              </a:rPr>
              <a:t>Entourez vos 2 ou 3 échéances de la zone critique.</a:t>
            </a:r>
            <a:endParaRPr lang="en-US" sz="1600" dirty="0"/>
          </a:p>
        </p:txBody>
      </p:sp>
      <p:sp>
        <p:nvSpPr>
          <p:cNvPr id="7" name="Shape 4"/>
          <p:cNvSpPr/>
          <p:nvPr/>
        </p:nvSpPr>
        <p:spPr>
          <a:xfrm>
            <a:off x="457200" y="2880360"/>
            <a:ext cx="2377440" cy="1234440"/>
          </a:xfrm>
          <a:prstGeom prst="roundRect">
            <a:avLst>
              <a:gd name="adj" fmla="val 8889"/>
            </a:avLst>
          </a:prstGeom>
          <a:solidFill>
            <a:srgbClr val="F2F2F2"/>
          </a:solidFill>
          <a:ln/>
        </p:spPr>
      </p:sp>
      <p:pic>
        <p:nvPicPr>
          <p:cNvPr id="8" name="Image 1" descr="preencoded.png">    </p:cNvPr>
          <p:cNvPicPr>
            <a:picLocks noChangeAspect="1"/>
          </p:cNvPicPr>
          <p:nvPr/>
        </p:nvPicPr>
        <p:blipFill>
          <a:blip r:embed="rId2"/>
          <a:stretch>
            <a:fillRect/>
          </a:stretch>
        </p:blipFill>
        <p:spPr>
          <a:xfrm>
            <a:off x="658368" y="3323844"/>
            <a:ext cx="347472" cy="347472"/>
          </a:xfrm>
          <a:prstGeom prst="rect">
            <a:avLst/>
          </a:prstGeom>
        </p:spPr>
      </p:pic>
      <p:sp>
        <p:nvSpPr>
          <p:cNvPr id="9" name="Text 5"/>
          <p:cNvSpPr/>
          <p:nvPr/>
        </p:nvSpPr>
        <p:spPr>
          <a:xfrm>
            <a:off x="1024128" y="2953512"/>
            <a:ext cx="1719072" cy="85039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8:00</a:t>
            </a:r>
            <a:endParaRPr lang="en-US" sz="4000" dirty="0"/>
          </a:p>
        </p:txBody>
      </p:sp>
      <p:sp>
        <p:nvSpPr>
          <p:cNvPr id="10" name="Text 6"/>
          <p:cNvSpPr/>
          <p:nvPr/>
        </p:nvSpPr>
        <p:spPr>
          <a:xfrm>
            <a:off x="457200" y="3785616"/>
            <a:ext cx="237744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1" name="Text 7"/>
          <p:cNvSpPr/>
          <p:nvPr/>
        </p:nvSpPr>
        <p:spPr>
          <a:xfrm>
            <a:off x="3017520" y="3108960"/>
            <a:ext cx="1737360" cy="82296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Échéance n°1</a:t>
            </a:r>
            <a:endParaRPr lang="en-US" sz="1500" dirty="0"/>
          </a:p>
          <a:p>
            <a:pPr indent="0" marL="0">
              <a:buNone/>
            </a:pPr>
            <a:r>
              <a:rPr lang="en-US" sz="1300" i="1" dirty="0">
                <a:solidFill>
                  <a:srgbClr val="6B7280"/>
                </a:solidFill>
                <a:latin typeface="Calibri" pitchFamily="34" charset="0"/>
                <a:ea typeface="Calibri" pitchFamily="34" charset="-122"/>
                <a:cs typeface="Calibri" pitchFamily="34" charset="-120"/>
              </a:rPr>
              <a:t>la plus proche + le plus fort enjeu</a:t>
            </a:r>
            <a:endParaRPr lang="en-US" sz="1500" dirty="0"/>
          </a:p>
        </p:txBody>
      </p:sp>
      <p:sp>
        <p:nvSpPr>
          <p:cNvPr id="12" name="Text 8"/>
          <p:cNvSpPr/>
          <p:nvPr/>
        </p:nvSpPr>
        <p:spPr>
          <a:xfrm>
            <a:off x="5852160" y="960120"/>
            <a:ext cx="1691640" cy="256032"/>
          </a:xfrm>
          <a:prstGeom prst="rect">
            <a:avLst/>
          </a:prstGeom>
          <a:noFill/>
          <a:ln/>
        </p:spPr>
        <p:txBody>
          <a:bodyPr wrap="square" lIns="0" tIns="0" rIns="0" bIns="0" rtlCol="0" anchor="ctr"/>
          <a:lstStyle/>
          <a:p>
            <a:pPr algn="ctr" indent="0" marL="0">
              <a:buNone/>
            </a:pPr>
            <a:r>
              <a:rPr lang="en-US" sz="1150" b="1" dirty="0">
                <a:solidFill>
                  <a:srgbClr val="6B7280"/>
                </a:solidFill>
                <a:latin typeface="Calibri" pitchFamily="34" charset="0"/>
                <a:ea typeface="Calibri" pitchFamily="34" charset="-122"/>
                <a:cs typeface="Calibri" pitchFamily="34" charset="-120"/>
              </a:rPr>
              <a:t>Enjeu modéré</a:t>
            </a:r>
            <a:endParaRPr lang="en-US" sz="1150" dirty="0"/>
          </a:p>
        </p:txBody>
      </p:sp>
      <p:sp>
        <p:nvSpPr>
          <p:cNvPr id="13" name="Text 9"/>
          <p:cNvSpPr/>
          <p:nvPr/>
        </p:nvSpPr>
        <p:spPr>
          <a:xfrm>
            <a:off x="7543800" y="960120"/>
            <a:ext cx="1691640" cy="256032"/>
          </a:xfrm>
          <a:prstGeom prst="rect">
            <a:avLst/>
          </a:prstGeom>
          <a:noFill/>
          <a:ln/>
        </p:spPr>
        <p:txBody>
          <a:bodyPr wrap="square" lIns="0" tIns="0" rIns="0" bIns="0" rtlCol="0" anchor="ctr"/>
          <a:lstStyle/>
          <a:p>
            <a:pPr algn="ctr" indent="0" marL="0">
              <a:buNone/>
            </a:pPr>
            <a:r>
              <a:rPr lang="en-US" sz="1150" b="1" dirty="0">
                <a:solidFill>
                  <a:srgbClr val="6B7280"/>
                </a:solidFill>
                <a:latin typeface="Calibri" pitchFamily="34" charset="0"/>
                <a:ea typeface="Calibri" pitchFamily="34" charset="-122"/>
                <a:cs typeface="Calibri" pitchFamily="34" charset="-120"/>
              </a:rPr>
              <a:t>Enjeu fort</a:t>
            </a:r>
            <a:endParaRPr lang="en-US" sz="1150" dirty="0"/>
          </a:p>
        </p:txBody>
      </p:sp>
      <p:sp>
        <p:nvSpPr>
          <p:cNvPr id="14" name="Text 10"/>
          <p:cNvSpPr/>
          <p:nvPr/>
        </p:nvSpPr>
        <p:spPr>
          <a:xfrm>
            <a:off x="4709160" y="1234440"/>
            <a:ext cx="1097280" cy="777240"/>
          </a:xfrm>
          <a:prstGeom prst="rect">
            <a:avLst/>
          </a:prstGeom>
          <a:noFill/>
          <a:ln/>
        </p:spPr>
        <p:txBody>
          <a:bodyPr wrap="square" lIns="0" tIns="0" rIns="0" bIns="0" rtlCol="0" anchor="ctr"/>
          <a:lstStyle/>
          <a:p>
            <a:pPr algn="r" indent="0" marL="0">
              <a:buNone/>
            </a:pPr>
            <a:r>
              <a:rPr lang="en-US" sz="1150" dirty="0">
                <a:solidFill>
                  <a:srgbClr val="6B7280"/>
                </a:solidFill>
                <a:latin typeface="Calibri" pitchFamily="34" charset="0"/>
                <a:ea typeface="Calibri" pitchFamily="34" charset="-122"/>
                <a:cs typeface="Calibri" pitchFamily="34" charset="-120"/>
              </a:rPr>
              <a:t>Pas commencé</a:t>
            </a:r>
            <a:endParaRPr lang="en-US" sz="1150" dirty="0"/>
          </a:p>
        </p:txBody>
      </p:sp>
      <p:sp>
        <p:nvSpPr>
          <p:cNvPr id="15" name="Shape 11"/>
          <p:cNvSpPr/>
          <p:nvPr/>
        </p:nvSpPr>
        <p:spPr>
          <a:xfrm>
            <a:off x="5852160" y="1234440"/>
            <a:ext cx="1691640" cy="777240"/>
          </a:xfrm>
          <a:prstGeom prst="rect">
            <a:avLst/>
          </a:prstGeom>
          <a:solidFill>
            <a:srgbClr val="FFFFFF"/>
          </a:solidFill>
          <a:ln w="12700">
            <a:solidFill>
              <a:srgbClr val="2E5395"/>
            </a:solidFill>
            <a:prstDash val="solid"/>
          </a:ln>
        </p:spPr>
      </p:sp>
      <p:sp>
        <p:nvSpPr>
          <p:cNvPr id="16" name="Shape 12"/>
          <p:cNvSpPr/>
          <p:nvPr/>
        </p:nvSpPr>
        <p:spPr>
          <a:xfrm>
            <a:off x="7543800" y="1234440"/>
            <a:ext cx="1691640" cy="777240"/>
          </a:xfrm>
          <a:prstGeom prst="rect">
            <a:avLst/>
          </a:prstGeom>
          <a:solidFill>
            <a:srgbClr val="DEEAF6"/>
          </a:solidFill>
          <a:ln w="12700">
            <a:solidFill>
              <a:srgbClr val="2E5395"/>
            </a:solidFill>
            <a:prstDash val="solid"/>
          </a:ln>
        </p:spPr>
      </p:sp>
      <p:sp>
        <p:nvSpPr>
          <p:cNvPr id="17" name="Text 13"/>
          <p:cNvSpPr/>
          <p:nvPr/>
        </p:nvSpPr>
        <p:spPr>
          <a:xfrm>
            <a:off x="4709160" y="2011680"/>
            <a:ext cx="1097280" cy="777240"/>
          </a:xfrm>
          <a:prstGeom prst="rect">
            <a:avLst/>
          </a:prstGeom>
          <a:noFill/>
          <a:ln/>
        </p:spPr>
        <p:txBody>
          <a:bodyPr wrap="square" lIns="0" tIns="0" rIns="0" bIns="0" rtlCol="0" anchor="ctr"/>
          <a:lstStyle/>
          <a:p>
            <a:pPr algn="r" indent="0" marL="0">
              <a:buNone/>
            </a:pPr>
            <a:r>
              <a:rPr lang="en-US" sz="1150" dirty="0">
                <a:solidFill>
                  <a:srgbClr val="6B7280"/>
                </a:solidFill>
                <a:latin typeface="Calibri" pitchFamily="34" charset="0"/>
                <a:ea typeface="Calibri" pitchFamily="34" charset="-122"/>
                <a:cs typeface="Calibri" pitchFamily="34" charset="-120"/>
              </a:rPr>
              <a:t>Engagé</a:t>
            </a:r>
            <a:endParaRPr lang="en-US" sz="1150" dirty="0"/>
          </a:p>
        </p:txBody>
      </p:sp>
      <p:sp>
        <p:nvSpPr>
          <p:cNvPr id="18" name="Shape 14"/>
          <p:cNvSpPr/>
          <p:nvPr/>
        </p:nvSpPr>
        <p:spPr>
          <a:xfrm>
            <a:off x="5852160" y="2011680"/>
            <a:ext cx="1691640" cy="777240"/>
          </a:xfrm>
          <a:prstGeom prst="rect">
            <a:avLst/>
          </a:prstGeom>
          <a:solidFill>
            <a:srgbClr val="FFFFFF"/>
          </a:solidFill>
          <a:ln w="12700">
            <a:solidFill>
              <a:srgbClr val="2E5395"/>
            </a:solidFill>
            <a:prstDash val="solid"/>
          </a:ln>
        </p:spPr>
      </p:sp>
      <p:sp>
        <p:nvSpPr>
          <p:cNvPr id="19" name="Shape 15"/>
          <p:cNvSpPr/>
          <p:nvPr/>
        </p:nvSpPr>
        <p:spPr>
          <a:xfrm>
            <a:off x="7543800" y="2011680"/>
            <a:ext cx="1691640" cy="777240"/>
          </a:xfrm>
          <a:prstGeom prst="rect">
            <a:avLst/>
          </a:prstGeom>
          <a:solidFill>
            <a:srgbClr val="FFFFFF"/>
          </a:solidFill>
          <a:ln w="12700">
            <a:solidFill>
              <a:srgbClr val="2E5395"/>
            </a:solidFill>
            <a:prstDash val="solid"/>
          </a:ln>
        </p:spPr>
      </p:sp>
      <p:sp>
        <p:nvSpPr>
          <p:cNvPr id="20" name="Text 16"/>
          <p:cNvSpPr/>
          <p:nvPr/>
        </p:nvSpPr>
        <p:spPr>
          <a:xfrm>
            <a:off x="4709160" y="2788920"/>
            <a:ext cx="1097280" cy="777240"/>
          </a:xfrm>
          <a:prstGeom prst="rect">
            <a:avLst/>
          </a:prstGeom>
          <a:noFill/>
          <a:ln/>
        </p:spPr>
        <p:txBody>
          <a:bodyPr wrap="square" lIns="0" tIns="0" rIns="0" bIns="0" rtlCol="0" anchor="ctr"/>
          <a:lstStyle/>
          <a:p>
            <a:pPr algn="r" indent="0" marL="0">
              <a:buNone/>
            </a:pPr>
            <a:r>
              <a:rPr lang="en-US" sz="1150" dirty="0">
                <a:solidFill>
                  <a:srgbClr val="6B7280"/>
                </a:solidFill>
                <a:latin typeface="Calibri" pitchFamily="34" charset="0"/>
                <a:ea typeface="Calibri" pitchFamily="34" charset="-122"/>
                <a:cs typeface="Calibri" pitchFamily="34" charset="-120"/>
              </a:rPr>
              <a:t>Avancé</a:t>
            </a:r>
            <a:endParaRPr lang="en-US" sz="1150" dirty="0"/>
          </a:p>
        </p:txBody>
      </p:sp>
      <p:sp>
        <p:nvSpPr>
          <p:cNvPr id="21" name="Shape 17"/>
          <p:cNvSpPr/>
          <p:nvPr/>
        </p:nvSpPr>
        <p:spPr>
          <a:xfrm>
            <a:off x="5852160" y="2788920"/>
            <a:ext cx="1691640" cy="777240"/>
          </a:xfrm>
          <a:prstGeom prst="rect">
            <a:avLst/>
          </a:prstGeom>
          <a:solidFill>
            <a:srgbClr val="FFFFFF"/>
          </a:solidFill>
          <a:ln w="12700">
            <a:solidFill>
              <a:srgbClr val="2E5395"/>
            </a:solidFill>
            <a:prstDash val="solid"/>
          </a:ln>
        </p:spPr>
      </p:sp>
      <p:sp>
        <p:nvSpPr>
          <p:cNvPr id="22" name="Shape 18"/>
          <p:cNvSpPr/>
          <p:nvPr/>
        </p:nvSpPr>
        <p:spPr>
          <a:xfrm>
            <a:off x="7543800" y="2788920"/>
            <a:ext cx="1691640" cy="777240"/>
          </a:xfrm>
          <a:prstGeom prst="rect">
            <a:avLst/>
          </a:prstGeom>
          <a:solidFill>
            <a:srgbClr val="FFFFFF"/>
          </a:solidFill>
          <a:ln w="12700">
            <a:solidFill>
              <a:srgbClr val="2E5395"/>
            </a:solidFill>
            <a:prstDash val="solid"/>
          </a:ln>
        </p:spPr>
      </p:sp>
      <p:sp>
        <p:nvSpPr>
          <p:cNvPr id="23" name="Text 19"/>
          <p:cNvSpPr/>
          <p:nvPr/>
        </p:nvSpPr>
        <p:spPr>
          <a:xfrm>
            <a:off x="7543800" y="1234440"/>
            <a:ext cx="1691640" cy="777240"/>
          </a:xfrm>
          <a:prstGeom prst="rect">
            <a:avLst/>
          </a:prstGeom>
          <a:noFill/>
          <a:ln/>
        </p:spPr>
        <p:txBody>
          <a:bodyPr wrap="square" lIns="0" tIns="0" rIns="0" bIns="0" rtlCol="0" anchor="ctr"/>
          <a:lstStyle/>
          <a:p>
            <a:pPr algn="ctr" indent="0" marL="0">
              <a:buNone/>
            </a:pPr>
            <a:r>
              <a:rPr lang="en-US" sz="1200" b="1" spc="50" kern="0" dirty="0">
                <a:solidFill>
                  <a:srgbClr val="C00000"/>
                </a:solidFill>
                <a:latin typeface="Calibri" pitchFamily="34" charset="0"/>
                <a:ea typeface="Calibri" pitchFamily="34" charset="-122"/>
                <a:cs typeface="Calibri" pitchFamily="34" charset="-120"/>
              </a:rPr>
              <a:t>ZONE CRITIQUE</a:t>
            </a:r>
            <a:endParaRPr lang="en-US" sz="1200" dirty="0"/>
          </a:p>
        </p:txBody>
      </p:sp>
      <p:sp>
        <p:nvSpPr>
          <p:cNvPr id="24" name="Text 20"/>
          <p:cNvSpPr/>
          <p:nvPr/>
        </p:nvSpPr>
        <p:spPr>
          <a:xfrm>
            <a:off x="5532120" y="3639312"/>
            <a:ext cx="3703320" cy="27432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Fort enjeu × pas commencé</a:t>
            </a:r>
            <a:endParaRPr lang="en-US" sz="1200" dirty="0"/>
          </a:p>
        </p:txBody>
      </p:sp>
      <p:sp>
        <p:nvSpPr>
          <p:cNvPr id="25" name="Text 21"/>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Remonter le temps depuis le DS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Shape 3"/>
          <p:cNvSpPr/>
          <p:nvPr/>
        </p:nvSpPr>
        <p:spPr>
          <a:xfrm>
            <a:off x="502920" y="1600200"/>
            <a:ext cx="1828800" cy="1005840"/>
          </a:xfrm>
          <a:prstGeom prst="roundRect">
            <a:avLst>
              <a:gd name="adj" fmla="val 9091"/>
            </a:avLst>
          </a:prstGeom>
          <a:solidFill>
            <a:srgbClr val="2E5395"/>
          </a:solidFill>
          <a:ln/>
        </p:spPr>
      </p:sp>
      <p:sp>
        <p:nvSpPr>
          <p:cNvPr id="7" name="Text 4"/>
          <p:cNvSpPr/>
          <p:nvPr/>
        </p:nvSpPr>
        <p:spPr>
          <a:xfrm>
            <a:off x="548640" y="1600200"/>
            <a:ext cx="1737360" cy="1005840"/>
          </a:xfrm>
          <a:prstGeom prst="rect">
            <a:avLst/>
          </a:prstGeom>
          <a:noFill/>
          <a:ln/>
        </p:spPr>
        <p:txBody>
          <a:bodyPr wrap="square" lIns="0" tIns="0" rIns="0" bIns="0" rtlCol="0" anchor="ctr"/>
          <a:lstStyle/>
          <a:p>
            <a:pPr algn="ctr" indent="0" marL="0">
              <a:spcAft>
                <a:spcPts val="200"/>
              </a:spcAft>
              <a:buNone/>
            </a:pPr>
            <a:r>
              <a:rPr lang="en-US" sz="2400" b="1" dirty="0">
                <a:solidFill>
                  <a:srgbClr val="FFFFFF"/>
                </a:solidFill>
                <a:latin typeface="Calibri" pitchFamily="34" charset="0"/>
                <a:ea typeface="Calibri" pitchFamily="34" charset="-122"/>
                <a:cs typeface="Calibri" pitchFamily="34" charset="-120"/>
              </a:rPr>
              <a:t>J−14</a:t>
            </a:r>
            <a:endParaRPr lang="en-US" sz="2400" dirty="0"/>
          </a:p>
          <a:p>
            <a:pPr algn="ctr" indent="0" marL="0">
              <a:spcAft>
                <a:spcPts val="200"/>
              </a:spcAft>
              <a:buNone/>
            </a:pPr>
            <a:r>
              <a:rPr lang="en-US" sz="1300" i="1" dirty="0">
                <a:solidFill>
                  <a:srgbClr val="DEEAF6"/>
                </a:solidFill>
                <a:latin typeface="Calibri" pitchFamily="34" charset="0"/>
                <a:ea typeface="Calibri" pitchFamily="34" charset="-122"/>
                <a:cs typeface="Calibri" pitchFamily="34" charset="-120"/>
              </a:rPr>
              <a:t>je m’interroge</a:t>
            </a:r>
            <a:endParaRPr lang="en-US" sz="2400" dirty="0"/>
          </a:p>
        </p:txBody>
      </p:sp>
      <p:sp>
        <p:nvSpPr>
          <p:cNvPr id="8" name="Text 5"/>
          <p:cNvSpPr/>
          <p:nvPr/>
        </p:nvSpPr>
        <p:spPr>
          <a:xfrm>
            <a:off x="2331720" y="1600200"/>
            <a:ext cx="301752" cy="1005840"/>
          </a:xfrm>
          <a:prstGeom prst="rect">
            <a:avLst/>
          </a:prstGeom>
          <a:noFill/>
          <a:ln/>
        </p:spPr>
        <p:txBody>
          <a:bodyPr wrap="square" lIns="0" tIns="0" rIns="0" bIns="0"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633472" y="1600200"/>
            <a:ext cx="1828800" cy="1005840"/>
          </a:xfrm>
          <a:prstGeom prst="roundRect">
            <a:avLst>
              <a:gd name="adj" fmla="val 9091"/>
            </a:avLst>
          </a:prstGeom>
          <a:solidFill>
            <a:srgbClr val="2E5395"/>
          </a:solidFill>
          <a:ln/>
        </p:spPr>
      </p:sp>
      <p:sp>
        <p:nvSpPr>
          <p:cNvPr id="10" name="Text 7"/>
          <p:cNvSpPr/>
          <p:nvPr/>
        </p:nvSpPr>
        <p:spPr>
          <a:xfrm>
            <a:off x="2679192" y="1600200"/>
            <a:ext cx="1737360" cy="1005840"/>
          </a:xfrm>
          <a:prstGeom prst="rect">
            <a:avLst/>
          </a:prstGeom>
          <a:noFill/>
          <a:ln/>
        </p:spPr>
        <p:txBody>
          <a:bodyPr wrap="square" lIns="0" tIns="0" rIns="0" bIns="0" rtlCol="0" anchor="ctr"/>
          <a:lstStyle/>
          <a:p>
            <a:pPr algn="ctr" indent="0" marL="0">
              <a:spcAft>
                <a:spcPts val="200"/>
              </a:spcAft>
              <a:buNone/>
            </a:pPr>
            <a:r>
              <a:rPr lang="en-US" sz="2400" b="1" dirty="0">
                <a:solidFill>
                  <a:srgbClr val="FFFFFF"/>
                </a:solidFill>
                <a:latin typeface="Calibri" pitchFamily="34" charset="0"/>
                <a:ea typeface="Calibri" pitchFamily="34" charset="-122"/>
                <a:cs typeface="Calibri" pitchFamily="34" charset="-120"/>
              </a:rPr>
              <a:t>J−7</a:t>
            </a:r>
            <a:endParaRPr lang="en-US" sz="2400" dirty="0"/>
          </a:p>
          <a:p>
            <a:pPr algn="ctr" indent="0" marL="0">
              <a:spcAft>
                <a:spcPts val="200"/>
              </a:spcAft>
              <a:buNone/>
            </a:pPr>
            <a:r>
              <a:rPr lang="en-US" sz="1300" i="1" dirty="0">
                <a:solidFill>
                  <a:srgbClr val="DEEAF6"/>
                </a:solidFill>
                <a:latin typeface="Calibri" pitchFamily="34" charset="0"/>
                <a:ea typeface="Calibri" pitchFamily="34" charset="-122"/>
                <a:cs typeface="Calibri" pitchFamily="34" charset="-120"/>
              </a:rPr>
              <a:t>je m’entraîne</a:t>
            </a:r>
            <a:endParaRPr lang="en-US" sz="2400" dirty="0"/>
          </a:p>
        </p:txBody>
      </p:sp>
      <p:sp>
        <p:nvSpPr>
          <p:cNvPr id="11" name="Text 8"/>
          <p:cNvSpPr/>
          <p:nvPr/>
        </p:nvSpPr>
        <p:spPr>
          <a:xfrm>
            <a:off x="4462272" y="1600200"/>
            <a:ext cx="301752" cy="1005840"/>
          </a:xfrm>
          <a:prstGeom prst="rect">
            <a:avLst/>
          </a:prstGeom>
          <a:noFill/>
          <a:ln/>
        </p:spPr>
        <p:txBody>
          <a:bodyPr wrap="square" lIns="0" tIns="0" rIns="0" bIns="0"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4764024" y="1600200"/>
            <a:ext cx="1828800" cy="1005840"/>
          </a:xfrm>
          <a:prstGeom prst="roundRect">
            <a:avLst>
              <a:gd name="adj" fmla="val 9091"/>
            </a:avLst>
          </a:prstGeom>
          <a:solidFill>
            <a:srgbClr val="2E5395"/>
          </a:solidFill>
          <a:ln/>
        </p:spPr>
      </p:sp>
      <p:sp>
        <p:nvSpPr>
          <p:cNvPr id="13" name="Text 10"/>
          <p:cNvSpPr/>
          <p:nvPr/>
        </p:nvSpPr>
        <p:spPr>
          <a:xfrm>
            <a:off x="4809744" y="1600200"/>
            <a:ext cx="1737360" cy="1005840"/>
          </a:xfrm>
          <a:prstGeom prst="rect">
            <a:avLst/>
          </a:prstGeom>
          <a:noFill/>
          <a:ln/>
        </p:spPr>
        <p:txBody>
          <a:bodyPr wrap="square" lIns="0" tIns="0" rIns="0" bIns="0" rtlCol="0" anchor="ctr"/>
          <a:lstStyle/>
          <a:p>
            <a:pPr algn="ctr" indent="0" marL="0">
              <a:spcAft>
                <a:spcPts val="200"/>
              </a:spcAft>
              <a:buNone/>
            </a:pPr>
            <a:r>
              <a:rPr lang="en-US" sz="2400" b="1" dirty="0">
                <a:solidFill>
                  <a:srgbClr val="FFFFFF"/>
                </a:solidFill>
                <a:latin typeface="Calibri" pitchFamily="34" charset="0"/>
                <a:ea typeface="Calibri" pitchFamily="34" charset="-122"/>
                <a:cs typeface="Calibri" pitchFamily="34" charset="-120"/>
              </a:rPr>
              <a:t>J−2</a:t>
            </a:r>
            <a:endParaRPr lang="en-US" sz="2400" dirty="0"/>
          </a:p>
          <a:p>
            <a:pPr algn="ctr" indent="0" marL="0">
              <a:spcAft>
                <a:spcPts val="200"/>
              </a:spcAft>
              <a:buNone/>
            </a:pPr>
            <a:r>
              <a:rPr lang="en-US" sz="1300" i="1" dirty="0">
                <a:solidFill>
                  <a:srgbClr val="DEEAF6"/>
                </a:solidFill>
                <a:latin typeface="Calibri" pitchFamily="34" charset="0"/>
                <a:ea typeface="Calibri" pitchFamily="34" charset="-122"/>
                <a:cs typeface="Calibri" pitchFamily="34" charset="-120"/>
              </a:rPr>
              <a:t>je me teste</a:t>
            </a:r>
            <a:endParaRPr lang="en-US" sz="2400" dirty="0"/>
          </a:p>
        </p:txBody>
      </p:sp>
      <p:sp>
        <p:nvSpPr>
          <p:cNvPr id="14" name="Text 11"/>
          <p:cNvSpPr/>
          <p:nvPr/>
        </p:nvSpPr>
        <p:spPr>
          <a:xfrm>
            <a:off x="6592824" y="1600200"/>
            <a:ext cx="301752" cy="1005840"/>
          </a:xfrm>
          <a:prstGeom prst="rect">
            <a:avLst/>
          </a:prstGeom>
          <a:noFill/>
          <a:ln/>
        </p:spPr>
        <p:txBody>
          <a:bodyPr wrap="square" lIns="0" tIns="0" rIns="0" bIns="0" rtlCol="0" anchor="ctr"/>
          <a:lstStyle/>
          <a:p>
            <a:pPr algn="ctr" indent="0" marL="0">
              <a:buNone/>
            </a:pPr>
            <a:r>
              <a:rPr lang="en-US" sz="2000" b="1" dirty="0">
                <a:solidFill>
                  <a:srgbClr val="2E5395"/>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6894576" y="1600200"/>
            <a:ext cx="1828800" cy="1005840"/>
          </a:xfrm>
          <a:prstGeom prst="roundRect">
            <a:avLst>
              <a:gd name="adj" fmla="val 9091"/>
            </a:avLst>
          </a:prstGeom>
          <a:solidFill>
            <a:srgbClr val="1F3864"/>
          </a:solidFill>
          <a:ln/>
        </p:spPr>
      </p:sp>
      <p:sp>
        <p:nvSpPr>
          <p:cNvPr id="16" name="Text 13"/>
          <p:cNvSpPr/>
          <p:nvPr/>
        </p:nvSpPr>
        <p:spPr>
          <a:xfrm>
            <a:off x="6940296" y="1600200"/>
            <a:ext cx="1737360" cy="1005840"/>
          </a:xfrm>
          <a:prstGeom prst="rect">
            <a:avLst/>
          </a:prstGeom>
          <a:noFill/>
          <a:ln/>
        </p:spPr>
        <p:txBody>
          <a:bodyPr wrap="square" lIns="0" tIns="0" rIns="0" bIns="0" rtlCol="0" anchor="ctr"/>
          <a:lstStyle/>
          <a:p>
            <a:pPr algn="ctr" indent="0" marL="0">
              <a:spcAft>
                <a:spcPts val="200"/>
              </a:spcAft>
              <a:buNone/>
            </a:pPr>
            <a:r>
              <a:rPr lang="en-US" sz="2400" b="1" dirty="0">
                <a:solidFill>
                  <a:srgbClr val="FFFFFF"/>
                </a:solidFill>
                <a:latin typeface="Calibri" pitchFamily="34" charset="0"/>
                <a:ea typeface="Calibri" pitchFamily="34" charset="-122"/>
                <a:cs typeface="Calibri" pitchFamily="34" charset="-120"/>
              </a:rPr>
              <a:t>DS</a:t>
            </a:r>
            <a:endParaRPr lang="en-US" sz="2400" dirty="0"/>
          </a:p>
          <a:p>
            <a:pPr algn="ctr" indent="0" marL="0">
              <a:spcAft>
                <a:spcPts val="200"/>
              </a:spcAft>
              <a:buNone/>
            </a:pPr>
            <a:r>
              <a:rPr lang="en-US" sz="1300" i="1" dirty="0">
                <a:solidFill>
                  <a:srgbClr val="DEEAF6"/>
                </a:solidFill>
                <a:latin typeface="Calibri" pitchFamily="34" charset="0"/>
                <a:ea typeface="Calibri" pitchFamily="34" charset="-122"/>
                <a:cs typeface="Calibri" pitchFamily="34" charset="-120"/>
              </a:rPr>
              <a:t>jour J</a:t>
            </a:r>
            <a:endParaRPr lang="en-US" sz="2400" dirty="0"/>
          </a:p>
        </p:txBody>
      </p:sp>
      <p:sp>
        <p:nvSpPr>
          <p:cNvPr id="17" name="Shape 14"/>
          <p:cNvSpPr/>
          <p:nvPr/>
        </p:nvSpPr>
        <p:spPr>
          <a:xfrm>
            <a:off x="502920" y="2926080"/>
            <a:ext cx="8092440" cy="731520"/>
          </a:xfrm>
          <a:prstGeom prst="roundRect">
            <a:avLst>
              <a:gd name="adj" fmla="val 12500"/>
            </a:avLst>
          </a:prstGeom>
          <a:solidFill>
            <a:srgbClr val="F2F2F2"/>
          </a:solidFill>
          <a:ln/>
        </p:spPr>
      </p:sp>
      <p:sp>
        <p:nvSpPr>
          <p:cNvPr id="18" name="Text 15"/>
          <p:cNvSpPr/>
          <p:nvPr/>
        </p:nvSpPr>
        <p:spPr>
          <a:xfrm>
            <a:off x="731520" y="2926080"/>
            <a:ext cx="7635240" cy="731520"/>
          </a:xfrm>
          <a:prstGeom prst="rect">
            <a:avLst/>
          </a:prstGeom>
          <a:noFill/>
          <a:ln/>
        </p:spPr>
        <p:txBody>
          <a:bodyPr wrap="square" lIns="0" tIns="0" rIns="0" bIns="0" rtlCol="0" anchor="ctr"/>
          <a:lstStyle/>
          <a:p>
            <a:pPr indent="0" marL="0">
              <a:buNone/>
            </a:pPr>
            <a:r>
              <a:rPr lang="en-US" sz="2000" b="1" dirty="0">
                <a:solidFill>
                  <a:srgbClr val="1F3864"/>
                </a:solidFill>
                <a:latin typeface="Calibri" pitchFamily="34" charset="0"/>
                <a:ea typeface="Calibri" pitchFamily="34" charset="-122"/>
                <a:cs typeface="Calibri" pitchFamily="34" charset="-120"/>
              </a:rPr>
              <a:t>Trois jalons de 30 à 45 minutes. Pas un de plus.</a:t>
            </a:r>
            <a:endParaRPr lang="en-US" sz="2000" dirty="0"/>
          </a:p>
        </p:txBody>
      </p:sp>
      <p:sp>
        <p:nvSpPr>
          <p:cNvPr id="19" name="Text 16"/>
          <p:cNvSpPr/>
          <p:nvPr/>
        </p:nvSpPr>
        <p:spPr>
          <a:xfrm>
            <a:off x="502920" y="3840480"/>
            <a:ext cx="8092440" cy="365760"/>
          </a:xfrm>
          <a:prstGeom prst="rect">
            <a:avLst/>
          </a:prstGeom>
          <a:noFill/>
          <a:ln/>
        </p:spPr>
        <p:txBody>
          <a:bodyPr wrap="square" lIns="0" tIns="0" rIns="0" bIns="0" rtlCol="0" anchor="ctr"/>
          <a:lstStyle/>
          <a:p>
            <a:pPr indent="0" marL="0">
              <a:buNone/>
            </a:pPr>
            <a:r>
              <a:rPr lang="en-US" sz="1600" i="1" dirty="0">
                <a:solidFill>
                  <a:srgbClr val="2B2B2B"/>
                </a:solidFill>
                <a:latin typeface="Calibri" pitchFamily="34" charset="0"/>
                <a:ea typeface="Calibri" pitchFamily="34" charset="-122"/>
                <a:cs typeface="Calibri" pitchFamily="34" charset="-120"/>
              </a:rPr>
              <a:t>Trois reprises espacées gravent mieux qu’une soirée la veille.</a:t>
            </a:r>
            <a:endParaRPr lang="en-US" sz="1600" dirty="0"/>
          </a:p>
        </p:txBody>
      </p:sp>
      <p:sp>
        <p:nvSpPr>
          <p:cNvPr id="20" name="Text 17"/>
          <p:cNvSpPr/>
          <p:nvPr/>
        </p:nvSpPr>
        <p:spPr>
          <a:xfrm>
            <a:off x="457200" y="4590288"/>
            <a:ext cx="69494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Source : pratique espacée — Cepeda et al., 2006 ; consolidation — pilier 4 (Dehaene, 2018).</a:t>
            </a:r>
            <a:endParaRPr lang="en-US" sz="1050" dirty="0"/>
          </a:p>
        </p:txBody>
      </p:sp>
      <p:sp>
        <p:nvSpPr>
          <p:cNvPr id="21" name="Text 18"/>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Le contenu de chaque jalon</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Shape 3"/>
          <p:cNvSpPr/>
          <p:nvPr/>
        </p:nvSpPr>
        <p:spPr>
          <a:xfrm>
            <a:off x="457200" y="1143000"/>
            <a:ext cx="8138160" cy="960120"/>
          </a:xfrm>
          <a:prstGeom prst="roundRect">
            <a:avLst>
              <a:gd name="adj" fmla="val 9524"/>
            </a:avLst>
          </a:prstGeom>
          <a:solidFill>
            <a:srgbClr val="DEEAF6"/>
          </a:solidFill>
          <a:ln/>
        </p:spPr>
      </p:sp>
      <p:sp>
        <p:nvSpPr>
          <p:cNvPr id="7" name="Text 4"/>
          <p:cNvSpPr/>
          <p:nvPr/>
        </p:nvSpPr>
        <p:spPr>
          <a:xfrm>
            <a:off x="594360" y="1143000"/>
            <a:ext cx="914400" cy="960120"/>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J−14</a:t>
            </a:r>
            <a:endParaRPr lang="en-US" sz="2200" dirty="0"/>
          </a:p>
        </p:txBody>
      </p:sp>
      <p:sp>
        <p:nvSpPr>
          <p:cNvPr id="8" name="Text 5"/>
          <p:cNvSpPr/>
          <p:nvPr/>
        </p:nvSpPr>
        <p:spPr>
          <a:xfrm>
            <a:off x="1600200" y="1188720"/>
            <a:ext cx="6858000" cy="86868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Je m’interroge — </a:t>
            </a:r>
            <a:pPr indent="0" marL="0">
              <a:buNone/>
            </a:pPr>
            <a:r>
              <a:rPr lang="en-US" sz="1500" dirty="0">
                <a:solidFill>
                  <a:srgbClr val="2B2B2B"/>
                </a:solidFill>
                <a:latin typeface="Calibri" pitchFamily="34" charset="0"/>
                <a:ea typeface="Calibri" pitchFamily="34" charset="-122"/>
                <a:cs typeface="Calibri" pitchFamily="34" charset="-120"/>
              </a:rPr>
              <a:t>Réactivation de septembre : répondre à mes questions, refaire le plan du chapitre feuille blanche, passer ma fiche de récupération (S / P / N).</a:t>
            </a:r>
            <a:endParaRPr lang="en-US" sz="1500" dirty="0"/>
          </a:p>
        </p:txBody>
      </p:sp>
      <p:sp>
        <p:nvSpPr>
          <p:cNvPr id="9" name="Shape 6"/>
          <p:cNvSpPr/>
          <p:nvPr/>
        </p:nvSpPr>
        <p:spPr>
          <a:xfrm>
            <a:off x="457200" y="2240280"/>
            <a:ext cx="8138160" cy="960120"/>
          </a:xfrm>
          <a:prstGeom prst="roundRect">
            <a:avLst>
              <a:gd name="adj" fmla="val 9524"/>
            </a:avLst>
          </a:prstGeom>
          <a:solidFill>
            <a:srgbClr val="F2F2F2"/>
          </a:solidFill>
          <a:ln/>
        </p:spPr>
      </p:sp>
      <p:sp>
        <p:nvSpPr>
          <p:cNvPr id="10" name="Text 7"/>
          <p:cNvSpPr/>
          <p:nvPr/>
        </p:nvSpPr>
        <p:spPr>
          <a:xfrm>
            <a:off x="594360" y="2240280"/>
            <a:ext cx="914400" cy="960120"/>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J−7</a:t>
            </a:r>
            <a:endParaRPr lang="en-US" sz="2200" dirty="0"/>
          </a:p>
        </p:txBody>
      </p:sp>
      <p:sp>
        <p:nvSpPr>
          <p:cNvPr id="11" name="Text 8"/>
          <p:cNvSpPr/>
          <p:nvPr/>
        </p:nvSpPr>
        <p:spPr>
          <a:xfrm>
            <a:off x="1600200" y="2286000"/>
            <a:ext cx="6858000" cy="86868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Je m’entraîne — </a:t>
            </a:r>
            <a:pPr indent="0" marL="0">
              <a:buNone/>
            </a:pPr>
            <a:r>
              <a:rPr lang="en-US" sz="1500" dirty="0">
                <a:solidFill>
                  <a:srgbClr val="2B2B2B"/>
                </a:solidFill>
                <a:latin typeface="Calibri" pitchFamily="34" charset="0"/>
                <a:ea typeface="Calibri" pitchFamily="34" charset="-122"/>
                <a:cs typeface="Calibri" pitchFamily="34" charset="-120"/>
              </a:rPr>
              <a:t>Exercices types, cours fermé, sans le corrigé d’abord — puis vérification et reprise des erreurs.</a:t>
            </a:r>
            <a:endParaRPr lang="en-US" sz="1500" dirty="0"/>
          </a:p>
        </p:txBody>
      </p:sp>
      <p:sp>
        <p:nvSpPr>
          <p:cNvPr id="12" name="Shape 9"/>
          <p:cNvSpPr/>
          <p:nvPr/>
        </p:nvSpPr>
        <p:spPr>
          <a:xfrm>
            <a:off x="457200" y="3337560"/>
            <a:ext cx="8138160" cy="960120"/>
          </a:xfrm>
          <a:prstGeom prst="roundRect">
            <a:avLst>
              <a:gd name="adj" fmla="val 9524"/>
            </a:avLst>
          </a:prstGeom>
          <a:solidFill>
            <a:srgbClr val="DEEAF6"/>
          </a:solidFill>
          <a:ln/>
        </p:spPr>
      </p:sp>
      <p:sp>
        <p:nvSpPr>
          <p:cNvPr id="13" name="Text 10"/>
          <p:cNvSpPr/>
          <p:nvPr/>
        </p:nvSpPr>
        <p:spPr>
          <a:xfrm>
            <a:off x="594360" y="3337560"/>
            <a:ext cx="914400" cy="960120"/>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J−2</a:t>
            </a:r>
            <a:endParaRPr lang="en-US" sz="2200" dirty="0"/>
          </a:p>
        </p:txBody>
      </p:sp>
      <p:sp>
        <p:nvSpPr>
          <p:cNvPr id="14" name="Text 11"/>
          <p:cNvSpPr/>
          <p:nvPr/>
        </p:nvSpPr>
        <p:spPr>
          <a:xfrm>
            <a:off x="1600200" y="3383280"/>
            <a:ext cx="6858000" cy="86868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Je me teste — </a:t>
            </a:r>
            <a:pPr indent="0" marL="0">
              <a:buNone/>
            </a:pPr>
            <a:r>
              <a:rPr lang="en-US" sz="1500" dirty="0">
                <a:solidFill>
                  <a:srgbClr val="2B2B2B"/>
                </a:solidFill>
                <a:latin typeface="Calibri" pitchFamily="34" charset="0"/>
                <a:ea typeface="Calibri" pitchFamily="34" charset="-122"/>
                <a:cs typeface="Calibri" pitchFamily="34" charset="-120"/>
              </a:rPr>
              <a:t>Un sujet ou une partie de sujet, au propre, en temps limité, sans document.</a:t>
            </a:r>
            <a:endParaRPr lang="en-US" sz="1500" dirty="0"/>
          </a:p>
        </p:txBody>
      </p:sp>
      <p:sp>
        <p:nvSpPr>
          <p:cNvPr id="15" name="Text 12"/>
          <p:cNvSpPr/>
          <p:nvPr/>
        </p:nvSpPr>
        <p:spPr>
          <a:xfrm>
            <a:off x="457200" y="4480560"/>
            <a:ext cx="8138160" cy="365760"/>
          </a:xfrm>
          <a:prstGeom prst="rect">
            <a:avLst/>
          </a:prstGeom>
          <a:noFill/>
          <a:ln/>
        </p:spPr>
        <p:txBody>
          <a:bodyPr wrap="square" lIns="0" tIns="0" rIns="0" bIns="0" rtlCol="0" anchor="ctr"/>
          <a:lstStyle/>
          <a:p>
            <a:pPr indent="0" marL="0">
              <a:buNone/>
            </a:pPr>
            <a:r>
              <a:rPr lang="en-US" sz="1900" b="1" dirty="0">
                <a:solidFill>
                  <a:srgbClr val="C00000"/>
                </a:solidFill>
                <a:latin typeface="Calibri" pitchFamily="34" charset="0"/>
                <a:ea typeface="Calibri" pitchFamily="34" charset="-122"/>
                <a:cs typeface="Calibri" pitchFamily="34" charset="-120"/>
              </a:rPr>
              <a:t>Interdit à tous les jalons : « relire », « revoir ».</a:t>
            </a:r>
            <a:endParaRPr lang="en-US" sz="1900" dirty="0"/>
          </a:p>
        </p:txBody>
      </p:sp>
      <p:sp>
        <p:nvSpPr>
          <p:cNvPr id="16" name="Text 1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Atelier : mon rétro-planning</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502920" y="1188720"/>
            <a:ext cx="5349240" cy="1737360"/>
          </a:xfrm>
          <a:prstGeom prst="rect">
            <a:avLst/>
          </a:prstGeom>
          <a:noFill/>
          <a:ln/>
        </p:spPr>
        <p:txBody>
          <a:bodyPr wrap="square" lIns="0" tIns="0" rIns="0" bIns="0" rtlCol="0" anchor="ctr"/>
          <a:lstStyle/>
          <a:p>
            <a:pPr marL="342900" indent="-342900">
              <a:spcAft>
                <a:spcPts val="1000"/>
              </a:spcAft>
              <a:buSzPct val="100000"/>
              <a:buChar char="•"/>
            </a:pPr>
            <a:r>
              <a:rPr lang="en-US" sz="1700" b="1" dirty="0">
                <a:solidFill>
                  <a:srgbClr val="2B2B2B"/>
                </a:solidFill>
                <a:latin typeface="Calibri" pitchFamily="34" charset="0"/>
                <a:ea typeface="Calibri" pitchFamily="34" charset="-122"/>
                <a:cs typeface="Calibri" pitchFamily="34" charset="-120"/>
              </a:rPr>
              <a:t>Échéance n°1, gabarit du support 3.</a:t>
            </a:r>
            <a:endParaRPr lang="en-US" sz="17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Chaque jalon : date + heure recopiées dans l’agenda, et contenu précis.</a:t>
            </a:r>
            <a:endParaRPr lang="en-US" sz="17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Créneau déjà pris ? On déplace le jalon d’un jour, on ne le supprime pas.</a:t>
            </a:r>
            <a:endParaRPr lang="en-US" sz="1700" dirty="0"/>
          </a:p>
        </p:txBody>
      </p:sp>
      <p:sp>
        <p:nvSpPr>
          <p:cNvPr id="7" name="Shape 4"/>
          <p:cNvSpPr/>
          <p:nvPr/>
        </p:nvSpPr>
        <p:spPr>
          <a:xfrm>
            <a:off x="6035040" y="1325880"/>
            <a:ext cx="2651760" cy="1417320"/>
          </a:xfrm>
          <a:prstGeom prst="roundRect">
            <a:avLst>
              <a:gd name="adj" fmla="val 7742"/>
            </a:avLst>
          </a:prstGeom>
          <a:solidFill>
            <a:srgbClr val="F2F2F2"/>
          </a:solidFill>
          <a:ln/>
        </p:spPr>
      </p:sp>
      <p:pic>
        <p:nvPicPr>
          <p:cNvPr id="8" name="Image 1" descr="preencoded.png">    </p:cNvPr>
          <p:cNvPicPr>
            <a:picLocks noChangeAspect="1"/>
          </p:cNvPicPr>
          <p:nvPr/>
        </p:nvPicPr>
        <p:blipFill>
          <a:blip r:embed="rId2"/>
          <a:stretch>
            <a:fillRect/>
          </a:stretch>
        </p:blipFill>
        <p:spPr>
          <a:xfrm>
            <a:off x="6236208" y="1860804"/>
            <a:ext cx="347472" cy="347472"/>
          </a:xfrm>
          <a:prstGeom prst="rect">
            <a:avLst/>
          </a:prstGeom>
        </p:spPr>
      </p:pic>
      <p:sp>
        <p:nvSpPr>
          <p:cNvPr id="9" name="Text 5"/>
          <p:cNvSpPr/>
          <p:nvPr/>
        </p:nvSpPr>
        <p:spPr>
          <a:xfrm>
            <a:off x="6601968" y="13990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22:00</a:t>
            </a:r>
            <a:endParaRPr lang="en-US" sz="4000" dirty="0"/>
          </a:p>
        </p:txBody>
      </p:sp>
      <p:sp>
        <p:nvSpPr>
          <p:cNvPr id="10" name="Text 6"/>
          <p:cNvSpPr/>
          <p:nvPr/>
        </p:nvSpPr>
        <p:spPr>
          <a:xfrm>
            <a:off x="6035040" y="24140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1" name="Shape 7"/>
          <p:cNvSpPr/>
          <p:nvPr/>
        </p:nvSpPr>
        <p:spPr>
          <a:xfrm>
            <a:off x="457200" y="3063240"/>
            <a:ext cx="8138160" cy="777240"/>
          </a:xfrm>
          <a:prstGeom prst="roundRect">
            <a:avLst>
              <a:gd name="adj" fmla="val 11765"/>
            </a:avLst>
          </a:prstGeom>
          <a:solidFill>
            <a:srgbClr val="DEEAF6"/>
          </a:solidFill>
          <a:ln/>
        </p:spPr>
      </p:sp>
      <p:sp>
        <p:nvSpPr>
          <p:cNvPr id="12" name="Text 8"/>
          <p:cNvSpPr/>
          <p:nvPr/>
        </p:nvSpPr>
        <p:spPr>
          <a:xfrm>
            <a:off x="685800" y="3063240"/>
            <a:ext cx="7680960" cy="777240"/>
          </a:xfrm>
          <a:prstGeom prst="rect">
            <a:avLst/>
          </a:prstGeom>
          <a:noFill/>
          <a:ln/>
        </p:spPr>
        <p:txBody>
          <a:bodyPr wrap="square" lIns="0" tIns="0" rIns="0" bIns="0" rtlCol="0" anchor="ctr"/>
          <a:lstStyle/>
          <a:p>
            <a:pPr indent="0" marL="0">
              <a:buNone/>
            </a:pPr>
            <a:r>
              <a:rPr lang="en-US" sz="2100" b="1" dirty="0">
                <a:solidFill>
                  <a:srgbClr val="1F3864"/>
                </a:solidFill>
                <a:latin typeface="Calibri" pitchFamily="34" charset="0"/>
                <a:ea typeface="Calibri" pitchFamily="34" charset="-122"/>
                <a:cs typeface="Calibri" pitchFamily="34" charset="-120"/>
              </a:rPr>
              <a:t>Un rendez-vous sans date ni contenu n’existe pas.</a:t>
            </a:r>
            <a:endParaRPr lang="en-US" sz="2100" dirty="0"/>
          </a:p>
        </p:txBody>
      </p:sp>
      <p:sp>
        <p:nvSpPr>
          <p:cNvPr id="13" name="Text 9"/>
          <p:cNvSpPr/>
          <p:nvPr/>
        </p:nvSpPr>
        <p:spPr>
          <a:xfrm>
            <a:off x="502920" y="3977640"/>
            <a:ext cx="8092440" cy="365760"/>
          </a:xfrm>
          <a:prstGeom prst="rect">
            <a:avLst/>
          </a:prstGeom>
          <a:noFill/>
          <a:ln/>
        </p:spPr>
        <p:txBody>
          <a:bodyPr wrap="square" lIns="0" tIns="0" rIns="0" bIns="0" rtlCol="0" anchor="ctr"/>
          <a:lstStyle/>
          <a:p>
            <a:pPr indent="0" marL="0">
              <a:buNone/>
            </a:pPr>
            <a:r>
              <a:rPr lang="en-US" sz="1500" i="1" dirty="0">
                <a:solidFill>
                  <a:srgbClr val="2B2B2B"/>
                </a:solidFill>
                <a:latin typeface="Calibri" pitchFamily="34" charset="0"/>
                <a:ea typeface="Calibri" pitchFamily="34" charset="-122"/>
                <a:cs typeface="Calibri" pitchFamily="34" charset="-120"/>
              </a:rPr>
              <a:t>Contenu précis : quel chapitre, quelles questions, quels exercices, quel sujet.</a:t>
            </a:r>
            <a:endParaRPr lang="en-US" sz="1500" dirty="0"/>
          </a:p>
        </p:txBody>
      </p:sp>
      <p:sp>
        <p:nvSpPr>
          <p:cNvPr id="14" name="Text 10"/>
          <p:cNvSpPr/>
          <p:nvPr/>
        </p:nvSpPr>
        <p:spPr>
          <a:xfrm>
            <a:off x="457200" y="4590288"/>
            <a:ext cx="69494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Les deux exemples remplis du support 3 sont des modèles de projection, pas une dispense.</a:t>
            </a:r>
            <a:endParaRPr lang="en-US" sz="1050" dirty="0"/>
          </a:p>
        </p:txBody>
      </p:sp>
      <p:sp>
        <p:nvSpPr>
          <p:cNvPr id="15" name="Text 11"/>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Le test du plan</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Shape 3"/>
          <p:cNvSpPr/>
          <p:nvPr/>
        </p:nvSpPr>
        <p:spPr>
          <a:xfrm>
            <a:off x="457200" y="1280160"/>
            <a:ext cx="8138160" cy="1143000"/>
          </a:xfrm>
          <a:prstGeom prst="roundRect">
            <a:avLst>
              <a:gd name="adj" fmla="val 8000"/>
            </a:avLst>
          </a:prstGeom>
          <a:solidFill>
            <a:srgbClr val="DEEAF6"/>
          </a:solidFill>
          <a:ln/>
        </p:spPr>
      </p:sp>
      <p:sp>
        <p:nvSpPr>
          <p:cNvPr id="7" name="Text 4"/>
          <p:cNvSpPr/>
          <p:nvPr/>
        </p:nvSpPr>
        <p:spPr>
          <a:xfrm>
            <a:off x="731520" y="1280160"/>
            <a:ext cx="7589520" cy="1143000"/>
          </a:xfrm>
          <a:prstGeom prst="rect">
            <a:avLst/>
          </a:prstGeom>
          <a:noFill/>
          <a:ln/>
        </p:spPr>
        <p:txBody>
          <a:bodyPr wrap="square" lIns="0" tIns="0" rIns="0" bIns="0" rtlCol="0" anchor="ctr"/>
          <a:lstStyle/>
          <a:p>
            <a:pPr indent="0" marL="0">
              <a:buNone/>
            </a:pPr>
            <a:r>
              <a:rPr lang="en-US" sz="2100" dirty="0">
                <a:solidFill>
                  <a:srgbClr val="1F3864"/>
                </a:solidFill>
                <a:latin typeface="Calibri" pitchFamily="34" charset="0"/>
                <a:ea typeface="Calibri" pitchFamily="34" charset="-122"/>
                <a:cs typeface="Calibri" pitchFamily="34" charset="-120"/>
              </a:rPr>
              <a:t>À la date prévue, est-ce que je sais </a:t>
            </a:r>
            <a:pPr indent="0" marL="0">
              <a:buNone/>
            </a:pPr>
            <a:r>
              <a:rPr lang="en-US" sz="2100" b="1" dirty="0">
                <a:solidFill>
                  <a:srgbClr val="1F3864"/>
                </a:solidFill>
                <a:latin typeface="Calibri" pitchFamily="34" charset="0"/>
                <a:ea typeface="Calibri" pitchFamily="34" charset="-122"/>
                <a:cs typeface="Calibri" pitchFamily="34" charset="-120"/>
              </a:rPr>
              <a:t>exactement</a:t>
            </a:r>
            <a:pPr indent="0" marL="0">
              <a:buNone/>
            </a:pPr>
            <a:r>
              <a:rPr lang="en-US" sz="2100" dirty="0">
                <a:solidFill>
                  <a:srgbClr val="1F3864"/>
                </a:solidFill>
                <a:latin typeface="Calibri" pitchFamily="34" charset="0"/>
                <a:ea typeface="Calibri" pitchFamily="34" charset="-122"/>
                <a:cs typeface="Calibri" pitchFamily="34" charset="-120"/>
              </a:rPr>
              <a:t> quoi faire à la minute une ?</a:t>
            </a:r>
            <a:endParaRPr lang="en-US" sz="2100" dirty="0"/>
          </a:p>
        </p:txBody>
      </p:sp>
      <p:sp>
        <p:nvSpPr>
          <p:cNvPr id="8" name="Shape 5"/>
          <p:cNvSpPr/>
          <p:nvPr/>
        </p:nvSpPr>
        <p:spPr>
          <a:xfrm>
            <a:off x="457200" y="2697480"/>
            <a:ext cx="3931920" cy="1051560"/>
          </a:xfrm>
          <a:prstGeom prst="roundRect">
            <a:avLst>
              <a:gd name="adj" fmla="val 8696"/>
            </a:avLst>
          </a:prstGeom>
          <a:solidFill>
            <a:srgbClr val="F2F2F2"/>
          </a:solidFill>
          <a:ln/>
        </p:spPr>
      </p:sp>
      <p:sp>
        <p:nvSpPr>
          <p:cNvPr id="9" name="Text 6"/>
          <p:cNvSpPr/>
          <p:nvPr/>
        </p:nvSpPr>
        <p:spPr>
          <a:xfrm>
            <a:off x="685800" y="2697480"/>
            <a:ext cx="3474720" cy="1051560"/>
          </a:xfrm>
          <a:prstGeom prst="rect">
            <a:avLst/>
          </a:prstGeom>
          <a:noFill/>
          <a:ln/>
        </p:spPr>
        <p:txBody>
          <a:bodyPr wrap="square" lIns="0" tIns="0" rIns="0" bIns="0" rtlCol="0" anchor="ctr"/>
          <a:lstStyle/>
          <a:p>
            <a:pPr indent="0" marL="0">
              <a:spcAft>
                <a:spcPts val="200"/>
              </a:spcAft>
              <a:buNone/>
            </a:pPr>
            <a:r>
              <a:rPr lang="en-US" sz="2200" b="1" dirty="0">
                <a:solidFill>
                  <a:srgbClr val="1F3864"/>
                </a:solidFill>
                <a:latin typeface="Calibri" pitchFamily="34" charset="0"/>
                <a:ea typeface="Calibri" pitchFamily="34" charset="-122"/>
                <a:cs typeface="Calibri" pitchFamily="34" charset="-120"/>
              </a:rPr>
              <a:t>OUI</a:t>
            </a:r>
            <a:endParaRPr lang="en-US" sz="2200" dirty="0"/>
          </a:p>
          <a:p>
            <a:pPr indent="0" marL="0">
              <a:spcAft>
                <a:spcPts val="200"/>
              </a:spcAft>
              <a:buNone/>
            </a:pPr>
            <a:r>
              <a:rPr lang="en-US" sz="1600" dirty="0">
                <a:solidFill>
                  <a:srgbClr val="2B2B2B"/>
                </a:solidFill>
                <a:latin typeface="Calibri" pitchFamily="34" charset="0"/>
                <a:ea typeface="Calibri" pitchFamily="34" charset="-122"/>
                <a:cs typeface="Calibri" pitchFamily="34" charset="-120"/>
              </a:rPr>
              <a:t>le plan tient.</a:t>
            </a:r>
            <a:endParaRPr lang="en-US" sz="2200" dirty="0"/>
          </a:p>
        </p:txBody>
      </p:sp>
      <p:sp>
        <p:nvSpPr>
          <p:cNvPr id="10" name="Shape 7"/>
          <p:cNvSpPr/>
          <p:nvPr/>
        </p:nvSpPr>
        <p:spPr>
          <a:xfrm>
            <a:off x="4663440" y="2697480"/>
            <a:ext cx="3931920" cy="1051560"/>
          </a:xfrm>
          <a:prstGeom prst="roundRect">
            <a:avLst>
              <a:gd name="adj" fmla="val 8696"/>
            </a:avLst>
          </a:prstGeom>
          <a:solidFill>
            <a:srgbClr val="F2F2F2"/>
          </a:solidFill>
          <a:ln/>
        </p:spPr>
      </p:sp>
      <p:sp>
        <p:nvSpPr>
          <p:cNvPr id="11" name="Text 8"/>
          <p:cNvSpPr/>
          <p:nvPr/>
        </p:nvSpPr>
        <p:spPr>
          <a:xfrm>
            <a:off x="4892040" y="2697480"/>
            <a:ext cx="3474720" cy="1051560"/>
          </a:xfrm>
          <a:prstGeom prst="rect">
            <a:avLst/>
          </a:prstGeom>
          <a:noFill/>
          <a:ln/>
        </p:spPr>
        <p:txBody>
          <a:bodyPr wrap="square" lIns="0" tIns="0" rIns="0" bIns="0" rtlCol="0" anchor="ctr"/>
          <a:lstStyle/>
          <a:p>
            <a:pPr indent="0" marL="0">
              <a:spcAft>
                <a:spcPts val="200"/>
              </a:spcAft>
              <a:buNone/>
            </a:pPr>
            <a:r>
              <a:rPr lang="en-US" sz="2200" b="1" dirty="0">
                <a:solidFill>
                  <a:srgbClr val="C00000"/>
                </a:solidFill>
                <a:latin typeface="Calibri" pitchFamily="34" charset="0"/>
                <a:ea typeface="Calibri" pitchFamily="34" charset="-122"/>
                <a:cs typeface="Calibri" pitchFamily="34" charset="-120"/>
              </a:rPr>
              <a:t>NON</a:t>
            </a:r>
            <a:endParaRPr lang="en-US" sz="2200" dirty="0"/>
          </a:p>
          <a:p>
            <a:pPr indent="0" marL="0">
              <a:spcAft>
                <a:spcPts val="200"/>
              </a:spcAft>
              <a:buNone/>
            </a:pPr>
            <a:r>
              <a:rPr lang="en-US" sz="1600" dirty="0">
                <a:solidFill>
                  <a:srgbClr val="2B2B2B"/>
                </a:solidFill>
                <a:latin typeface="Calibri" pitchFamily="34" charset="0"/>
                <a:ea typeface="Calibri" pitchFamily="34" charset="-122"/>
                <a:cs typeface="Calibri" pitchFamily="34" charset="-120"/>
              </a:rPr>
              <a:t>je précise maintenant, pas le jour venu.</a:t>
            </a:r>
            <a:endParaRPr lang="en-US" sz="2200" dirty="0"/>
          </a:p>
        </p:txBody>
      </p:sp>
      <p:sp>
        <p:nvSpPr>
          <p:cNvPr id="12" name="Text 9"/>
          <p:cNvSpPr/>
          <p:nvPr/>
        </p:nvSpPr>
        <p:spPr>
          <a:xfrm>
            <a:off x="457200" y="3931920"/>
            <a:ext cx="8138160" cy="365760"/>
          </a:xfrm>
          <a:prstGeom prst="rect">
            <a:avLst/>
          </a:prstGeom>
          <a:noFill/>
          <a:ln/>
        </p:spPr>
        <p:txBody>
          <a:bodyPr wrap="square" lIns="0" tIns="0" rIns="0" bIns="0" rtlCol="0" anchor="ctr"/>
          <a:lstStyle/>
          <a:p>
            <a:pPr indent="0" marL="0">
              <a:buNone/>
            </a:pPr>
            <a:r>
              <a:rPr lang="en-US" sz="1500" i="1" dirty="0">
                <a:solidFill>
                  <a:srgbClr val="2E5395"/>
                </a:solidFill>
                <a:latin typeface="Calibri" pitchFamily="34" charset="0"/>
                <a:ea typeface="Calibri" pitchFamily="34" charset="-122"/>
                <a:cs typeface="Calibri" pitchFamily="34" charset="-120"/>
              </a:rPr>
              <a:t>Même test qu’en septembre, pour vos réactivations.</a:t>
            </a:r>
            <a:endParaRPr lang="en-US" sz="1500" dirty="0"/>
          </a:p>
        </p:txBody>
      </p:sp>
      <p:sp>
        <p:nvSpPr>
          <p:cNvPr id="13" name="Text 10"/>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Contrôle croisé, puis échéance n°2</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Binôme</a:t>
            </a:r>
            <a:endParaRPr lang="en-US" sz="1050" dirty="0"/>
          </a:p>
        </p:txBody>
      </p:sp>
      <p:sp>
        <p:nvSpPr>
          <p:cNvPr id="6" name="Text 3"/>
          <p:cNvSpPr/>
          <p:nvPr/>
        </p:nvSpPr>
        <p:spPr>
          <a:xfrm>
            <a:off x="457200" y="1143000"/>
            <a:ext cx="5486400" cy="365760"/>
          </a:xfrm>
          <a:prstGeom prst="rect">
            <a:avLst/>
          </a:prstGeom>
          <a:noFill/>
          <a:ln/>
        </p:spPr>
        <p:txBody>
          <a:bodyPr wrap="square" lIns="0" tIns="0" rIns="0" bIns="0" rtlCol="0" anchor="ctr"/>
          <a:lstStyle/>
          <a:p>
            <a:pPr indent="0" marL="0">
              <a:buNone/>
            </a:pPr>
            <a:r>
              <a:rPr lang="en-US" sz="1600" b="1" dirty="0">
                <a:solidFill>
                  <a:srgbClr val="2B2B2B"/>
                </a:solidFill>
                <a:latin typeface="Calibri" pitchFamily="34" charset="0"/>
                <a:ea typeface="Calibri" pitchFamily="34" charset="-122"/>
                <a:cs typeface="Calibri" pitchFamily="34" charset="-120"/>
              </a:rPr>
              <a:t>Échangez gabarits ET agendas — support 4. Trois vérifications :</a:t>
            </a:r>
            <a:endParaRPr lang="en-US" sz="1600" dirty="0"/>
          </a:p>
        </p:txBody>
      </p:sp>
      <p:sp>
        <p:nvSpPr>
          <p:cNvPr id="7" name="Shape 4"/>
          <p:cNvSpPr/>
          <p:nvPr/>
        </p:nvSpPr>
        <p:spPr>
          <a:xfrm>
            <a:off x="502920" y="1700784"/>
            <a:ext cx="384048" cy="384048"/>
          </a:xfrm>
          <a:prstGeom prst="ellipse">
            <a:avLst/>
          </a:prstGeom>
          <a:solidFill>
            <a:srgbClr val="1F3864"/>
          </a:solidFill>
          <a:ln/>
        </p:spPr>
      </p:sp>
      <p:sp>
        <p:nvSpPr>
          <p:cNvPr id="8" name="Text 5"/>
          <p:cNvSpPr/>
          <p:nvPr/>
        </p:nvSpPr>
        <p:spPr>
          <a:xfrm>
            <a:off x="502920" y="17007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1005840" y="1645920"/>
            <a:ext cx="4846320" cy="502920"/>
          </a:xfrm>
          <a:prstGeom prst="rect">
            <a:avLst/>
          </a:prstGeom>
          <a:noFill/>
          <a:ln/>
        </p:spPr>
        <p:txBody>
          <a:bodyPr wrap="square" lIns="0" tIns="0" rIns="0" bIns="0" rtlCol="0" anchor="ctr"/>
          <a:lstStyle/>
          <a:p>
            <a:pPr indent="0" marL="0">
              <a:buNone/>
            </a:pPr>
            <a:r>
              <a:rPr lang="en-US" sz="1550" dirty="0">
                <a:solidFill>
                  <a:srgbClr val="2B2B2B"/>
                </a:solidFill>
                <a:latin typeface="Calibri" pitchFamily="34" charset="0"/>
                <a:ea typeface="Calibri" pitchFamily="34" charset="-122"/>
                <a:cs typeface="Calibri" pitchFamily="34" charset="-120"/>
              </a:rPr>
              <a:t>Date ET heure écrites dans l’agenda ? (je les vois)</a:t>
            </a:r>
            <a:endParaRPr lang="en-US" sz="1550" dirty="0"/>
          </a:p>
        </p:txBody>
      </p:sp>
      <p:sp>
        <p:nvSpPr>
          <p:cNvPr id="10" name="Shape 7"/>
          <p:cNvSpPr/>
          <p:nvPr/>
        </p:nvSpPr>
        <p:spPr>
          <a:xfrm>
            <a:off x="502920" y="2267712"/>
            <a:ext cx="384048" cy="384048"/>
          </a:xfrm>
          <a:prstGeom prst="ellipse">
            <a:avLst/>
          </a:prstGeom>
          <a:solidFill>
            <a:srgbClr val="1F3864"/>
          </a:solidFill>
          <a:ln/>
        </p:spPr>
      </p:sp>
      <p:sp>
        <p:nvSpPr>
          <p:cNvPr id="11" name="Text 8"/>
          <p:cNvSpPr/>
          <p:nvPr/>
        </p:nvSpPr>
        <p:spPr>
          <a:xfrm>
            <a:off x="502920" y="2267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1005840" y="2212848"/>
            <a:ext cx="4846320" cy="502920"/>
          </a:xfrm>
          <a:prstGeom prst="rect">
            <a:avLst/>
          </a:prstGeom>
          <a:noFill/>
          <a:ln/>
        </p:spPr>
        <p:txBody>
          <a:bodyPr wrap="square" lIns="0" tIns="0" rIns="0" bIns="0" rtlCol="0" anchor="ctr"/>
          <a:lstStyle/>
          <a:p>
            <a:pPr indent="0" marL="0">
              <a:buNone/>
            </a:pPr>
            <a:r>
              <a:rPr lang="en-US" sz="1550" dirty="0">
                <a:solidFill>
                  <a:srgbClr val="2B2B2B"/>
                </a:solidFill>
                <a:latin typeface="Calibri" pitchFamily="34" charset="0"/>
                <a:ea typeface="Calibri" pitchFamily="34" charset="-122"/>
                <a:cs typeface="Calibri" pitchFamily="34" charset="-120"/>
              </a:rPr>
              <a:t>Contenus précis, qui interrogent ? Aucun « relire ».</a:t>
            </a:r>
            <a:endParaRPr lang="en-US" sz="1550" dirty="0"/>
          </a:p>
        </p:txBody>
      </p:sp>
      <p:sp>
        <p:nvSpPr>
          <p:cNvPr id="13" name="Shape 10"/>
          <p:cNvSpPr/>
          <p:nvPr/>
        </p:nvSpPr>
        <p:spPr>
          <a:xfrm>
            <a:off x="502920" y="2834640"/>
            <a:ext cx="384048" cy="384048"/>
          </a:xfrm>
          <a:prstGeom prst="ellipse">
            <a:avLst/>
          </a:prstGeom>
          <a:solidFill>
            <a:srgbClr val="1F3864"/>
          </a:solidFill>
          <a:ln/>
        </p:spPr>
      </p:sp>
      <p:sp>
        <p:nvSpPr>
          <p:cNvPr id="14" name="Text 11"/>
          <p:cNvSpPr/>
          <p:nvPr/>
        </p:nvSpPr>
        <p:spPr>
          <a:xfrm>
            <a:off x="502920" y="2834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1005840" y="2779776"/>
            <a:ext cx="4846320" cy="502920"/>
          </a:xfrm>
          <a:prstGeom prst="rect">
            <a:avLst/>
          </a:prstGeom>
          <a:noFill/>
          <a:ln/>
        </p:spPr>
        <p:txBody>
          <a:bodyPr wrap="square" lIns="0" tIns="0" rIns="0" bIns="0" rtlCol="0" anchor="ctr"/>
          <a:lstStyle/>
          <a:p>
            <a:pPr indent="0" marL="0">
              <a:buNone/>
            </a:pPr>
            <a:r>
              <a:rPr lang="en-US" sz="1550" dirty="0">
                <a:solidFill>
                  <a:srgbClr val="2B2B2B"/>
                </a:solidFill>
                <a:latin typeface="Calibri" pitchFamily="34" charset="0"/>
                <a:ea typeface="Calibri" pitchFamily="34" charset="-122"/>
                <a:cs typeface="Calibri" pitchFamily="34" charset="-120"/>
              </a:rPr>
              <a:t>Tenable dans la vraie semaine ? (autres DS, activités)</a:t>
            </a:r>
            <a:endParaRPr lang="en-US" sz="1550" dirty="0"/>
          </a:p>
        </p:txBody>
      </p:sp>
      <p:sp>
        <p:nvSpPr>
          <p:cNvPr id="16" name="Shape 13"/>
          <p:cNvSpPr/>
          <p:nvPr/>
        </p:nvSpPr>
        <p:spPr>
          <a:xfrm>
            <a:off x="6126480" y="1645920"/>
            <a:ext cx="2514600" cy="1325880"/>
          </a:xfrm>
          <a:prstGeom prst="roundRect">
            <a:avLst>
              <a:gd name="adj" fmla="val 8276"/>
            </a:avLst>
          </a:prstGeom>
          <a:solidFill>
            <a:srgbClr val="F2F2F2"/>
          </a:solidFill>
          <a:ln/>
        </p:spPr>
      </p:sp>
      <p:pic>
        <p:nvPicPr>
          <p:cNvPr id="17" name="Image 1" descr="preencoded.png">    </p:cNvPr>
          <p:cNvPicPr>
            <a:picLocks noChangeAspect="1"/>
          </p:cNvPicPr>
          <p:nvPr/>
        </p:nvPicPr>
        <p:blipFill>
          <a:blip r:embed="rId2"/>
          <a:stretch>
            <a:fillRect/>
          </a:stretch>
        </p:blipFill>
        <p:spPr>
          <a:xfrm>
            <a:off x="6327648" y="2135124"/>
            <a:ext cx="347472" cy="347472"/>
          </a:xfrm>
          <a:prstGeom prst="rect">
            <a:avLst/>
          </a:prstGeom>
        </p:spPr>
      </p:pic>
      <p:sp>
        <p:nvSpPr>
          <p:cNvPr id="18" name="Text 14"/>
          <p:cNvSpPr/>
          <p:nvPr/>
        </p:nvSpPr>
        <p:spPr>
          <a:xfrm>
            <a:off x="6693408" y="1719072"/>
            <a:ext cx="1856232" cy="94183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10:00</a:t>
            </a:r>
            <a:endParaRPr lang="en-US" sz="4000" dirty="0"/>
          </a:p>
        </p:txBody>
      </p:sp>
      <p:sp>
        <p:nvSpPr>
          <p:cNvPr id="19" name="Text 15"/>
          <p:cNvSpPr/>
          <p:nvPr/>
        </p:nvSpPr>
        <p:spPr>
          <a:xfrm>
            <a:off x="6126480" y="2642616"/>
            <a:ext cx="251460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20" name="Text 16"/>
          <p:cNvSpPr/>
          <p:nvPr/>
        </p:nvSpPr>
        <p:spPr>
          <a:xfrm>
            <a:off x="457200" y="3429000"/>
            <a:ext cx="8138160" cy="32004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Un « non » = correction immédiate, avant signature.</a:t>
            </a:r>
            <a:endParaRPr lang="en-US" sz="1500" dirty="0"/>
          </a:p>
        </p:txBody>
      </p:sp>
      <p:sp>
        <p:nvSpPr>
          <p:cNvPr id="21" name="Shape 17"/>
          <p:cNvSpPr/>
          <p:nvPr/>
        </p:nvSpPr>
        <p:spPr>
          <a:xfrm>
            <a:off x="457200" y="3840480"/>
            <a:ext cx="8138160" cy="777240"/>
          </a:xfrm>
          <a:prstGeom prst="roundRect">
            <a:avLst>
              <a:gd name="adj" fmla="val 11765"/>
            </a:avLst>
          </a:prstGeom>
          <a:solidFill>
            <a:srgbClr val="DEEAF6"/>
          </a:solidFill>
          <a:ln/>
        </p:spPr>
      </p:sp>
      <p:sp>
        <p:nvSpPr>
          <p:cNvPr id="22" name="Text 18"/>
          <p:cNvSpPr/>
          <p:nvPr/>
        </p:nvSpPr>
        <p:spPr>
          <a:xfrm>
            <a:off x="685800" y="3840480"/>
            <a:ext cx="7680960" cy="777240"/>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Puis, seul : 5 minutes pour dupliquer la méthode sur votre échéance n°2.</a:t>
            </a:r>
            <a:endParaRPr lang="en-US" sz="1800" dirty="0"/>
          </a:p>
        </p:txBody>
      </p:sp>
      <p:sp>
        <p:nvSpPr>
          <p:cNvPr id="23" name="Text 19"/>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C3 · écran 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457200" y="256032"/>
            <a:ext cx="5943600" cy="45720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Ma trace écrite</a:t>
            </a:r>
            <a:endParaRPr lang="en-US" sz="2700" dirty="0"/>
          </a:p>
        </p:txBody>
      </p:sp>
      <p:sp>
        <p:nvSpPr>
          <p:cNvPr id="3" name="Text 1"/>
          <p:cNvSpPr/>
          <p:nvPr/>
        </p:nvSpPr>
        <p:spPr>
          <a:xfrm>
            <a:off x="457200" y="713232"/>
            <a:ext cx="5943600" cy="292608"/>
          </a:xfrm>
          <a:prstGeom prst="rect">
            <a:avLst/>
          </a:prstGeom>
          <a:noFill/>
          <a:ln/>
        </p:spPr>
        <p:txBody>
          <a:bodyPr wrap="square" lIns="0" tIns="0" rIns="0" bIns="0" rtlCol="0" anchor="ctr"/>
          <a:lstStyle/>
          <a:p>
            <a:pPr indent="0" marL="0">
              <a:buNone/>
            </a:pPr>
            <a:r>
              <a:rPr lang="en-US" sz="1400" i="1" dirty="0">
                <a:solidFill>
                  <a:srgbClr val="DEEAF6"/>
                </a:solidFill>
                <a:latin typeface="Calibri" pitchFamily="34" charset="0"/>
                <a:ea typeface="Calibri" pitchFamily="34" charset="-122"/>
                <a:cs typeface="Calibri" pitchFamily="34" charset="-120"/>
              </a:rPr>
              <a:t>Carnet de méthodes · page « Consolidation »</a:t>
            </a:r>
            <a:endParaRPr lang="en-US" sz="1400" dirty="0"/>
          </a:p>
        </p:txBody>
      </p:sp>
      <p:sp>
        <p:nvSpPr>
          <p:cNvPr id="4" name="Shape 2"/>
          <p:cNvSpPr/>
          <p:nvPr/>
        </p:nvSpPr>
        <p:spPr>
          <a:xfrm>
            <a:off x="548640" y="1234440"/>
            <a:ext cx="2377440" cy="868680"/>
          </a:xfrm>
          <a:prstGeom prst="roundRect">
            <a:avLst>
              <a:gd name="adj" fmla="val 42105"/>
            </a:avLst>
          </a:prstGeom>
          <a:solidFill>
            <a:srgbClr val="FFFFFF"/>
          </a:solidFill>
          <a:ln/>
        </p:spPr>
      </p:sp>
      <p:sp>
        <p:nvSpPr>
          <p:cNvPr id="5" name="Text 3"/>
          <p:cNvSpPr/>
          <p:nvPr/>
        </p:nvSpPr>
        <p:spPr>
          <a:xfrm>
            <a:off x="621792" y="1234440"/>
            <a:ext cx="2231136" cy="868680"/>
          </a:xfrm>
          <a:prstGeom prst="rect">
            <a:avLst/>
          </a:prstGeom>
          <a:noFill/>
          <a:ln/>
        </p:spPr>
        <p:txBody>
          <a:bodyPr wrap="square" lIns="0" tIns="0" rIns="0" bIns="0" rtlCol="0" anchor="ctr"/>
          <a:lstStyle/>
          <a:p>
            <a:pPr algn="ctr" indent="0" marL="0">
              <a:spcAft>
                <a:spcPts val="200"/>
              </a:spcAft>
              <a:buNone/>
            </a:pPr>
            <a:r>
              <a:rPr lang="en-US" sz="1600" b="1" dirty="0">
                <a:solidFill>
                  <a:srgbClr val="1F3864"/>
                </a:solidFill>
                <a:latin typeface="Calibri" pitchFamily="34" charset="0"/>
                <a:ea typeface="Calibri" pitchFamily="34" charset="-122"/>
                <a:cs typeface="Calibri" pitchFamily="34" charset="-120"/>
              </a:rPr>
              <a:t>je cartographie</a:t>
            </a:r>
            <a:endParaRPr lang="en-US" sz="1600" dirty="0"/>
          </a:p>
          <a:p>
            <a:pPr algn="ctr" indent="0" marL="0">
              <a:spcAft>
                <a:spcPts val="200"/>
              </a:spcAft>
              <a:buNone/>
            </a:pPr>
            <a:r>
              <a:rPr lang="en-US" sz="1200" i="1" dirty="0">
                <a:solidFill>
                  <a:srgbClr val="6B7280"/>
                </a:solidFill>
                <a:latin typeface="Calibri" pitchFamily="34" charset="0"/>
                <a:ea typeface="Calibri" pitchFamily="34" charset="-122"/>
                <a:cs typeface="Calibri" pitchFamily="34" charset="-120"/>
              </a:rPr>
              <a:t>tout ce qui compte</a:t>
            </a:r>
            <a:endParaRPr lang="en-US" sz="1600" dirty="0"/>
          </a:p>
        </p:txBody>
      </p:sp>
      <p:sp>
        <p:nvSpPr>
          <p:cNvPr id="6" name="Text 4"/>
          <p:cNvSpPr/>
          <p:nvPr/>
        </p:nvSpPr>
        <p:spPr>
          <a:xfrm>
            <a:off x="2926080" y="1234440"/>
            <a:ext cx="457200" cy="868680"/>
          </a:xfrm>
          <a:prstGeom prst="rect">
            <a:avLst/>
          </a:prstGeom>
          <a:noFill/>
          <a:ln/>
        </p:spPr>
        <p:txBody>
          <a:bodyPr wrap="square" lIns="0" tIns="0" rIns="0" bIns="0" rtlCol="0" anchor="ctr"/>
          <a:lstStyle/>
          <a:p>
            <a:pPr algn="ctr" indent="0" marL="0">
              <a:buNone/>
            </a:pPr>
            <a:r>
              <a:rPr lang="en-US" sz="2000" b="1" dirty="0">
                <a:solidFill>
                  <a:srgbClr val="DEEAF6"/>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3383280" y="1234440"/>
            <a:ext cx="2377440" cy="868680"/>
          </a:xfrm>
          <a:prstGeom prst="roundRect">
            <a:avLst>
              <a:gd name="adj" fmla="val 42105"/>
            </a:avLst>
          </a:prstGeom>
          <a:solidFill>
            <a:srgbClr val="FFFFFF"/>
          </a:solidFill>
          <a:ln/>
        </p:spPr>
      </p:sp>
      <p:sp>
        <p:nvSpPr>
          <p:cNvPr id="8" name="Text 6"/>
          <p:cNvSpPr/>
          <p:nvPr/>
        </p:nvSpPr>
        <p:spPr>
          <a:xfrm>
            <a:off x="3456432" y="1234440"/>
            <a:ext cx="2231136" cy="868680"/>
          </a:xfrm>
          <a:prstGeom prst="rect">
            <a:avLst/>
          </a:prstGeom>
          <a:noFill/>
          <a:ln/>
        </p:spPr>
        <p:txBody>
          <a:bodyPr wrap="square" lIns="0" tIns="0" rIns="0" bIns="0" rtlCol="0" anchor="ctr"/>
          <a:lstStyle/>
          <a:p>
            <a:pPr algn="ctr" indent="0" marL="0">
              <a:spcAft>
                <a:spcPts val="200"/>
              </a:spcAft>
              <a:buNone/>
            </a:pPr>
            <a:r>
              <a:rPr lang="en-US" sz="1600" b="1" dirty="0">
                <a:solidFill>
                  <a:srgbClr val="1F3864"/>
                </a:solidFill>
                <a:latin typeface="Calibri" pitchFamily="34" charset="0"/>
                <a:ea typeface="Calibri" pitchFamily="34" charset="-122"/>
                <a:cs typeface="Calibri" pitchFamily="34" charset="-120"/>
              </a:rPr>
              <a:t>je priorise</a:t>
            </a:r>
            <a:endParaRPr lang="en-US" sz="1600" dirty="0"/>
          </a:p>
          <a:p>
            <a:pPr algn="ctr" indent="0" marL="0">
              <a:spcAft>
                <a:spcPts val="200"/>
              </a:spcAft>
              <a:buNone/>
            </a:pPr>
            <a:r>
              <a:rPr lang="en-US" sz="1200" i="1" dirty="0">
                <a:solidFill>
                  <a:srgbClr val="6B7280"/>
                </a:solidFill>
                <a:latin typeface="Calibri" pitchFamily="34" charset="0"/>
                <a:ea typeface="Calibri" pitchFamily="34" charset="-122"/>
                <a:cs typeface="Calibri" pitchFamily="34" charset="-120"/>
              </a:rPr>
              <a:t>enjeu × préparation</a:t>
            </a:r>
            <a:endParaRPr lang="en-US" sz="1600" dirty="0"/>
          </a:p>
        </p:txBody>
      </p:sp>
      <p:sp>
        <p:nvSpPr>
          <p:cNvPr id="9" name="Text 7"/>
          <p:cNvSpPr/>
          <p:nvPr/>
        </p:nvSpPr>
        <p:spPr>
          <a:xfrm>
            <a:off x="5760720" y="1234440"/>
            <a:ext cx="457200" cy="868680"/>
          </a:xfrm>
          <a:prstGeom prst="rect">
            <a:avLst/>
          </a:prstGeom>
          <a:noFill/>
          <a:ln/>
        </p:spPr>
        <p:txBody>
          <a:bodyPr wrap="square" lIns="0" tIns="0" rIns="0" bIns="0" rtlCol="0" anchor="ctr"/>
          <a:lstStyle/>
          <a:p>
            <a:pPr algn="ctr" indent="0" marL="0">
              <a:buNone/>
            </a:pPr>
            <a:r>
              <a:rPr lang="en-US" sz="2000" b="1" dirty="0">
                <a:solidFill>
                  <a:srgbClr val="DEEAF6"/>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6217920" y="1234440"/>
            <a:ext cx="2377440" cy="868680"/>
          </a:xfrm>
          <a:prstGeom prst="roundRect">
            <a:avLst>
              <a:gd name="adj" fmla="val 42105"/>
            </a:avLst>
          </a:prstGeom>
          <a:solidFill>
            <a:srgbClr val="FFFFFF"/>
          </a:solidFill>
          <a:ln/>
        </p:spPr>
      </p:sp>
      <p:sp>
        <p:nvSpPr>
          <p:cNvPr id="11" name="Text 9"/>
          <p:cNvSpPr/>
          <p:nvPr/>
        </p:nvSpPr>
        <p:spPr>
          <a:xfrm>
            <a:off x="6291072" y="1234440"/>
            <a:ext cx="2231136" cy="868680"/>
          </a:xfrm>
          <a:prstGeom prst="rect">
            <a:avLst/>
          </a:prstGeom>
          <a:noFill/>
          <a:ln/>
        </p:spPr>
        <p:txBody>
          <a:bodyPr wrap="square" lIns="0" tIns="0" rIns="0" bIns="0" rtlCol="0" anchor="ctr"/>
          <a:lstStyle/>
          <a:p>
            <a:pPr algn="ctr" indent="0" marL="0">
              <a:spcAft>
                <a:spcPts val="200"/>
              </a:spcAft>
              <a:buNone/>
            </a:pPr>
            <a:r>
              <a:rPr lang="en-US" sz="1600" b="1" dirty="0">
                <a:solidFill>
                  <a:srgbClr val="1F3864"/>
                </a:solidFill>
                <a:latin typeface="Calibri" pitchFamily="34" charset="0"/>
                <a:ea typeface="Calibri" pitchFamily="34" charset="-122"/>
                <a:cs typeface="Calibri" pitchFamily="34" charset="-120"/>
              </a:rPr>
              <a:t>je rétro-planifie</a:t>
            </a:r>
            <a:endParaRPr lang="en-US" sz="1600" dirty="0"/>
          </a:p>
          <a:p>
            <a:pPr algn="ctr" indent="0" marL="0">
              <a:spcAft>
                <a:spcPts val="200"/>
              </a:spcAft>
              <a:buNone/>
            </a:pPr>
            <a:r>
              <a:rPr lang="en-US" sz="1200" i="1" dirty="0">
                <a:solidFill>
                  <a:srgbClr val="6B7280"/>
                </a:solidFill>
                <a:latin typeface="Calibri" pitchFamily="34" charset="0"/>
                <a:ea typeface="Calibri" pitchFamily="34" charset="-122"/>
                <a:cs typeface="Calibri" pitchFamily="34" charset="-120"/>
              </a:rPr>
              <a:t>J−14 · J−7 · J−2</a:t>
            </a:r>
            <a:endParaRPr lang="en-US" sz="1600" dirty="0"/>
          </a:p>
        </p:txBody>
      </p:sp>
      <p:sp>
        <p:nvSpPr>
          <p:cNvPr id="12" name="Shape 10"/>
          <p:cNvSpPr/>
          <p:nvPr/>
        </p:nvSpPr>
        <p:spPr>
          <a:xfrm>
            <a:off x="548640" y="2423160"/>
            <a:ext cx="8046720" cy="1965960"/>
          </a:xfrm>
          <a:prstGeom prst="roundRect">
            <a:avLst>
              <a:gd name="adj" fmla="val 4651"/>
            </a:avLst>
          </a:prstGeom>
          <a:solidFill>
            <a:srgbClr val="2E5395"/>
          </a:solidFill>
          <a:ln/>
        </p:spPr>
      </p:sp>
      <p:sp>
        <p:nvSpPr>
          <p:cNvPr id="13" name="Text 11"/>
          <p:cNvSpPr/>
          <p:nvPr/>
        </p:nvSpPr>
        <p:spPr>
          <a:xfrm>
            <a:off x="822960" y="2514600"/>
            <a:ext cx="7498080" cy="1783080"/>
          </a:xfrm>
          <a:prstGeom prst="rect">
            <a:avLst/>
          </a:prstGeom>
          <a:noFill/>
          <a:ln/>
        </p:spPr>
        <p:txBody>
          <a:bodyPr wrap="square" lIns="0" tIns="0" rIns="0" bIns="0" rtlCol="0" anchor="ctr"/>
          <a:lstStyle/>
          <a:p>
            <a:pPr indent="0" marL="0">
              <a:spcAft>
                <a:spcPts val="600"/>
              </a:spcAft>
              <a:buNone/>
            </a:pPr>
            <a:r>
              <a:rPr lang="en-US" sz="1400" b="1" spc="150" kern="0" dirty="0">
                <a:solidFill>
                  <a:srgbClr val="FFFFFF"/>
                </a:solidFill>
                <a:latin typeface="Calibri" pitchFamily="34" charset="0"/>
                <a:ea typeface="Calibri" pitchFamily="34" charset="-122"/>
                <a:cs typeface="Calibri" pitchFamily="34" charset="-120"/>
              </a:rPr>
              <a:t>MON ENGAGEMENT</a:t>
            </a:r>
            <a:endParaRPr lang="en-US" sz="14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Je tiens le rétro-planning de mon échéance n°1 jusqu’au DS.</a:t>
            </a:r>
            <a:endParaRPr lang="en-US" sz="14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Mes trois jalons sont écrits dans mon agenda, avec leur contenu.</a:t>
            </a:r>
            <a:endParaRPr lang="en-US" sz="14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Je coche chaque jalon fait ; un jalon déplacé se réécrit, il ne s’efface pas.</a:t>
            </a:r>
            <a:endParaRPr lang="en-US" sz="1400" dirty="0"/>
          </a:p>
          <a:p>
            <a:pPr indent="0" marL="0">
              <a:spcAft>
                <a:spcPts val="600"/>
              </a:spcAft>
              <a:buNone/>
            </a:pPr>
            <a:r>
              <a:rPr lang="en-US" sz="1400" i="1" dirty="0">
                <a:solidFill>
                  <a:srgbClr val="DEEAF6"/>
                </a:solidFill>
                <a:latin typeface="Calibri" pitchFamily="34" charset="0"/>
                <a:ea typeface="Calibri" pitchFamily="34" charset="-122"/>
                <a:cs typeface="Calibri" pitchFamily="34" charset="-120"/>
              </a:rPr>
              <a:t>Point avec le professeur principal à J−7 — débrief après le DS : le plan a-t-il tenu ?</a:t>
            </a:r>
            <a:endParaRPr lang="en-US" sz="1400" dirty="0"/>
          </a:p>
        </p:txBody>
      </p:sp>
      <p:sp>
        <p:nvSpPr>
          <p:cNvPr id="14" name="Text 12"/>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DEEAF6"/>
                </a:solidFill>
                <a:latin typeface="Calibri" pitchFamily="34" charset="0"/>
                <a:ea typeface="Calibri" pitchFamily="34" charset="-122"/>
                <a:cs typeface="Calibri" pitchFamily="34" charset="-120"/>
              </a:rPr>
              <a:t>C3 · écran 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C3 · Piloter un trimestre sous contrôle continu — 1re</dc:title>
  <dc:subject>PptxGenJS Presentation</dc:subject>
  <dc:creator>Institut Stanislas de Cannes</dc:creator>
  <cp:lastModifiedBy>Institut Stanislas de Cannes</cp:lastModifiedBy>
  <cp:revision>1</cp:revision>
  <dcterms:created xsi:type="dcterms:W3CDTF">2026-07-18T07:53:36Z</dcterms:created>
  <dcterms:modified xsi:type="dcterms:W3CDTF">2026-07-18T07:53:36Z</dcterms:modified>
</cp:coreProperties>
</file>