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(0-10 min). Lancement : « On commence par une expérience. Je ne vous dis pas encore ce qu'on cherche — vous le découvrirez vous-mêmes tout à l'heure. » VIGILANCE ABSOLUE : ne jamais annoncer que s'interroger vaut mieux que relire, ni laisser deviner l'hypothèse. Toute annonce tue la démonstration. Distribuer la feuille d'expérience, page 1 seulement.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Chronomètre : 3 min 00, strictement. Verbatim : « Prenez la feuille d'expérience, page 1 seulement. Vous avez 3 minutes pour retenir le document A : relisez-le autant de fois que vous voulez. En silence, sans rien écrire. Top. » Relecture pure : pas de surlignage, pas de prise de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chronos de 1 min 30. Verbatim 1 : « Document B : vous avez 1 minute 30 pour le lire, une ou deux fois. Top. » Verbatim 2 : « Stop. Retournez la feuille, page 3. Dans le cadre Rappel écrit, écrivez de mémoire tout ce dont vous vous souvenez du document B. 1 minute 30. Top. » Résultat attendu : de la frustration (« je n'ai presque rien retenu »). C'est normal, ne pas commenter.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Verbatim : « Stop, posez les stylos. Chaque document a donc eu exactement 3 minutes : le A en relecture, le B en lecture puis rappel de mémoire. Un test aura lieu plus tard dans l'heure. Rangez la feuille sous le cahier, on n'y touche plus. » Ne rien dévoiler de l'hypothèse. Enchaîner immédiatement sur l'atelier.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Verbatim : « Chacun ouvre le cahier de la matière qu'il a apportée, sur le chapitre en cours. Vous allez fabriquer 8 à 10 questions sur ce chapitre — des questions dont vous noterez la réponse en mots-clés dans la colonne de droite, que vous cacherez ensuite. » Distribuer la fiche atelier (support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maximum. Montrer l'exemple faible puis fort : les deux questions sont acceptées, la seconde vaut plus. Les 4 critères figurent aussi en encadré sur la fiche atelier. Ne pas valider une liste de 10 définitions : exiger le mélange des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minutes, en silence. Circuler avec les critères : rehausser les questions trop factuelles (« Transforme-la en pourquoi », « Quelle différence entre X et Y ? »). Élève bloqué après 3 questions : le renvoyer à la banque d'amorces de la fiche atelier. Différenciation : 6 questions acceptées pour les élèves en difficulté ; questions de mise en relation exigées des élèves performants.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par élève, puis on inverse. Vigilance : cahiers réellement fermés — un cahier entrouvert transforme le test en relecture. Les binômes peuvent avoir des matières différentes : celui qui interroge lit la question et vérifie avec les mots-clés. À 41 min, faire compléter la ligne bilan (su / partiel / non su).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incompressible : ne jamais sacrifier le test différé, c'est lui qui crée la conviction. Verbatim : « On revient à l'expérience du début. Reprenez la feuille d'expérience, page 3, cadres Test. Sans regarder les pages 1 et 2 : répondez aux 4 questions sur le document A, puis aux 4 questions sur le document B. 3 minutes. » Laisser les deux écrans de questions accessibles (revenir en arrière si besoin).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Même phase, même chrono que l'écran précédent. Circuler pour vérifier que personne ne revient aux pages 1 et 2 de la feuille d'expérience.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Barème : 1 point par réponse juste, l'idée suffit. Collecter à main levée et noter les deux chiffres au tableau. Verbatim : « Regardez ces deux chiffres. Vous avez passé exactement 3 minutes sur chaque document. Sur le A, vous avez relu ; sur le B, vous avez cherché dans votre mémoire. Qu'est-ce qui a le mieux marché ? » Si A fait jeu égal avec B : le dire honnêtement et s'appuyer sur le vécu de l'interrogation croisée (voir guide, phase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maximum, appuyées sur les deux chiffres du tableau. Ne pas transformer ce temps en cours magistral sur la mémoire. Le testing effect est un des résultats les plus répliqués de la recherche sur l'apprentissage ; la relecture et le surlignage sont classés en utilité faible, l'auto-test en utilité élevée (Dunlosky et al., 2013).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Verbatim : « Trace écrite au carnet de méthodes, page du pilier Engagement actif. Recopiez le cycle en 4 temps. Notez vos deux scores. L'engagement des 7 jours : chaque soir, 5 minutes d'auto-interrogation sur un cours du jour, cahier fermé, et vous cochez la grille. » Rituel météo du transfert à la prochaine vie de classe (3-5 min) : main levée « qui a tenu au moins 5 jours sur 7 ? », deux témoignages (un obstacle, une astuce), reformulation de l'engagement. Suivi propre à B1 : vérification bienveillante de 3 carnets pris au hasard.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640080" y="777240"/>
            <a:ext cx="7863840" cy="365760"/>
          </a:xfrm>
          <a:prstGeom prst="rect">
            <a:avLst/>
          </a:prstGeom>
          <a:noFill/>
          <a:ln/>
        </p:spPr>
        <p:txBody>
          <a:bodyPr wrap="square" lIns="0" tIns="0" rIns="0" bIns="0" rtlCol="0" anchor="ctr"/>
          <a:lstStyle/>
          <a:p>
            <a:pPr algn="ctr" indent="0" marL="0">
              <a:buNone/>
            </a:pPr>
            <a:r>
              <a:rPr lang="en-US" sz="1500" spc="200" kern="0" dirty="0">
                <a:solidFill>
                  <a:srgbClr val="DEEAF6"/>
                </a:solidFill>
                <a:latin typeface="Calibri" pitchFamily="34" charset="0"/>
                <a:ea typeface="Calibri" pitchFamily="34" charset="-122"/>
                <a:cs typeface="Calibri" pitchFamily="34" charset="-120"/>
              </a:rPr>
              <a:t>Séance B1 · 3e</a:t>
            </a:r>
            <a:endParaRPr lang="en-US" sz="1500" dirty="0"/>
          </a:p>
        </p:txBody>
      </p:sp>
      <p:sp>
        <p:nvSpPr>
          <p:cNvPr id="3" name="Text 1"/>
          <p:cNvSpPr/>
          <p:nvPr/>
        </p:nvSpPr>
        <p:spPr>
          <a:xfrm>
            <a:off x="640080" y="1188720"/>
            <a:ext cx="7863840" cy="822960"/>
          </a:xfrm>
          <a:prstGeom prst="rect">
            <a:avLst/>
          </a:prstGeom>
          <a:noFill/>
          <a:ln/>
        </p:spPr>
        <p:txBody>
          <a:bodyPr wrap="square" lIns="0" tIns="0" rIns="0" bIns="0"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Mémoriser : s’interroger au lieu de relire</a:t>
            </a:r>
            <a:endParaRPr lang="en-US" sz="4400" dirty="0"/>
          </a:p>
        </p:txBody>
      </p:sp>
      <p:sp>
        <p:nvSpPr>
          <p:cNvPr id="4" name="Text 2"/>
          <p:cNvSpPr/>
          <p:nvPr/>
        </p:nvSpPr>
        <p:spPr>
          <a:xfrm>
            <a:off x="640080" y="2011680"/>
            <a:ext cx="7863840" cy="502920"/>
          </a:xfrm>
          <a:prstGeom prst="rect">
            <a:avLst/>
          </a:prstGeom>
          <a:noFill/>
          <a:ln/>
        </p:spPr>
        <p:txBody>
          <a:bodyPr wrap="square" lIns="0" tIns="0" rIns="0" bIns="0" rtlCol="0" anchor="ctr"/>
          <a:lstStyle/>
          <a:p>
            <a:pPr algn="ctr" indent="0" marL="0">
              <a:buNone/>
            </a:pPr>
            <a:r>
              <a:rPr lang="en-US" sz="2200" i="1" dirty="0">
                <a:solidFill>
                  <a:srgbClr val="DEEAF6"/>
                </a:solidFill>
                <a:latin typeface="Calibri" pitchFamily="34" charset="0"/>
                <a:ea typeface="Calibri" pitchFamily="34" charset="-122"/>
                <a:cs typeface="Calibri" pitchFamily="34" charset="-120"/>
              </a:rPr>
              <a:t>Une expérience, vos cours, vos questions</a:t>
            </a:r>
            <a:endParaRPr lang="en-US" sz="2200" dirty="0"/>
          </a:p>
        </p:txBody>
      </p:sp>
      <p:sp>
        <p:nvSpPr>
          <p:cNvPr id="5" name="Shape 3"/>
          <p:cNvSpPr/>
          <p:nvPr/>
        </p:nvSpPr>
        <p:spPr>
          <a:xfrm>
            <a:off x="1417320" y="2880360"/>
            <a:ext cx="6309360" cy="1051560"/>
          </a:xfrm>
          <a:prstGeom prst="roundRect">
            <a:avLst>
              <a:gd name="adj" fmla="val 8696"/>
            </a:avLst>
          </a:prstGeom>
          <a:solidFill>
            <a:srgbClr val="2E5395"/>
          </a:solidFill>
          <a:ln/>
        </p:spPr>
      </p:sp>
      <p:sp>
        <p:nvSpPr>
          <p:cNvPr id="6" name="Text 4"/>
          <p:cNvSpPr/>
          <p:nvPr/>
        </p:nvSpPr>
        <p:spPr>
          <a:xfrm>
            <a:off x="1600200" y="2971800"/>
            <a:ext cx="5943600" cy="868680"/>
          </a:xfrm>
          <a:prstGeom prst="rect">
            <a:avLst/>
          </a:prstGeom>
          <a:noFill/>
          <a:ln/>
        </p:spPr>
        <p:txBody>
          <a:bodyPr wrap="square" lIns="0" tIns="0" rIns="0" bIns="0" rtlCol="0" anchor="ctr"/>
          <a:lstStyle/>
          <a:p>
            <a:pPr algn="ctr" indent="0" marL="0">
              <a:spcAft>
                <a:spcPts val="400"/>
              </a:spcAft>
              <a:buNone/>
            </a:pPr>
            <a:r>
              <a:rPr lang="en-US" sz="1400" b="1" spc="150" kern="0" dirty="0">
                <a:solidFill>
                  <a:srgbClr val="FFFFFF"/>
                </a:solidFill>
                <a:latin typeface="Calibri" pitchFamily="34" charset="0"/>
                <a:ea typeface="Calibri" pitchFamily="34" charset="-122"/>
                <a:cs typeface="Calibri" pitchFamily="34" charset="-120"/>
              </a:rPr>
              <a:t>PILIER 2 · ENGAGEMENT ACTIF</a:t>
            </a:r>
            <a:endParaRPr lang="en-US" sz="1400" dirty="0"/>
          </a:p>
          <a:p>
            <a:pPr algn="ctr" indent="0" marL="0">
              <a:spcAft>
                <a:spcPts val="400"/>
              </a:spcAft>
              <a:buNone/>
            </a:pPr>
            <a:r>
              <a:rPr lang="en-US" sz="1800" i="1" dirty="0">
                <a:solidFill>
                  <a:srgbClr val="FFFFFF"/>
                </a:solidFill>
                <a:latin typeface="Calibri" pitchFamily="34" charset="0"/>
                <a:ea typeface="Calibri" pitchFamily="34" charset="-122"/>
                <a:cs typeface="Calibri" pitchFamily="34" charset="-120"/>
              </a:rPr>
              <a:t>« Je n’apprends que si je fais l’effort de chercher »</a:t>
            </a:r>
            <a:endParaRPr lang="en-US" sz="1400" dirty="0"/>
          </a:p>
        </p:txBody>
      </p:sp>
      <p:sp>
        <p:nvSpPr>
          <p:cNvPr id="7" name="Text 5"/>
          <p:cNvSpPr/>
          <p:nvPr/>
        </p:nvSpPr>
        <p:spPr>
          <a:xfrm>
            <a:off x="640080" y="4526280"/>
            <a:ext cx="7863840" cy="320040"/>
          </a:xfrm>
          <a:prstGeom prst="rect">
            <a:avLst/>
          </a:prstGeom>
          <a:noFill/>
          <a:ln/>
        </p:spPr>
        <p:txBody>
          <a:bodyPr wrap="square" lIns="0" tIns="0" rIns="0" bIns="0" rtlCol="0" anchor="ctr"/>
          <a:lstStyle/>
          <a:p>
            <a:pPr algn="ctr" indent="0" marL="0">
              <a:buNone/>
            </a:pPr>
            <a:r>
              <a:rPr lang="en-US" sz="1100" dirty="0">
                <a:solidFill>
                  <a:srgbClr val="DEEAF6"/>
                </a:solidFill>
                <a:latin typeface="Calibri" pitchFamily="34" charset="0"/>
                <a:ea typeface="Calibri" pitchFamily="34" charset="-122"/>
                <a:cs typeface="Calibri" pitchFamily="34" charset="-120"/>
              </a:rPr>
              <a:t>Dispositif « Apprendre à apprendre » · Institut Stanislas de Cannes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Expérience — document A</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Individuel</a:t>
            </a:r>
            <a:endParaRPr lang="en-US" sz="1050" dirty="0"/>
          </a:p>
        </p:txBody>
      </p:sp>
      <p:sp>
        <p:nvSpPr>
          <p:cNvPr id="6" name="Shape 3"/>
          <p:cNvSpPr/>
          <p:nvPr/>
        </p:nvSpPr>
        <p:spPr>
          <a:xfrm>
            <a:off x="457200" y="1234440"/>
            <a:ext cx="5303520" cy="2148840"/>
          </a:xfrm>
          <a:prstGeom prst="roundRect">
            <a:avLst>
              <a:gd name="adj" fmla="val 4255"/>
            </a:avLst>
          </a:prstGeom>
          <a:solidFill>
            <a:srgbClr val="F2F2F2"/>
          </a:solidFill>
          <a:ln/>
        </p:spPr>
      </p:sp>
      <p:sp>
        <p:nvSpPr>
          <p:cNvPr id="7" name="Text 4"/>
          <p:cNvSpPr/>
          <p:nvPr/>
        </p:nvSpPr>
        <p:spPr>
          <a:xfrm>
            <a:off x="685800" y="1417320"/>
            <a:ext cx="4846320" cy="1783080"/>
          </a:xfrm>
          <a:prstGeom prst="rect">
            <a:avLst/>
          </a:prstGeom>
          <a:noFill/>
          <a:ln/>
        </p:spPr>
        <p:txBody>
          <a:bodyPr wrap="square" lIns="0" tIns="0" rIns="0" bIns="0" rtlCol="0" anchor="ctr"/>
          <a:lstStyle/>
          <a:p>
            <a:pPr algn="l" indent="0" marL="0">
              <a:buNone/>
            </a:pPr>
            <a:r>
              <a:rPr lang="en-US" sz="1700" b="1" dirty="0">
                <a:solidFill>
                  <a:srgbClr val="2B2B2B"/>
                </a:solidFill>
                <a:latin typeface="Calibri" pitchFamily="34" charset="0"/>
                <a:ea typeface="Calibri" pitchFamily="34" charset="-122"/>
                <a:cs typeface="Calibri" pitchFamily="34" charset="-120"/>
              </a:rPr>
              <a:t>Page 1 de votre feuille.</a:t>
            </a:r>
            <a:endParaRPr lang="en-US" sz="1700" dirty="0"/>
          </a:p>
          <a:p>
            <a:pPr algn="l" indent="0" marL="0">
              <a:buNone/>
            </a:pPr>
            <a:r>
              <a:rPr lang="en-US" sz="1700" dirty="0">
                <a:solidFill>
                  <a:srgbClr val="2B2B2B"/>
                </a:solidFill>
                <a:latin typeface="Calibri" pitchFamily="34" charset="0"/>
                <a:ea typeface="Calibri" pitchFamily="34" charset="-122"/>
                <a:cs typeface="Calibri" pitchFamily="34" charset="-120"/>
              </a:rPr>
              <a:t>Retenez le document A : relisez-le autant de fois que vous voulez.</a:t>
            </a:r>
            <a:endParaRPr lang="en-US" sz="1700" dirty="0"/>
          </a:p>
          <a:p>
            <a:pPr algn="l" indent="0" marL="0">
              <a:buNone/>
            </a:pPr>
            <a:r>
              <a:rPr lang="en-US" sz="1700" dirty="0">
                <a:solidFill>
                  <a:srgbClr val="2B2B2B"/>
                </a:solidFill>
                <a:latin typeface="Calibri" pitchFamily="34" charset="0"/>
                <a:ea typeface="Calibri" pitchFamily="34" charset="-122"/>
                <a:cs typeface="Calibri" pitchFamily="34" charset="-120"/>
              </a:rPr>
              <a:t>En silence, sans rien écrire, sans surligner.</a:t>
            </a:r>
            <a:endParaRPr lang="en-US" sz="1700" dirty="0"/>
          </a:p>
        </p:txBody>
      </p:sp>
      <p:sp>
        <p:nvSpPr>
          <p:cNvPr id="8" name="Shape 5"/>
          <p:cNvSpPr/>
          <p:nvPr/>
        </p:nvSpPr>
        <p:spPr>
          <a:xfrm>
            <a:off x="6126480" y="1600200"/>
            <a:ext cx="2560320" cy="1417320"/>
          </a:xfrm>
          <a:prstGeom prst="roundRect">
            <a:avLst>
              <a:gd name="adj" fmla="val 7742"/>
            </a:avLst>
          </a:prstGeom>
          <a:solidFill>
            <a:srgbClr val="F2F2F2"/>
          </a:solidFill>
          <a:ln/>
        </p:spPr>
      </p:sp>
      <p:pic>
        <p:nvPicPr>
          <p:cNvPr id="9" name="Image 1" descr="preencoded.png">    </p:cNvPr>
          <p:cNvPicPr>
            <a:picLocks noChangeAspect="1"/>
          </p:cNvPicPr>
          <p:nvPr/>
        </p:nvPicPr>
        <p:blipFill>
          <a:blip r:embed="rId2"/>
          <a:stretch>
            <a:fillRect/>
          </a:stretch>
        </p:blipFill>
        <p:spPr>
          <a:xfrm>
            <a:off x="6327648" y="2135124"/>
            <a:ext cx="347472" cy="347472"/>
          </a:xfrm>
          <a:prstGeom prst="rect">
            <a:avLst/>
          </a:prstGeom>
        </p:spPr>
      </p:pic>
      <p:sp>
        <p:nvSpPr>
          <p:cNvPr id="10" name="Text 6"/>
          <p:cNvSpPr/>
          <p:nvPr/>
        </p:nvSpPr>
        <p:spPr>
          <a:xfrm>
            <a:off x="6693408" y="1673352"/>
            <a:ext cx="1901952" cy="1033272"/>
          </a:xfrm>
          <a:prstGeom prst="rect">
            <a:avLst/>
          </a:prstGeom>
          <a:noFill/>
          <a:ln/>
        </p:spPr>
        <p:txBody>
          <a:bodyPr wrap="square" lIns="0" tIns="0" rIns="0" bIns="0" rtlCol="0" anchor="ctr"/>
          <a:lstStyle/>
          <a:p>
            <a:pPr algn="ctr" indent="0" marL="0">
              <a:buNone/>
            </a:pPr>
            <a:r>
              <a:rPr lang="en-US" sz="4000" b="1" dirty="0">
                <a:solidFill>
                  <a:srgbClr val="1F3864"/>
                </a:solidFill>
                <a:latin typeface="Calibri" pitchFamily="34" charset="0"/>
                <a:ea typeface="Calibri" pitchFamily="34" charset="-122"/>
                <a:cs typeface="Calibri" pitchFamily="34" charset="-120"/>
              </a:rPr>
              <a:t>3:00</a:t>
            </a:r>
            <a:endParaRPr lang="en-US" sz="4000" dirty="0"/>
          </a:p>
        </p:txBody>
      </p:sp>
      <p:sp>
        <p:nvSpPr>
          <p:cNvPr id="11" name="Text 7"/>
          <p:cNvSpPr/>
          <p:nvPr/>
        </p:nvSpPr>
        <p:spPr>
          <a:xfrm>
            <a:off x="6126480" y="2688336"/>
            <a:ext cx="2560320" cy="274320"/>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chrono projeté</a:t>
            </a:r>
            <a:endParaRPr lang="en-US" sz="1050" dirty="0"/>
          </a:p>
        </p:txBody>
      </p:sp>
      <p:sp>
        <p:nvSpPr>
          <p:cNvPr id="12" name="Text 8"/>
          <p:cNvSpPr/>
          <p:nvPr/>
        </p:nvSpPr>
        <p:spPr>
          <a:xfrm>
            <a:off x="457200" y="3657600"/>
            <a:ext cx="82296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Un test aura lieu plus tard dans l’heure.</a:t>
            </a:r>
            <a:endParaRPr lang="en-US" sz="1300" dirty="0"/>
          </a:p>
        </p:txBody>
      </p:sp>
      <p:sp>
        <p:nvSpPr>
          <p:cNvPr id="13" name="Text 9"/>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B1 · écran 2 / 13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Expérience — document B</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Individuel</a:t>
            </a:r>
            <a:endParaRPr lang="en-US" sz="1050" dirty="0"/>
          </a:p>
        </p:txBody>
      </p:sp>
      <p:sp>
        <p:nvSpPr>
          <p:cNvPr id="6" name="Shape 3"/>
          <p:cNvSpPr/>
          <p:nvPr/>
        </p:nvSpPr>
        <p:spPr>
          <a:xfrm>
            <a:off x="457200" y="1234440"/>
            <a:ext cx="5303520" cy="1005840"/>
          </a:xfrm>
          <a:prstGeom prst="roundRect">
            <a:avLst>
              <a:gd name="adj" fmla="val 9091"/>
            </a:avLst>
          </a:prstGeom>
          <a:solidFill>
            <a:srgbClr val="DEEAF6"/>
          </a:solidFill>
          <a:ln/>
        </p:spPr>
      </p:sp>
      <p:sp>
        <p:nvSpPr>
          <p:cNvPr id="7" name="Shape 4"/>
          <p:cNvSpPr/>
          <p:nvPr/>
        </p:nvSpPr>
        <p:spPr>
          <a:xfrm>
            <a:off x="658368" y="1545336"/>
            <a:ext cx="384048" cy="384048"/>
          </a:xfrm>
          <a:prstGeom prst="ellipse">
            <a:avLst/>
          </a:prstGeom>
          <a:solidFill>
            <a:srgbClr val="1F3864"/>
          </a:solidFill>
          <a:ln/>
        </p:spPr>
      </p:sp>
      <p:sp>
        <p:nvSpPr>
          <p:cNvPr id="8" name="Text 5"/>
          <p:cNvSpPr/>
          <p:nvPr/>
        </p:nvSpPr>
        <p:spPr>
          <a:xfrm>
            <a:off x="658368" y="154533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6"/>
          <p:cNvSpPr/>
          <p:nvPr/>
        </p:nvSpPr>
        <p:spPr>
          <a:xfrm>
            <a:off x="1188720" y="1325880"/>
            <a:ext cx="4434840" cy="822960"/>
          </a:xfrm>
          <a:prstGeom prst="rect">
            <a:avLst/>
          </a:prstGeom>
          <a:noFill/>
          <a:ln/>
        </p:spPr>
        <p:txBody>
          <a:bodyPr wrap="square" lIns="0" tIns="0" rIns="0" bIns="0" rtlCol="0" anchor="ctr"/>
          <a:lstStyle/>
          <a:p>
            <a:pPr algn="l" indent="0" marL="0">
              <a:buNone/>
            </a:pPr>
            <a:r>
              <a:rPr lang="en-US" sz="1700" dirty="0">
                <a:solidFill>
                  <a:srgbClr val="2B2B2B"/>
                </a:solidFill>
                <a:latin typeface="Calibri" pitchFamily="34" charset="0"/>
                <a:ea typeface="Calibri" pitchFamily="34" charset="-122"/>
                <a:cs typeface="Calibri" pitchFamily="34" charset="-120"/>
              </a:rPr>
              <a:t>Lisez le document B, une ou deux fois.</a:t>
            </a:r>
            <a:endParaRPr lang="en-US" sz="1700" dirty="0"/>
          </a:p>
        </p:txBody>
      </p:sp>
      <p:sp>
        <p:nvSpPr>
          <p:cNvPr id="10" name="Shape 7"/>
          <p:cNvSpPr/>
          <p:nvPr/>
        </p:nvSpPr>
        <p:spPr>
          <a:xfrm>
            <a:off x="457200" y="2377440"/>
            <a:ext cx="5303520" cy="1234440"/>
          </a:xfrm>
          <a:prstGeom prst="roundRect">
            <a:avLst>
              <a:gd name="adj" fmla="val 7407"/>
            </a:avLst>
          </a:prstGeom>
          <a:solidFill>
            <a:srgbClr val="F2F2F2"/>
          </a:solidFill>
          <a:ln/>
        </p:spPr>
      </p:sp>
      <p:sp>
        <p:nvSpPr>
          <p:cNvPr id="11" name="Shape 8"/>
          <p:cNvSpPr/>
          <p:nvPr/>
        </p:nvSpPr>
        <p:spPr>
          <a:xfrm>
            <a:off x="658368" y="2798064"/>
            <a:ext cx="384048" cy="384048"/>
          </a:xfrm>
          <a:prstGeom prst="ellipse">
            <a:avLst/>
          </a:prstGeom>
          <a:solidFill>
            <a:srgbClr val="1F3864"/>
          </a:solidFill>
          <a:ln/>
        </p:spPr>
      </p:sp>
      <p:sp>
        <p:nvSpPr>
          <p:cNvPr id="12" name="Text 9"/>
          <p:cNvSpPr/>
          <p:nvPr/>
        </p:nvSpPr>
        <p:spPr>
          <a:xfrm>
            <a:off x="658368" y="279806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0"/>
          <p:cNvSpPr/>
          <p:nvPr/>
        </p:nvSpPr>
        <p:spPr>
          <a:xfrm>
            <a:off x="1188720" y="2468880"/>
            <a:ext cx="4434840" cy="1051560"/>
          </a:xfrm>
          <a:prstGeom prst="rect">
            <a:avLst/>
          </a:prstGeom>
          <a:noFill/>
          <a:ln/>
        </p:spPr>
        <p:txBody>
          <a:bodyPr wrap="square" lIns="0" tIns="0" rIns="0" bIns="0" rtlCol="0" anchor="ctr"/>
          <a:lstStyle/>
          <a:p>
            <a:pPr algn="l" indent="0" marL="0">
              <a:buNone/>
            </a:pPr>
            <a:r>
              <a:rPr lang="en-US" sz="1700" dirty="0">
                <a:solidFill>
                  <a:srgbClr val="2B2B2B"/>
                </a:solidFill>
                <a:latin typeface="Calibri" pitchFamily="34" charset="0"/>
                <a:ea typeface="Calibri" pitchFamily="34" charset="-122"/>
                <a:cs typeface="Calibri" pitchFamily="34" charset="-120"/>
              </a:rPr>
              <a:t>Au signal : feuille retournée. Écrivez de mémoire tout ce dont vous vous souvenez.</a:t>
            </a:r>
            <a:endParaRPr lang="en-US" sz="1700" dirty="0"/>
          </a:p>
        </p:txBody>
      </p:sp>
      <p:sp>
        <p:nvSpPr>
          <p:cNvPr id="14" name="Shape 11"/>
          <p:cNvSpPr/>
          <p:nvPr/>
        </p:nvSpPr>
        <p:spPr>
          <a:xfrm>
            <a:off x="6126480" y="1783080"/>
            <a:ext cx="2560320" cy="1417320"/>
          </a:xfrm>
          <a:prstGeom prst="roundRect">
            <a:avLst>
              <a:gd name="adj" fmla="val 7742"/>
            </a:avLst>
          </a:prstGeom>
          <a:solidFill>
            <a:srgbClr val="F2F2F2"/>
          </a:solidFill>
          <a:ln/>
        </p:spPr>
      </p:sp>
      <p:pic>
        <p:nvPicPr>
          <p:cNvPr id="15" name="Image 1" descr="preencoded.png">    </p:cNvPr>
          <p:cNvPicPr>
            <a:picLocks noChangeAspect="1"/>
          </p:cNvPicPr>
          <p:nvPr/>
        </p:nvPicPr>
        <p:blipFill>
          <a:blip r:embed="rId2"/>
          <a:stretch>
            <a:fillRect/>
          </a:stretch>
        </p:blipFill>
        <p:spPr>
          <a:xfrm>
            <a:off x="6327648" y="2318004"/>
            <a:ext cx="347472" cy="347472"/>
          </a:xfrm>
          <a:prstGeom prst="rect">
            <a:avLst/>
          </a:prstGeom>
        </p:spPr>
      </p:pic>
      <p:sp>
        <p:nvSpPr>
          <p:cNvPr id="16" name="Text 12"/>
          <p:cNvSpPr/>
          <p:nvPr/>
        </p:nvSpPr>
        <p:spPr>
          <a:xfrm>
            <a:off x="6693408" y="1856232"/>
            <a:ext cx="1901952" cy="1033272"/>
          </a:xfrm>
          <a:prstGeom prst="rect">
            <a:avLst/>
          </a:prstGeom>
          <a:noFill/>
          <a:ln/>
        </p:spPr>
        <p:txBody>
          <a:bodyPr wrap="square" lIns="0" tIns="0" rIns="0" bIns="0" rtlCol="0" anchor="ctr"/>
          <a:lstStyle/>
          <a:p>
            <a:pPr algn="ctr" indent="0" marL="0">
              <a:buNone/>
            </a:pPr>
            <a:r>
              <a:rPr lang="en-US" sz="3000" b="1" dirty="0">
                <a:solidFill>
                  <a:srgbClr val="1F3864"/>
                </a:solidFill>
                <a:latin typeface="Calibri" pitchFamily="34" charset="0"/>
                <a:ea typeface="Calibri" pitchFamily="34" charset="-122"/>
                <a:cs typeface="Calibri" pitchFamily="34" charset="-120"/>
              </a:rPr>
              <a:t>2 × 1:30</a:t>
            </a:r>
            <a:endParaRPr lang="en-US" sz="3000" dirty="0"/>
          </a:p>
        </p:txBody>
      </p:sp>
      <p:sp>
        <p:nvSpPr>
          <p:cNvPr id="17" name="Text 13"/>
          <p:cNvSpPr/>
          <p:nvPr/>
        </p:nvSpPr>
        <p:spPr>
          <a:xfrm>
            <a:off x="6126480" y="2871216"/>
            <a:ext cx="2560320" cy="274320"/>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chrono projeté</a:t>
            </a:r>
            <a:endParaRPr lang="en-US" sz="1050" dirty="0"/>
          </a:p>
        </p:txBody>
      </p:sp>
      <p:sp>
        <p:nvSpPr>
          <p:cNvPr id="18" name="Text 14"/>
          <p:cNvSpPr/>
          <p:nvPr/>
        </p:nvSpPr>
        <p:spPr>
          <a:xfrm>
            <a:off x="457200" y="3794760"/>
            <a:ext cx="82296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Peu importe l’ordre, peu importe les fautes.</a:t>
            </a:r>
            <a:endParaRPr lang="en-US" sz="1300" dirty="0"/>
          </a:p>
        </p:txBody>
      </p:sp>
      <p:sp>
        <p:nvSpPr>
          <p:cNvPr id="19" name="Text 15"/>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B1 · écran 3 / 13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Fin de l’expérience</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Classe entière</a:t>
            </a:r>
            <a:endParaRPr lang="en-US" sz="1050" dirty="0"/>
          </a:p>
        </p:txBody>
      </p:sp>
      <p:sp>
        <p:nvSpPr>
          <p:cNvPr id="6" name="Shape 3"/>
          <p:cNvSpPr/>
          <p:nvPr/>
        </p:nvSpPr>
        <p:spPr>
          <a:xfrm>
            <a:off x="457200" y="1280160"/>
            <a:ext cx="8229600" cy="914400"/>
          </a:xfrm>
          <a:prstGeom prst="roundRect">
            <a:avLst>
              <a:gd name="adj" fmla="val 10000"/>
            </a:avLst>
          </a:prstGeom>
          <a:solidFill>
            <a:srgbClr val="DEEAF6"/>
          </a:solidFill>
          <a:ln/>
        </p:spPr>
      </p:sp>
      <p:sp>
        <p:nvSpPr>
          <p:cNvPr id="7" name="Text 4"/>
          <p:cNvSpPr/>
          <p:nvPr/>
        </p:nvSpPr>
        <p:spPr>
          <a:xfrm>
            <a:off x="777240" y="1280160"/>
            <a:ext cx="7589520" cy="914400"/>
          </a:xfrm>
          <a:prstGeom prst="rect">
            <a:avLst/>
          </a:prstGeom>
          <a:noFill/>
          <a:ln/>
        </p:spPr>
        <p:txBody>
          <a:bodyPr wrap="square" lIns="0" tIns="0" rIns="0" bIns="0" rtlCol="0" anchor="ctr"/>
          <a:lstStyle/>
          <a:p>
            <a:pPr algn="l" indent="0" marL="0">
              <a:buNone/>
            </a:pPr>
            <a:r>
              <a:rPr lang="en-US" sz="2000" b="1" dirty="0">
                <a:solidFill>
                  <a:srgbClr val="2B2B2B"/>
                </a:solidFill>
                <a:latin typeface="Calibri" pitchFamily="34" charset="0"/>
                <a:ea typeface="Calibri" pitchFamily="34" charset="-122"/>
                <a:cs typeface="Calibri" pitchFamily="34" charset="-120"/>
              </a:rPr>
              <a:t>Chaque document a eu exactement 3 minutes.</a:t>
            </a:r>
            <a:endParaRPr lang="en-US" sz="2000" dirty="0"/>
          </a:p>
        </p:txBody>
      </p:sp>
      <p:sp>
        <p:nvSpPr>
          <p:cNvPr id="8" name="Shape 5"/>
          <p:cNvSpPr/>
          <p:nvPr/>
        </p:nvSpPr>
        <p:spPr>
          <a:xfrm>
            <a:off x="457200" y="2377440"/>
            <a:ext cx="8229600" cy="914400"/>
          </a:xfrm>
          <a:prstGeom prst="roundRect">
            <a:avLst>
              <a:gd name="adj" fmla="val 10000"/>
            </a:avLst>
          </a:prstGeom>
          <a:solidFill>
            <a:srgbClr val="F2F2F2"/>
          </a:solidFill>
          <a:ln/>
        </p:spPr>
      </p:sp>
      <p:sp>
        <p:nvSpPr>
          <p:cNvPr id="9" name="Text 6"/>
          <p:cNvSpPr/>
          <p:nvPr/>
        </p:nvSpPr>
        <p:spPr>
          <a:xfrm>
            <a:off x="777240" y="2377440"/>
            <a:ext cx="7589520" cy="914400"/>
          </a:xfrm>
          <a:prstGeom prst="rect">
            <a:avLst/>
          </a:prstGeom>
          <a:noFill/>
          <a:ln/>
        </p:spPr>
        <p:txBody>
          <a:bodyPr wrap="square" lIns="0" tIns="0" rIns="0" bIns="0" rtlCol="0" anchor="ctr"/>
          <a:lstStyle/>
          <a:p>
            <a:pPr algn="l" indent="0" marL="0">
              <a:buNone/>
            </a:pPr>
            <a:r>
              <a:rPr lang="en-US" sz="1900" dirty="0">
                <a:solidFill>
                  <a:srgbClr val="2B2B2B"/>
                </a:solidFill>
                <a:latin typeface="Calibri" pitchFamily="34" charset="0"/>
                <a:ea typeface="Calibri" pitchFamily="34" charset="-122"/>
                <a:cs typeface="Calibri" pitchFamily="34" charset="-120"/>
              </a:rPr>
              <a:t>Un test aura lieu plus tard dans l’heure.</a:t>
            </a:r>
            <a:endParaRPr lang="en-US" sz="1900" dirty="0"/>
          </a:p>
        </p:txBody>
      </p:sp>
      <p:sp>
        <p:nvSpPr>
          <p:cNvPr id="10" name="Text 7"/>
          <p:cNvSpPr/>
          <p:nvPr/>
        </p:nvSpPr>
        <p:spPr>
          <a:xfrm>
            <a:off x="457200" y="3520440"/>
            <a:ext cx="8229600" cy="365760"/>
          </a:xfrm>
          <a:prstGeom prst="rect">
            <a:avLst/>
          </a:prstGeom>
          <a:noFill/>
          <a:ln/>
        </p:spPr>
        <p:txBody>
          <a:bodyPr wrap="square" lIns="0" tIns="0" rIns="0" bIns="0" rtlCol="0" anchor="ctr"/>
          <a:lstStyle/>
          <a:p>
            <a:pPr indent="0" marL="0">
              <a:buNone/>
            </a:pPr>
            <a:r>
              <a:rPr lang="en-US" sz="1700" b="1" dirty="0">
                <a:solidFill>
                  <a:srgbClr val="C00000"/>
                </a:solidFill>
                <a:latin typeface="Calibri" pitchFamily="34" charset="0"/>
                <a:ea typeface="Calibri" pitchFamily="34" charset="-122"/>
                <a:cs typeface="Calibri" pitchFamily="34" charset="-120"/>
              </a:rPr>
              <a:t>Rangez la feuille sous le cahier. On n’y touche plus.</a:t>
            </a:r>
            <a:endParaRPr lang="en-US" sz="1700" dirty="0"/>
          </a:p>
        </p:txBody>
      </p:sp>
      <p:sp>
        <p:nvSpPr>
          <p:cNvPr id="11" name="Text 8"/>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B1 · écran 4 / 13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Vos cours, vos questions</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Individuel</a:t>
            </a:r>
            <a:endParaRPr lang="en-US" sz="1050" dirty="0"/>
          </a:p>
        </p:txBody>
      </p:sp>
      <p:sp>
        <p:nvSpPr>
          <p:cNvPr id="6" name="Text 3"/>
          <p:cNvSpPr/>
          <p:nvPr/>
        </p:nvSpPr>
        <p:spPr>
          <a:xfrm>
            <a:off x="457200" y="1234440"/>
            <a:ext cx="8138160" cy="548640"/>
          </a:xfrm>
          <a:prstGeom prst="rect">
            <a:avLst/>
          </a:prstGeom>
          <a:noFill/>
          <a:ln/>
        </p:spPr>
        <p:txBody>
          <a:bodyPr wrap="square" lIns="0" tIns="0" rIns="0" bIns="0" rtlCol="0" anchor="ctr"/>
          <a:lstStyle/>
          <a:p>
            <a:pPr indent="0" marL="0">
              <a:buNone/>
            </a:pPr>
            <a:r>
              <a:rPr lang="en-US" sz="2200" b="1" dirty="0">
                <a:solidFill>
                  <a:srgbClr val="1F3864"/>
                </a:solidFill>
                <a:latin typeface="Calibri" pitchFamily="34" charset="0"/>
                <a:ea typeface="Calibri" pitchFamily="34" charset="-122"/>
                <a:cs typeface="Calibri" pitchFamily="34" charset="-120"/>
              </a:rPr>
              <a:t>Sur votre chapitre en cours : fabriquez 8 à 10 questions.</a:t>
            </a:r>
            <a:endParaRPr lang="en-US" sz="2200" dirty="0"/>
          </a:p>
        </p:txBody>
      </p:sp>
      <p:sp>
        <p:nvSpPr>
          <p:cNvPr id="7" name="Shape 4"/>
          <p:cNvSpPr/>
          <p:nvPr/>
        </p:nvSpPr>
        <p:spPr>
          <a:xfrm>
            <a:off x="457200" y="1965960"/>
            <a:ext cx="8229600" cy="1143000"/>
          </a:xfrm>
          <a:prstGeom prst="roundRect">
            <a:avLst>
              <a:gd name="adj" fmla="val 8000"/>
            </a:avLst>
          </a:prstGeom>
          <a:solidFill>
            <a:srgbClr val="F2F2F2"/>
          </a:solidFill>
          <a:ln/>
        </p:spPr>
      </p:sp>
      <p:sp>
        <p:nvSpPr>
          <p:cNvPr id="8" name="Text 5"/>
          <p:cNvSpPr/>
          <p:nvPr/>
        </p:nvSpPr>
        <p:spPr>
          <a:xfrm>
            <a:off x="777240" y="1965960"/>
            <a:ext cx="7589520" cy="1143000"/>
          </a:xfrm>
          <a:prstGeom prst="rect">
            <a:avLst/>
          </a:prstGeom>
          <a:noFill/>
          <a:ln/>
        </p:spPr>
        <p:txBody>
          <a:bodyPr wrap="square" lIns="0" tIns="0" rIns="0" bIns="0" rtlCol="0" anchor="ctr"/>
          <a:lstStyle/>
          <a:p>
            <a:pPr algn="l" indent="0" marL="0">
              <a:buNone/>
            </a:pPr>
            <a:r>
              <a:rPr lang="en-US" sz="1700" dirty="0">
                <a:solidFill>
                  <a:srgbClr val="2B2B2B"/>
                </a:solidFill>
                <a:latin typeface="Calibri" pitchFamily="34" charset="0"/>
                <a:ea typeface="Calibri" pitchFamily="34" charset="-122"/>
                <a:cs typeface="Calibri" pitchFamily="34" charset="-120"/>
              </a:rPr>
              <a:t>La réponse s’écrit en mots-clés dans la colonne de droite.</a:t>
            </a:r>
            <a:endParaRPr lang="en-US" sz="1700" dirty="0"/>
          </a:p>
          <a:p>
            <a:pPr algn="l" indent="0" marL="0">
              <a:buNone/>
            </a:pPr>
            <a:r>
              <a:rPr lang="en-US" sz="1700" dirty="0">
                <a:solidFill>
                  <a:srgbClr val="2B2B2B"/>
                </a:solidFill>
                <a:latin typeface="Calibri" pitchFamily="34" charset="0"/>
                <a:ea typeface="Calibri" pitchFamily="34" charset="-122"/>
                <a:cs typeface="Calibri" pitchFamily="34" charset="-120"/>
              </a:rPr>
              <a:t>Vous la cacherez pendant l’interrogation croisée.</a:t>
            </a:r>
            <a:endParaRPr lang="en-US" sz="1700" dirty="0"/>
          </a:p>
        </p:txBody>
      </p:sp>
      <p:sp>
        <p:nvSpPr>
          <p:cNvPr id="9" name="Text 6"/>
          <p:cNvSpPr/>
          <p:nvPr/>
        </p:nvSpPr>
        <p:spPr>
          <a:xfrm>
            <a:off x="457200" y="3291840"/>
            <a:ext cx="82296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Ouvrez le cahier de la matière que vous avez apportée.</a:t>
            </a:r>
            <a:endParaRPr lang="en-US" sz="1300" dirty="0"/>
          </a:p>
        </p:txBody>
      </p:sp>
      <p:sp>
        <p:nvSpPr>
          <p:cNvPr id="10" name="Text 7"/>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B1 · écran 5 /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Une bonne question</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Classe entière</a:t>
            </a:r>
            <a:endParaRPr lang="en-US" sz="1050" dirty="0"/>
          </a:p>
        </p:txBody>
      </p:sp>
      <p:sp>
        <p:nvSpPr>
          <p:cNvPr id="6" name="Shape 3"/>
          <p:cNvSpPr/>
          <p:nvPr/>
        </p:nvSpPr>
        <p:spPr>
          <a:xfrm>
            <a:off x="502920" y="1207008"/>
            <a:ext cx="365760" cy="365760"/>
          </a:xfrm>
          <a:prstGeom prst="ellipse">
            <a:avLst/>
          </a:prstGeom>
          <a:solidFill>
            <a:srgbClr val="1F3864"/>
          </a:solidFill>
          <a:ln/>
        </p:spPr>
      </p:sp>
      <p:sp>
        <p:nvSpPr>
          <p:cNvPr id="7" name="Text 4"/>
          <p:cNvSpPr/>
          <p:nvPr/>
        </p:nvSpPr>
        <p:spPr>
          <a:xfrm>
            <a:off x="502920" y="120700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5"/>
          <p:cNvSpPr/>
          <p:nvPr/>
        </p:nvSpPr>
        <p:spPr>
          <a:xfrm>
            <a:off x="1005840" y="1207008"/>
            <a:ext cx="7589520" cy="365760"/>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Réponse courte et vérifiable dans le cours.</a:t>
            </a:r>
            <a:endParaRPr lang="en-US" sz="1600" dirty="0"/>
          </a:p>
        </p:txBody>
      </p:sp>
      <p:sp>
        <p:nvSpPr>
          <p:cNvPr id="9" name="Shape 6"/>
          <p:cNvSpPr/>
          <p:nvPr/>
        </p:nvSpPr>
        <p:spPr>
          <a:xfrm>
            <a:off x="502920" y="1709928"/>
            <a:ext cx="365760" cy="365760"/>
          </a:xfrm>
          <a:prstGeom prst="ellipse">
            <a:avLst/>
          </a:prstGeom>
          <a:solidFill>
            <a:srgbClr val="1F3864"/>
          </a:solidFill>
          <a:ln/>
        </p:spPr>
      </p:sp>
      <p:sp>
        <p:nvSpPr>
          <p:cNvPr id="10" name="Text 7"/>
          <p:cNvSpPr/>
          <p:nvPr/>
        </p:nvSpPr>
        <p:spPr>
          <a:xfrm>
            <a:off x="502920" y="170992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8"/>
          <p:cNvSpPr/>
          <p:nvPr/>
        </p:nvSpPr>
        <p:spPr>
          <a:xfrm>
            <a:off x="1005840" y="1709928"/>
            <a:ext cx="7589520" cy="365760"/>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Au moins 2 questions « pourquoi » ou « comment ».</a:t>
            </a:r>
            <a:endParaRPr lang="en-US" sz="1600" dirty="0"/>
          </a:p>
        </p:txBody>
      </p:sp>
      <p:sp>
        <p:nvSpPr>
          <p:cNvPr id="12" name="Shape 9"/>
          <p:cNvSpPr/>
          <p:nvPr/>
        </p:nvSpPr>
        <p:spPr>
          <a:xfrm>
            <a:off x="502920" y="2212848"/>
            <a:ext cx="365760" cy="365760"/>
          </a:xfrm>
          <a:prstGeom prst="ellipse">
            <a:avLst/>
          </a:prstGeom>
          <a:solidFill>
            <a:srgbClr val="2E5395"/>
          </a:solidFill>
          <a:ln/>
        </p:spPr>
      </p:sp>
      <p:sp>
        <p:nvSpPr>
          <p:cNvPr id="13" name="Text 10"/>
          <p:cNvSpPr/>
          <p:nvPr/>
        </p:nvSpPr>
        <p:spPr>
          <a:xfrm>
            <a:off x="502920" y="221284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1"/>
          <p:cNvSpPr/>
          <p:nvPr/>
        </p:nvSpPr>
        <p:spPr>
          <a:xfrm>
            <a:off x="1005840" y="2212848"/>
            <a:ext cx="7589520" cy="365760"/>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Types mélangés : définitions, dates ou formules, liens.</a:t>
            </a:r>
            <a:endParaRPr lang="en-US" sz="1600" dirty="0"/>
          </a:p>
        </p:txBody>
      </p:sp>
      <p:sp>
        <p:nvSpPr>
          <p:cNvPr id="15" name="Shape 12"/>
          <p:cNvSpPr/>
          <p:nvPr/>
        </p:nvSpPr>
        <p:spPr>
          <a:xfrm>
            <a:off x="502920" y="2715768"/>
            <a:ext cx="365760" cy="365760"/>
          </a:xfrm>
          <a:prstGeom prst="ellipse">
            <a:avLst/>
          </a:prstGeom>
          <a:solidFill>
            <a:srgbClr val="2E5395"/>
          </a:solidFill>
          <a:ln/>
        </p:spPr>
      </p:sp>
      <p:sp>
        <p:nvSpPr>
          <p:cNvPr id="16" name="Text 13"/>
          <p:cNvSpPr/>
          <p:nvPr/>
        </p:nvSpPr>
        <p:spPr>
          <a:xfrm>
            <a:off x="502920" y="271576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4"/>
          <p:cNvSpPr/>
          <p:nvPr/>
        </p:nvSpPr>
        <p:spPr>
          <a:xfrm>
            <a:off x="1005840" y="2715768"/>
            <a:ext cx="7589520" cy="365760"/>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Réponse en mots-clés, pas en phrases.</a:t>
            </a:r>
            <a:endParaRPr lang="en-US" sz="1600" dirty="0"/>
          </a:p>
        </p:txBody>
      </p:sp>
      <p:sp>
        <p:nvSpPr>
          <p:cNvPr id="18" name="Shape 15"/>
          <p:cNvSpPr/>
          <p:nvPr/>
        </p:nvSpPr>
        <p:spPr>
          <a:xfrm>
            <a:off x="457200" y="3337560"/>
            <a:ext cx="8229600" cy="1143000"/>
          </a:xfrm>
          <a:prstGeom prst="roundRect">
            <a:avLst>
              <a:gd name="adj" fmla="val 8000"/>
            </a:avLst>
          </a:prstGeom>
          <a:solidFill>
            <a:srgbClr val="DEEAF6"/>
          </a:solidFill>
          <a:ln/>
        </p:spPr>
      </p:sp>
      <p:sp>
        <p:nvSpPr>
          <p:cNvPr id="19" name="Text 16"/>
          <p:cNvSpPr/>
          <p:nvPr/>
        </p:nvSpPr>
        <p:spPr>
          <a:xfrm>
            <a:off x="777240" y="3337560"/>
            <a:ext cx="5120640" cy="1143000"/>
          </a:xfrm>
          <a:prstGeom prst="rect">
            <a:avLst/>
          </a:prstGeom>
          <a:noFill/>
          <a:ln/>
        </p:spPr>
        <p:txBody>
          <a:bodyPr wrap="square" lIns="0" tIns="0" rIns="0" bIns="0" rtlCol="0" anchor="ctr"/>
          <a:lstStyle/>
          <a:p>
            <a:pPr algn="l" indent="0" marL="0">
              <a:buNone/>
            </a:pPr>
            <a:r>
              <a:rPr lang="en-US" sz="1600" i="1" dirty="0">
                <a:solidFill>
                  <a:srgbClr val="2B2B2B"/>
                </a:solidFill>
                <a:latin typeface="Calibri" pitchFamily="34" charset="0"/>
                <a:ea typeface="Calibri" pitchFamily="34" charset="-122"/>
                <a:cs typeface="Calibri" pitchFamily="34" charset="-120"/>
              </a:rPr>
              <a:t>« Qu’est-ce que la photosynthèse ? »</a:t>
            </a:r>
            <a:endParaRPr lang="en-US" sz="1600" dirty="0"/>
          </a:p>
          <a:p>
            <a:pPr algn="l" indent="0" marL="0">
              <a:buNone/>
            </a:pPr>
            <a:r>
              <a:rPr lang="en-US" sz="1600" b="1" i="1" dirty="0">
                <a:solidFill>
                  <a:srgbClr val="2B2B2B"/>
                </a:solidFill>
                <a:latin typeface="Calibri" pitchFamily="34" charset="0"/>
                <a:ea typeface="Calibri" pitchFamily="34" charset="-122"/>
                <a:cs typeface="Calibri" pitchFamily="34" charset="-120"/>
              </a:rPr>
              <a:t>« Pourquoi une plante privée de lumière meurt-elle ? »</a:t>
            </a:r>
            <a:endParaRPr lang="en-US" sz="1600" dirty="0"/>
          </a:p>
        </p:txBody>
      </p:sp>
      <p:sp>
        <p:nvSpPr>
          <p:cNvPr id="20" name="Text 17"/>
          <p:cNvSpPr/>
          <p:nvPr/>
        </p:nvSpPr>
        <p:spPr>
          <a:xfrm>
            <a:off x="6035040" y="3337560"/>
            <a:ext cx="2377440" cy="1143000"/>
          </a:xfrm>
          <a:prstGeom prst="rect">
            <a:avLst/>
          </a:prstGeom>
          <a:noFill/>
          <a:ln/>
        </p:spPr>
        <p:txBody>
          <a:bodyPr wrap="square" lIns="0" tIns="0" rIns="0" bIns="0" rtlCol="0" anchor="ctr"/>
          <a:lstStyle/>
          <a:p>
            <a:pPr algn="r" indent="0" marL="0">
              <a:buNone/>
            </a:pPr>
            <a:r>
              <a:rPr lang="en-US" sz="1300" dirty="0">
                <a:solidFill>
                  <a:srgbClr val="6B7280"/>
                </a:solidFill>
                <a:latin typeface="Calibri" pitchFamily="34" charset="0"/>
                <a:ea typeface="Calibri" pitchFamily="34" charset="-122"/>
                <a:cs typeface="Calibri" pitchFamily="34" charset="-120"/>
              </a:rPr>
              <a:t>réciter</a:t>
            </a:r>
            <a:endParaRPr lang="en-US" sz="1300" dirty="0"/>
          </a:p>
          <a:p>
            <a:pPr algn="r" indent="0" marL="0">
              <a:buNone/>
            </a:pPr>
            <a:r>
              <a:rPr lang="en-US" sz="1300" b="1" dirty="0">
                <a:solidFill>
                  <a:srgbClr val="6B7280"/>
                </a:solidFill>
                <a:latin typeface="Calibri" pitchFamily="34" charset="0"/>
                <a:ea typeface="Calibri" pitchFamily="34" charset="-122"/>
                <a:cs typeface="Calibri" pitchFamily="34" charset="-120"/>
              </a:rPr>
              <a:t>utiliser le cours</a:t>
            </a:r>
            <a:endParaRPr lang="en-US" sz="1300" dirty="0"/>
          </a:p>
        </p:txBody>
      </p:sp>
      <p:sp>
        <p:nvSpPr>
          <p:cNvPr id="21" name="Text 18"/>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B1 · écran 6 / 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Atelier : mes questions</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Individuel</a:t>
            </a:r>
            <a:endParaRPr lang="en-US" sz="1050" dirty="0"/>
          </a:p>
        </p:txBody>
      </p:sp>
      <p:sp>
        <p:nvSpPr>
          <p:cNvPr id="6" name="Shape 3"/>
          <p:cNvSpPr/>
          <p:nvPr/>
        </p:nvSpPr>
        <p:spPr>
          <a:xfrm>
            <a:off x="457200" y="1280160"/>
            <a:ext cx="5303520" cy="2103120"/>
          </a:xfrm>
          <a:prstGeom prst="roundRect">
            <a:avLst>
              <a:gd name="adj" fmla="val 4348"/>
            </a:avLst>
          </a:prstGeom>
          <a:solidFill>
            <a:srgbClr val="F2F2F2"/>
          </a:solidFill>
          <a:ln/>
        </p:spPr>
      </p:sp>
      <p:sp>
        <p:nvSpPr>
          <p:cNvPr id="7" name="Text 4"/>
          <p:cNvSpPr/>
          <p:nvPr/>
        </p:nvSpPr>
        <p:spPr>
          <a:xfrm>
            <a:off x="731520" y="1417320"/>
            <a:ext cx="4800600" cy="1828800"/>
          </a:xfrm>
          <a:prstGeom prst="rect">
            <a:avLst/>
          </a:prstGeom>
          <a:noFill/>
          <a:ln/>
        </p:spPr>
        <p:txBody>
          <a:bodyPr wrap="square" lIns="0" tIns="0" rIns="0" bIns="0" rtlCol="0" anchor="ctr"/>
          <a:lstStyle/>
          <a:p>
            <a:pPr algn="l" indent="0" marL="0">
              <a:buNone/>
            </a:pPr>
            <a:r>
              <a:rPr lang="en-US" sz="1600" b="1" dirty="0">
                <a:solidFill>
                  <a:srgbClr val="2B2B2B"/>
                </a:solidFill>
                <a:latin typeface="Calibri" pitchFamily="34" charset="0"/>
                <a:ea typeface="Calibri" pitchFamily="34" charset="-122"/>
                <a:cs typeface="Calibri" pitchFamily="34" charset="-120"/>
              </a:rPr>
              <a:t>8 questions minimum, 10 si possible.</a:t>
            </a:r>
            <a:endParaRPr lang="en-US" sz="1600" dirty="0"/>
          </a:p>
          <a:p>
            <a:pPr algn="l" indent="0" marL="0">
              <a:buNone/>
            </a:pPr>
            <a:r>
              <a:rPr lang="en-US" sz="1600" dirty="0">
                <a:solidFill>
                  <a:srgbClr val="2B2B2B"/>
                </a:solidFill>
                <a:latin typeface="Calibri" pitchFamily="34" charset="0"/>
                <a:ea typeface="Calibri" pitchFamily="34" charset="-122"/>
                <a:cs typeface="Calibri" pitchFamily="34" charset="-120"/>
              </a:rPr>
              <a:t>Dont au moins 2 « pourquoi / comment ».</a:t>
            </a:r>
            <a:endParaRPr lang="en-US" sz="1600" dirty="0"/>
          </a:p>
          <a:p>
            <a:pPr algn="l" indent="0" marL="0">
              <a:buNone/>
            </a:pPr>
            <a:r>
              <a:rPr lang="en-US" sz="1600" dirty="0">
                <a:solidFill>
                  <a:srgbClr val="2B2B2B"/>
                </a:solidFill>
                <a:latin typeface="Calibri" pitchFamily="34" charset="0"/>
                <a:ea typeface="Calibri" pitchFamily="34" charset="-122"/>
                <a:cs typeface="Calibri" pitchFamily="34" charset="-120"/>
              </a:rPr>
              <a:t>Vous ne connaissez pas la réponse ? Notez « à vérifier » et cherchez-la dans le cours.</a:t>
            </a:r>
            <a:endParaRPr lang="en-US" sz="1600" dirty="0"/>
          </a:p>
        </p:txBody>
      </p:sp>
      <p:sp>
        <p:nvSpPr>
          <p:cNvPr id="8" name="Shape 5"/>
          <p:cNvSpPr/>
          <p:nvPr/>
        </p:nvSpPr>
        <p:spPr>
          <a:xfrm>
            <a:off x="6126480" y="1691640"/>
            <a:ext cx="2560320" cy="1417320"/>
          </a:xfrm>
          <a:prstGeom prst="roundRect">
            <a:avLst>
              <a:gd name="adj" fmla="val 7742"/>
            </a:avLst>
          </a:prstGeom>
          <a:solidFill>
            <a:srgbClr val="F2F2F2"/>
          </a:solidFill>
          <a:ln/>
        </p:spPr>
      </p:sp>
      <p:pic>
        <p:nvPicPr>
          <p:cNvPr id="9" name="Image 1" descr="preencoded.png">    </p:cNvPr>
          <p:cNvPicPr>
            <a:picLocks noChangeAspect="1"/>
          </p:cNvPicPr>
          <p:nvPr/>
        </p:nvPicPr>
        <p:blipFill>
          <a:blip r:embed="rId2"/>
          <a:stretch>
            <a:fillRect/>
          </a:stretch>
        </p:blipFill>
        <p:spPr>
          <a:xfrm>
            <a:off x="6327648" y="2226564"/>
            <a:ext cx="347472" cy="347472"/>
          </a:xfrm>
          <a:prstGeom prst="rect">
            <a:avLst/>
          </a:prstGeom>
        </p:spPr>
      </p:pic>
      <p:sp>
        <p:nvSpPr>
          <p:cNvPr id="10" name="Text 6"/>
          <p:cNvSpPr/>
          <p:nvPr/>
        </p:nvSpPr>
        <p:spPr>
          <a:xfrm>
            <a:off x="6693408" y="1764792"/>
            <a:ext cx="1901952" cy="1033272"/>
          </a:xfrm>
          <a:prstGeom prst="rect">
            <a:avLst/>
          </a:prstGeom>
          <a:noFill/>
          <a:ln/>
        </p:spPr>
        <p:txBody>
          <a:bodyPr wrap="square" lIns="0" tIns="0" rIns="0" bIns="0" rtlCol="0" anchor="ctr"/>
          <a:lstStyle/>
          <a:p>
            <a:pPr algn="ctr" indent="0" marL="0">
              <a:buNone/>
            </a:pPr>
            <a:r>
              <a:rPr lang="en-US" sz="4000" b="1" dirty="0">
                <a:solidFill>
                  <a:srgbClr val="1F3864"/>
                </a:solidFill>
                <a:latin typeface="Calibri" pitchFamily="34" charset="0"/>
                <a:ea typeface="Calibri" pitchFamily="34" charset="-122"/>
                <a:cs typeface="Calibri" pitchFamily="34" charset="-120"/>
              </a:rPr>
              <a:t>18:00</a:t>
            </a:r>
            <a:endParaRPr lang="en-US" sz="4000" dirty="0"/>
          </a:p>
        </p:txBody>
      </p:sp>
      <p:sp>
        <p:nvSpPr>
          <p:cNvPr id="11" name="Text 7"/>
          <p:cNvSpPr/>
          <p:nvPr/>
        </p:nvSpPr>
        <p:spPr>
          <a:xfrm>
            <a:off x="6126480" y="2779776"/>
            <a:ext cx="2560320" cy="274320"/>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chrono projeté</a:t>
            </a:r>
            <a:endParaRPr lang="en-US" sz="1050" dirty="0"/>
          </a:p>
        </p:txBody>
      </p:sp>
      <p:sp>
        <p:nvSpPr>
          <p:cNvPr id="12" name="Text 8"/>
          <p:cNvSpPr/>
          <p:nvPr/>
        </p:nvSpPr>
        <p:spPr>
          <a:xfrm>
            <a:off x="457200" y="3657600"/>
            <a:ext cx="82296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En silence. Amorces disponibles en bas de votre fiche.</a:t>
            </a:r>
            <a:endParaRPr lang="en-US" sz="1300" dirty="0"/>
          </a:p>
        </p:txBody>
      </p:sp>
      <p:sp>
        <p:nvSpPr>
          <p:cNvPr id="13" name="Text 9"/>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B1 · écran 7 / 13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Interrogation croisée</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Binôme</a:t>
            </a:r>
            <a:endParaRPr lang="en-US" sz="1050" dirty="0"/>
          </a:p>
        </p:txBody>
      </p:sp>
      <p:sp>
        <p:nvSpPr>
          <p:cNvPr id="6" name="Text 3"/>
          <p:cNvSpPr/>
          <p:nvPr/>
        </p:nvSpPr>
        <p:spPr>
          <a:xfrm>
            <a:off x="457200" y="1188720"/>
            <a:ext cx="5303520" cy="411480"/>
          </a:xfrm>
          <a:prstGeom prst="rect">
            <a:avLst/>
          </a:prstGeom>
          <a:noFill/>
          <a:ln/>
        </p:spPr>
        <p:txBody>
          <a:bodyPr wrap="square" lIns="0" tIns="0" rIns="0" bIns="0" rtlCol="0" anchor="ctr"/>
          <a:lstStyle/>
          <a:p>
            <a:pPr indent="0" marL="0">
              <a:buNone/>
            </a:pPr>
            <a:r>
              <a:rPr lang="en-US" sz="2200" b="1" dirty="0">
                <a:solidFill>
                  <a:srgbClr val="C00000"/>
                </a:solidFill>
                <a:latin typeface="Calibri" pitchFamily="34" charset="0"/>
                <a:ea typeface="Calibri" pitchFamily="34" charset="-122"/>
                <a:cs typeface="Calibri" pitchFamily="34" charset="-120"/>
              </a:rPr>
              <a:t>Cahiers fermés.</a:t>
            </a:r>
            <a:endParaRPr lang="en-US" sz="2200" dirty="0"/>
          </a:p>
        </p:txBody>
      </p:sp>
      <p:sp>
        <p:nvSpPr>
          <p:cNvPr id="7" name="Shape 4"/>
          <p:cNvSpPr/>
          <p:nvPr/>
        </p:nvSpPr>
        <p:spPr>
          <a:xfrm>
            <a:off x="457200" y="1691640"/>
            <a:ext cx="5303520" cy="1051560"/>
          </a:xfrm>
          <a:prstGeom prst="roundRect">
            <a:avLst>
              <a:gd name="adj" fmla="val 8696"/>
            </a:avLst>
          </a:prstGeom>
          <a:solidFill>
            <a:srgbClr val="F2F2F2"/>
          </a:solidFill>
          <a:ln/>
        </p:spPr>
      </p:sp>
      <p:sp>
        <p:nvSpPr>
          <p:cNvPr id="8" name="Text 5"/>
          <p:cNvSpPr/>
          <p:nvPr/>
        </p:nvSpPr>
        <p:spPr>
          <a:xfrm>
            <a:off x="731520" y="1691640"/>
            <a:ext cx="4800600" cy="1051560"/>
          </a:xfrm>
          <a:prstGeom prst="rect">
            <a:avLst/>
          </a:prstGeom>
          <a:noFill/>
          <a:ln/>
        </p:spPr>
        <p:txBody>
          <a:bodyPr wrap="square" lIns="0" tIns="0" rIns="0" bIns="0" rtlCol="0" anchor="ctr"/>
          <a:lstStyle/>
          <a:p>
            <a:pPr algn="l" indent="0" marL="0">
              <a:buNone/>
            </a:pPr>
            <a:r>
              <a:rPr lang="en-US" sz="1600" dirty="0">
                <a:solidFill>
                  <a:srgbClr val="2B2B2B"/>
                </a:solidFill>
                <a:latin typeface="Calibri" pitchFamily="34" charset="0"/>
                <a:ea typeface="Calibri" pitchFamily="34" charset="-122"/>
                <a:cs typeface="Calibri" pitchFamily="34" charset="-120"/>
              </a:rPr>
              <a:t>Chacun interroge l’autre avec ses propres questions, puis on inverse.</a:t>
            </a:r>
            <a:endParaRPr lang="en-US" sz="1600" dirty="0"/>
          </a:p>
        </p:txBody>
      </p:sp>
      <p:sp>
        <p:nvSpPr>
          <p:cNvPr id="9" name="Shape 6"/>
          <p:cNvSpPr/>
          <p:nvPr/>
        </p:nvSpPr>
        <p:spPr>
          <a:xfrm>
            <a:off x="6126480" y="1554480"/>
            <a:ext cx="2560320" cy="1417320"/>
          </a:xfrm>
          <a:prstGeom prst="roundRect">
            <a:avLst>
              <a:gd name="adj" fmla="val 7742"/>
            </a:avLst>
          </a:prstGeom>
          <a:solidFill>
            <a:srgbClr val="F2F2F2"/>
          </a:solidFill>
          <a:ln/>
        </p:spPr>
      </p:sp>
      <p:pic>
        <p:nvPicPr>
          <p:cNvPr id="10" name="Image 1" descr="preencoded.png">    </p:cNvPr>
          <p:cNvPicPr>
            <a:picLocks noChangeAspect="1"/>
          </p:cNvPicPr>
          <p:nvPr/>
        </p:nvPicPr>
        <p:blipFill>
          <a:blip r:embed="rId2"/>
          <a:stretch>
            <a:fillRect/>
          </a:stretch>
        </p:blipFill>
        <p:spPr>
          <a:xfrm>
            <a:off x="6327648" y="2089404"/>
            <a:ext cx="347472" cy="347472"/>
          </a:xfrm>
          <a:prstGeom prst="rect">
            <a:avLst/>
          </a:prstGeom>
        </p:spPr>
      </p:pic>
      <p:sp>
        <p:nvSpPr>
          <p:cNvPr id="11" name="Text 7"/>
          <p:cNvSpPr/>
          <p:nvPr/>
        </p:nvSpPr>
        <p:spPr>
          <a:xfrm>
            <a:off x="6693408" y="1627632"/>
            <a:ext cx="1901952" cy="1033272"/>
          </a:xfrm>
          <a:prstGeom prst="rect">
            <a:avLst/>
          </a:prstGeom>
          <a:noFill/>
          <a:ln/>
        </p:spPr>
        <p:txBody>
          <a:bodyPr wrap="square" lIns="0" tIns="0" rIns="0" bIns="0" rtlCol="0" anchor="ctr"/>
          <a:lstStyle/>
          <a:p>
            <a:pPr algn="ctr" indent="0" marL="0">
              <a:buNone/>
            </a:pPr>
            <a:r>
              <a:rPr lang="en-US" sz="3000" b="1" dirty="0">
                <a:solidFill>
                  <a:srgbClr val="1F3864"/>
                </a:solidFill>
                <a:latin typeface="Calibri" pitchFamily="34" charset="0"/>
                <a:ea typeface="Calibri" pitchFamily="34" charset="-122"/>
                <a:cs typeface="Calibri" pitchFamily="34" charset="-120"/>
              </a:rPr>
              <a:t>2 × 4:00</a:t>
            </a:r>
            <a:endParaRPr lang="en-US" sz="3000" dirty="0"/>
          </a:p>
        </p:txBody>
      </p:sp>
      <p:sp>
        <p:nvSpPr>
          <p:cNvPr id="12" name="Text 8"/>
          <p:cNvSpPr/>
          <p:nvPr/>
        </p:nvSpPr>
        <p:spPr>
          <a:xfrm>
            <a:off x="6126480" y="2642616"/>
            <a:ext cx="2560320" cy="274320"/>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chrono projeté</a:t>
            </a:r>
            <a:endParaRPr lang="en-US" sz="1050" dirty="0"/>
          </a:p>
        </p:txBody>
      </p:sp>
      <p:sp>
        <p:nvSpPr>
          <p:cNvPr id="13" name="Shape 9"/>
          <p:cNvSpPr/>
          <p:nvPr/>
        </p:nvSpPr>
        <p:spPr>
          <a:xfrm>
            <a:off x="502920" y="2971800"/>
            <a:ext cx="457200" cy="457200"/>
          </a:xfrm>
          <a:prstGeom prst="ellipse">
            <a:avLst/>
          </a:prstGeom>
          <a:solidFill>
            <a:srgbClr val="1F3864"/>
          </a:solidFill>
          <a:ln/>
        </p:spPr>
      </p:sp>
      <p:sp>
        <p:nvSpPr>
          <p:cNvPr id="14" name="Text 10"/>
          <p:cNvSpPr/>
          <p:nvPr/>
        </p:nvSpPr>
        <p:spPr>
          <a:xfrm>
            <a:off x="502920" y="297180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S</a:t>
            </a:r>
            <a:endParaRPr lang="en-US" sz="1700" dirty="0"/>
          </a:p>
        </p:txBody>
      </p:sp>
      <p:sp>
        <p:nvSpPr>
          <p:cNvPr id="15" name="Text 11"/>
          <p:cNvSpPr/>
          <p:nvPr/>
        </p:nvSpPr>
        <p:spPr>
          <a:xfrm>
            <a:off x="1051560" y="2971800"/>
            <a:ext cx="1097280" cy="457200"/>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su</a:t>
            </a:r>
            <a:endParaRPr lang="en-US" sz="1500" dirty="0"/>
          </a:p>
        </p:txBody>
      </p:sp>
      <p:sp>
        <p:nvSpPr>
          <p:cNvPr id="16" name="Shape 12"/>
          <p:cNvSpPr/>
          <p:nvPr/>
        </p:nvSpPr>
        <p:spPr>
          <a:xfrm>
            <a:off x="2194560" y="2971800"/>
            <a:ext cx="457200" cy="457200"/>
          </a:xfrm>
          <a:prstGeom prst="ellipse">
            <a:avLst/>
          </a:prstGeom>
          <a:solidFill>
            <a:srgbClr val="2E5395"/>
          </a:solidFill>
          <a:ln/>
        </p:spPr>
      </p:sp>
      <p:sp>
        <p:nvSpPr>
          <p:cNvPr id="17" name="Text 13"/>
          <p:cNvSpPr/>
          <p:nvPr/>
        </p:nvSpPr>
        <p:spPr>
          <a:xfrm>
            <a:off x="2194560" y="297180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P</a:t>
            </a:r>
            <a:endParaRPr lang="en-US" sz="1700" dirty="0"/>
          </a:p>
        </p:txBody>
      </p:sp>
      <p:sp>
        <p:nvSpPr>
          <p:cNvPr id="18" name="Text 14"/>
          <p:cNvSpPr/>
          <p:nvPr/>
        </p:nvSpPr>
        <p:spPr>
          <a:xfrm>
            <a:off x="2743200" y="2971800"/>
            <a:ext cx="1097280" cy="457200"/>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partiel</a:t>
            </a:r>
            <a:endParaRPr lang="en-US" sz="1500" dirty="0"/>
          </a:p>
        </p:txBody>
      </p:sp>
      <p:sp>
        <p:nvSpPr>
          <p:cNvPr id="19" name="Shape 15"/>
          <p:cNvSpPr/>
          <p:nvPr/>
        </p:nvSpPr>
        <p:spPr>
          <a:xfrm>
            <a:off x="3886200" y="2971800"/>
            <a:ext cx="457200" cy="457200"/>
          </a:xfrm>
          <a:prstGeom prst="ellipse">
            <a:avLst/>
          </a:prstGeom>
          <a:solidFill>
            <a:srgbClr val="C00000"/>
          </a:solidFill>
          <a:ln/>
        </p:spPr>
      </p:sp>
      <p:sp>
        <p:nvSpPr>
          <p:cNvPr id="20" name="Text 16"/>
          <p:cNvSpPr/>
          <p:nvPr/>
        </p:nvSpPr>
        <p:spPr>
          <a:xfrm>
            <a:off x="3886200" y="297180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N</a:t>
            </a:r>
            <a:endParaRPr lang="en-US" sz="1700" dirty="0"/>
          </a:p>
        </p:txBody>
      </p:sp>
      <p:sp>
        <p:nvSpPr>
          <p:cNvPr id="21" name="Text 17"/>
          <p:cNvSpPr/>
          <p:nvPr/>
        </p:nvSpPr>
        <p:spPr>
          <a:xfrm>
            <a:off x="4434840" y="2971800"/>
            <a:ext cx="1097280" cy="457200"/>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non su</a:t>
            </a:r>
            <a:endParaRPr lang="en-US" sz="1500" dirty="0"/>
          </a:p>
        </p:txBody>
      </p:sp>
      <p:sp>
        <p:nvSpPr>
          <p:cNvPr id="22" name="Text 18"/>
          <p:cNvSpPr/>
          <p:nvPr/>
        </p:nvSpPr>
        <p:spPr>
          <a:xfrm>
            <a:off x="457200" y="3611880"/>
            <a:ext cx="8229600" cy="320040"/>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Cotez sur la fiche de l’autre. Ce n’est pas une note : c’est une information.</a:t>
            </a:r>
            <a:endParaRPr lang="en-US" sz="1500" dirty="0"/>
          </a:p>
        </p:txBody>
      </p:sp>
      <p:sp>
        <p:nvSpPr>
          <p:cNvPr id="23" name="Text 19"/>
          <p:cNvSpPr/>
          <p:nvPr/>
        </p:nvSpPr>
        <p:spPr>
          <a:xfrm>
            <a:off x="457200" y="3977640"/>
            <a:ext cx="82296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À la fin : complétez la ligne « bilan » de votre fiche.</a:t>
            </a:r>
            <a:endParaRPr lang="en-US" sz="1300" dirty="0"/>
          </a:p>
        </p:txBody>
      </p:sp>
      <p:sp>
        <p:nvSpPr>
          <p:cNvPr id="24" name="Text 20"/>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B1 · écran 8 / 13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Test — document A</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Individuel</a:t>
            </a:r>
            <a:endParaRPr lang="en-US" sz="1050" dirty="0"/>
          </a:p>
        </p:txBody>
      </p:sp>
      <p:sp>
        <p:nvSpPr>
          <p:cNvPr id="6" name="Shape 3"/>
          <p:cNvSpPr/>
          <p:nvPr/>
        </p:nvSpPr>
        <p:spPr>
          <a:xfrm>
            <a:off x="457200" y="1280160"/>
            <a:ext cx="5303520" cy="475488"/>
          </a:xfrm>
          <a:prstGeom prst="roundRect">
            <a:avLst>
              <a:gd name="adj" fmla="val 19231"/>
            </a:avLst>
          </a:prstGeom>
          <a:solidFill>
            <a:srgbClr val="DEEAF6"/>
          </a:solidFill>
          <a:ln/>
        </p:spPr>
      </p:sp>
      <p:sp>
        <p:nvSpPr>
          <p:cNvPr id="7" name="Text 4"/>
          <p:cNvSpPr/>
          <p:nvPr/>
        </p:nvSpPr>
        <p:spPr>
          <a:xfrm>
            <a:off x="685800" y="1280160"/>
            <a:ext cx="4892040" cy="475488"/>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A1.  Où vit le fossa ?</a:t>
            </a:r>
            <a:endParaRPr lang="en-US" sz="1600" dirty="0"/>
          </a:p>
        </p:txBody>
      </p:sp>
      <p:sp>
        <p:nvSpPr>
          <p:cNvPr id="8" name="Shape 5"/>
          <p:cNvSpPr/>
          <p:nvPr/>
        </p:nvSpPr>
        <p:spPr>
          <a:xfrm>
            <a:off x="457200" y="1847088"/>
            <a:ext cx="5303520" cy="475488"/>
          </a:xfrm>
          <a:prstGeom prst="roundRect">
            <a:avLst>
              <a:gd name="adj" fmla="val 19231"/>
            </a:avLst>
          </a:prstGeom>
          <a:solidFill>
            <a:srgbClr val="F2F2F2"/>
          </a:solidFill>
          <a:ln/>
        </p:spPr>
      </p:sp>
      <p:sp>
        <p:nvSpPr>
          <p:cNvPr id="9" name="Text 6"/>
          <p:cNvSpPr/>
          <p:nvPr/>
        </p:nvSpPr>
        <p:spPr>
          <a:xfrm>
            <a:off x="685800" y="1847088"/>
            <a:ext cx="4892040" cy="475488"/>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A2.  Que chasse-t-il surtout ?</a:t>
            </a:r>
            <a:endParaRPr lang="en-US" sz="1600" dirty="0"/>
          </a:p>
        </p:txBody>
      </p:sp>
      <p:sp>
        <p:nvSpPr>
          <p:cNvPr id="10" name="Shape 7"/>
          <p:cNvSpPr/>
          <p:nvPr/>
        </p:nvSpPr>
        <p:spPr>
          <a:xfrm>
            <a:off x="457200" y="2414016"/>
            <a:ext cx="5303520" cy="475488"/>
          </a:xfrm>
          <a:prstGeom prst="roundRect">
            <a:avLst>
              <a:gd name="adj" fmla="val 19231"/>
            </a:avLst>
          </a:prstGeom>
          <a:solidFill>
            <a:srgbClr val="DEEAF6"/>
          </a:solidFill>
          <a:ln/>
        </p:spPr>
      </p:sp>
      <p:sp>
        <p:nvSpPr>
          <p:cNvPr id="11" name="Text 8"/>
          <p:cNvSpPr/>
          <p:nvPr/>
        </p:nvSpPr>
        <p:spPr>
          <a:xfrm>
            <a:off x="685800" y="2414016"/>
            <a:ext cx="4892040" cy="475488"/>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A3.  Grâce à quoi grimpe-t-il aux arbres ?</a:t>
            </a:r>
            <a:endParaRPr lang="en-US" sz="1600" dirty="0"/>
          </a:p>
        </p:txBody>
      </p:sp>
      <p:sp>
        <p:nvSpPr>
          <p:cNvPr id="12" name="Shape 9"/>
          <p:cNvSpPr/>
          <p:nvPr/>
        </p:nvSpPr>
        <p:spPr>
          <a:xfrm>
            <a:off x="457200" y="2980944"/>
            <a:ext cx="5303520" cy="475488"/>
          </a:xfrm>
          <a:prstGeom prst="roundRect">
            <a:avLst>
              <a:gd name="adj" fmla="val 19231"/>
            </a:avLst>
          </a:prstGeom>
          <a:solidFill>
            <a:srgbClr val="F2F2F2"/>
          </a:solidFill>
          <a:ln/>
        </p:spPr>
      </p:sp>
      <p:sp>
        <p:nvSpPr>
          <p:cNvPr id="13" name="Text 10"/>
          <p:cNvSpPr/>
          <p:nvPr/>
        </p:nvSpPr>
        <p:spPr>
          <a:xfrm>
            <a:off x="685800" y="2980944"/>
            <a:ext cx="4892040" cy="475488"/>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A4.  Combien de petits par portée ?</a:t>
            </a:r>
            <a:endParaRPr lang="en-US" sz="1600" dirty="0"/>
          </a:p>
        </p:txBody>
      </p:sp>
      <p:sp>
        <p:nvSpPr>
          <p:cNvPr id="14" name="Shape 11"/>
          <p:cNvSpPr/>
          <p:nvPr/>
        </p:nvSpPr>
        <p:spPr>
          <a:xfrm>
            <a:off x="6126480" y="1828800"/>
            <a:ext cx="2560320" cy="1417320"/>
          </a:xfrm>
          <a:prstGeom prst="roundRect">
            <a:avLst>
              <a:gd name="adj" fmla="val 7742"/>
            </a:avLst>
          </a:prstGeom>
          <a:solidFill>
            <a:srgbClr val="F2F2F2"/>
          </a:solidFill>
          <a:ln/>
        </p:spPr>
      </p:sp>
      <p:pic>
        <p:nvPicPr>
          <p:cNvPr id="15" name="Image 1" descr="preencoded.png">    </p:cNvPr>
          <p:cNvPicPr>
            <a:picLocks noChangeAspect="1"/>
          </p:cNvPicPr>
          <p:nvPr/>
        </p:nvPicPr>
        <p:blipFill>
          <a:blip r:embed="rId2"/>
          <a:stretch>
            <a:fillRect/>
          </a:stretch>
        </p:blipFill>
        <p:spPr>
          <a:xfrm>
            <a:off x="6327648" y="2363724"/>
            <a:ext cx="347472" cy="347472"/>
          </a:xfrm>
          <a:prstGeom prst="rect">
            <a:avLst/>
          </a:prstGeom>
        </p:spPr>
      </p:pic>
      <p:sp>
        <p:nvSpPr>
          <p:cNvPr id="16" name="Text 12"/>
          <p:cNvSpPr/>
          <p:nvPr/>
        </p:nvSpPr>
        <p:spPr>
          <a:xfrm>
            <a:off x="6693408" y="1901952"/>
            <a:ext cx="1901952" cy="1033272"/>
          </a:xfrm>
          <a:prstGeom prst="rect">
            <a:avLst/>
          </a:prstGeom>
          <a:noFill/>
          <a:ln/>
        </p:spPr>
        <p:txBody>
          <a:bodyPr wrap="square" lIns="0" tIns="0" rIns="0" bIns="0" rtlCol="0" anchor="ctr"/>
          <a:lstStyle/>
          <a:p>
            <a:pPr algn="ctr" indent="0" marL="0">
              <a:buNone/>
            </a:pPr>
            <a:r>
              <a:rPr lang="en-US" sz="4000" b="1" dirty="0">
                <a:solidFill>
                  <a:srgbClr val="1F3864"/>
                </a:solidFill>
                <a:latin typeface="Calibri" pitchFamily="34" charset="0"/>
                <a:ea typeface="Calibri" pitchFamily="34" charset="-122"/>
                <a:cs typeface="Calibri" pitchFamily="34" charset="-120"/>
              </a:rPr>
              <a:t>3:00</a:t>
            </a:r>
            <a:endParaRPr lang="en-US" sz="4000" dirty="0"/>
          </a:p>
        </p:txBody>
      </p:sp>
      <p:sp>
        <p:nvSpPr>
          <p:cNvPr id="17" name="Text 13"/>
          <p:cNvSpPr/>
          <p:nvPr/>
        </p:nvSpPr>
        <p:spPr>
          <a:xfrm>
            <a:off x="6126480" y="2916936"/>
            <a:ext cx="2560320" cy="274320"/>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pour A et B</a:t>
            </a:r>
            <a:endParaRPr lang="en-US" sz="1050" dirty="0"/>
          </a:p>
        </p:txBody>
      </p:sp>
      <p:sp>
        <p:nvSpPr>
          <p:cNvPr id="18" name="Text 14"/>
          <p:cNvSpPr/>
          <p:nvPr/>
        </p:nvSpPr>
        <p:spPr>
          <a:xfrm>
            <a:off x="457200" y="3749040"/>
            <a:ext cx="82296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Sans regarder les pages 1 et 2. Feuille d’expérience, page 3.</a:t>
            </a:r>
            <a:endParaRPr lang="en-US" sz="1300" dirty="0"/>
          </a:p>
        </p:txBody>
      </p:sp>
      <p:sp>
        <p:nvSpPr>
          <p:cNvPr id="19" name="Text 15"/>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B1 · écran 9 / 13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Test — document B</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Individuel</a:t>
            </a:r>
            <a:endParaRPr lang="en-US" sz="1050" dirty="0"/>
          </a:p>
        </p:txBody>
      </p:sp>
      <p:sp>
        <p:nvSpPr>
          <p:cNvPr id="6" name="Shape 3"/>
          <p:cNvSpPr/>
          <p:nvPr/>
        </p:nvSpPr>
        <p:spPr>
          <a:xfrm>
            <a:off x="457200" y="1280160"/>
            <a:ext cx="8229600" cy="475488"/>
          </a:xfrm>
          <a:prstGeom prst="roundRect">
            <a:avLst>
              <a:gd name="adj" fmla="val 19231"/>
            </a:avLst>
          </a:prstGeom>
          <a:solidFill>
            <a:srgbClr val="DEEAF6"/>
          </a:solidFill>
          <a:ln/>
        </p:spPr>
      </p:sp>
      <p:sp>
        <p:nvSpPr>
          <p:cNvPr id="7" name="Text 4"/>
          <p:cNvSpPr/>
          <p:nvPr/>
        </p:nvSpPr>
        <p:spPr>
          <a:xfrm>
            <a:off x="685800" y="1280160"/>
            <a:ext cx="7772400" cy="475488"/>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B1.  Où vit l’okapi ?</a:t>
            </a:r>
            <a:endParaRPr lang="en-US" sz="1600" dirty="0"/>
          </a:p>
        </p:txBody>
      </p:sp>
      <p:sp>
        <p:nvSpPr>
          <p:cNvPr id="8" name="Shape 5"/>
          <p:cNvSpPr/>
          <p:nvPr/>
        </p:nvSpPr>
        <p:spPr>
          <a:xfrm>
            <a:off x="457200" y="1847088"/>
            <a:ext cx="8229600" cy="475488"/>
          </a:xfrm>
          <a:prstGeom prst="roundRect">
            <a:avLst>
              <a:gd name="adj" fmla="val 19231"/>
            </a:avLst>
          </a:prstGeom>
          <a:solidFill>
            <a:srgbClr val="F2F2F2"/>
          </a:solidFill>
          <a:ln/>
        </p:spPr>
      </p:sp>
      <p:sp>
        <p:nvSpPr>
          <p:cNvPr id="9" name="Text 6"/>
          <p:cNvSpPr/>
          <p:nvPr/>
        </p:nvSpPr>
        <p:spPr>
          <a:xfrm>
            <a:off x="685800" y="1847088"/>
            <a:ext cx="7772400" cy="475488"/>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B2.  De quoi se nourrit-il surtout ?</a:t>
            </a:r>
            <a:endParaRPr lang="en-US" sz="1600" dirty="0"/>
          </a:p>
        </p:txBody>
      </p:sp>
      <p:sp>
        <p:nvSpPr>
          <p:cNvPr id="10" name="Shape 7"/>
          <p:cNvSpPr/>
          <p:nvPr/>
        </p:nvSpPr>
        <p:spPr>
          <a:xfrm>
            <a:off x="457200" y="2414016"/>
            <a:ext cx="8229600" cy="475488"/>
          </a:xfrm>
          <a:prstGeom prst="roundRect">
            <a:avLst>
              <a:gd name="adj" fmla="val 19231"/>
            </a:avLst>
          </a:prstGeom>
          <a:solidFill>
            <a:srgbClr val="DEEAF6"/>
          </a:solidFill>
          <a:ln/>
        </p:spPr>
      </p:sp>
      <p:sp>
        <p:nvSpPr>
          <p:cNvPr id="11" name="Text 8"/>
          <p:cNvSpPr/>
          <p:nvPr/>
        </p:nvSpPr>
        <p:spPr>
          <a:xfrm>
            <a:off x="685800" y="2414016"/>
            <a:ext cx="7772400" cy="475488"/>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B3.  Grâce à quoi attrape-t-il les feuilles ?</a:t>
            </a:r>
            <a:endParaRPr lang="en-US" sz="1600" dirty="0"/>
          </a:p>
        </p:txBody>
      </p:sp>
      <p:sp>
        <p:nvSpPr>
          <p:cNvPr id="12" name="Shape 9"/>
          <p:cNvSpPr/>
          <p:nvPr/>
        </p:nvSpPr>
        <p:spPr>
          <a:xfrm>
            <a:off x="457200" y="2980944"/>
            <a:ext cx="8229600" cy="475488"/>
          </a:xfrm>
          <a:prstGeom prst="roundRect">
            <a:avLst>
              <a:gd name="adj" fmla="val 19231"/>
            </a:avLst>
          </a:prstGeom>
          <a:solidFill>
            <a:srgbClr val="F2F2F2"/>
          </a:solidFill>
          <a:ln/>
        </p:spPr>
      </p:sp>
      <p:sp>
        <p:nvSpPr>
          <p:cNvPr id="13" name="Text 10"/>
          <p:cNvSpPr/>
          <p:nvPr/>
        </p:nvSpPr>
        <p:spPr>
          <a:xfrm>
            <a:off x="685800" y="2980944"/>
            <a:ext cx="7772400" cy="475488"/>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B4.  Combien de petits par portée ?</a:t>
            </a:r>
            <a:endParaRPr lang="en-US" sz="1600" dirty="0"/>
          </a:p>
        </p:txBody>
      </p:sp>
      <p:sp>
        <p:nvSpPr>
          <p:cNvPr id="14" name="Text 11"/>
          <p:cNvSpPr/>
          <p:nvPr/>
        </p:nvSpPr>
        <p:spPr>
          <a:xfrm>
            <a:off x="457200" y="3749040"/>
            <a:ext cx="82296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Le chrono de 3 minutes couvre les huit questions.</a:t>
            </a:r>
            <a:endParaRPr lang="en-US" sz="1300" dirty="0"/>
          </a:p>
        </p:txBody>
      </p:sp>
      <p:sp>
        <p:nvSpPr>
          <p:cNvPr id="15" name="Text 12"/>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B1 · écran 10 / 13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Corrigé et scores</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Classe entière</a:t>
            </a:r>
            <a:endParaRPr lang="en-US" sz="1050" dirty="0"/>
          </a:p>
        </p:txBody>
      </p:sp>
      <p:sp>
        <p:nvSpPr>
          <p:cNvPr id="6" name="Shape 3"/>
          <p:cNvSpPr/>
          <p:nvPr/>
        </p:nvSpPr>
        <p:spPr>
          <a:xfrm>
            <a:off x="457200" y="1188720"/>
            <a:ext cx="4023360" cy="2148840"/>
          </a:xfrm>
          <a:prstGeom prst="roundRect">
            <a:avLst>
              <a:gd name="adj" fmla="val 4255"/>
            </a:avLst>
          </a:prstGeom>
          <a:solidFill>
            <a:srgbClr val="F2F2F2"/>
          </a:solidFill>
          <a:ln/>
        </p:spPr>
      </p:sp>
      <p:sp>
        <p:nvSpPr>
          <p:cNvPr id="7" name="Text 4"/>
          <p:cNvSpPr/>
          <p:nvPr/>
        </p:nvSpPr>
        <p:spPr>
          <a:xfrm>
            <a:off x="685800" y="1280160"/>
            <a:ext cx="3566160" cy="274320"/>
          </a:xfrm>
          <a:prstGeom prst="rect">
            <a:avLst/>
          </a:prstGeom>
          <a:noFill/>
          <a:ln/>
        </p:spPr>
        <p:txBody>
          <a:bodyPr wrap="square" lIns="0" tIns="0" rIns="0" bIns="0" rtlCol="0" anchor="ctr"/>
          <a:lstStyle/>
          <a:p>
            <a:pPr indent="0" marL="0">
              <a:buNone/>
            </a:pPr>
            <a:r>
              <a:rPr lang="en-US" sz="1300" b="1" dirty="0">
                <a:solidFill>
                  <a:srgbClr val="6B7280"/>
                </a:solidFill>
                <a:latin typeface="Calibri" pitchFamily="34" charset="0"/>
                <a:ea typeface="Calibri" pitchFamily="34" charset="-122"/>
                <a:cs typeface="Calibri" pitchFamily="34" charset="-120"/>
              </a:rPr>
              <a:t>Document A — le fossa</a:t>
            </a:r>
            <a:endParaRPr lang="en-US" sz="1300" dirty="0"/>
          </a:p>
        </p:txBody>
      </p:sp>
      <p:sp>
        <p:nvSpPr>
          <p:cNvPr id="8" name="Text 5"/>
          <p:cNvSpPr/>
          <p:nvPr/>
        </p:nvSpPr>
        <p:spPr>
          <a:xfrm>
            <a:off x="685800" y="1600200"/>
            <a:ext cx="3566160" cy="1645920"/>
          </a:xfrm>
          <a:prstGeom prst="rect">
            <a:avLst/>
          </a:prstGeom>
          <a:noFill/>
          <a:ln/>
        </p:spPr>
        <p:txBody>
          <a:bodyPr wrap="square" lIns="0" tIns="0" rIns="0" bIns="0" rtlCol="0" anchor="t"/>
          <a:lstStyle/>
          <a:p>
            <a:pPr algn="l" indent="0" marL="0">
              <a:buNone/>
            </a:pPr>
            <a:r>
              <a:rPr lang="en-US" sz="1600" dirty="0">
                <a:solidFill>
                  <a:srgbClr val="2B2B2B"/>
                </a:solidFill>
                <a:latin typeface="Calibri" pitchFamily="34" charset="0"/>
                <a:ea typeface="Calibri" pitchFamily="34" charset="-122"/>
                <a:cs typeface="Calibri" pitchFamily="34" charset="-120"/>
              </a:rPr>
              <a:t>Madagascar</a:t>
            </a:r>
            <a:endParaRPr lang="en-US" sz="1600" dirty="0"/>
          </a:p>
          <a:p>
            <a:pPr algn="l" indent="0" marL="0">
              <a:buNone/>
            </a:pPr>
            <a:r>
              <a:rPr lang="en-US" sz="1600" dirty="0">
                <a:solidFill>
                  <a:srgbClr val="2B2B2B"/>
                </a:solidFill>
                <a:latin typeface="Calibri" pitchFamily="34" charset="0"/>
                <a:ea typeface="Calibri" pitchFamily="34" charset="-122"/>
                <a:cs typeface="Calibri" pitchFamily="34" charset="-120"/>
              </a:rPr>
              <a:t>des lémuriens</a:t>
            </a:r>
            <a:endParaRPr lang="en-US" sz="1600" dirty="0"/>
          </a:p>
          <a:p>
            <a:pPr algn="l" indent="0" marL="0">
              <a:buNone/>
            </a:pPr>
            <a:r>
              <a:rPr lang="en-US" sz="1600" dirty="0">
                <a:solidFill>
                  <a:srgbClr val="2B2B2B"/>
                </a:solidFill>
                <a:latin typeface="Calibri" pitchFamily="34" charset="0"/>
                <a:ea typeface="Calibri" pitchFamily="34" charset="-122"/>
                <a:cs typeface="Calibri" pitchFamily="34" charset="-120"/>
              </a:rPr>
              <a:t>ses chevilles qui pivotent</a:t>
            </a:r>
            <a:endParaRPr lang="en-US" sz="1600" dirty="0"/>
          </a:p>
          <a:p>
            <a:pPr algn="l" indent="0" marL="0">
              <a:buNone/>
            </a:pPr>
            <a:r>
              <a:rPr lang="en-US" sz="1600" dirty="0">
                <a:solidFill>
                  <a:srgbClr val="2B2B2B"/>
                </a:solidFill>
                <a:latin typeface="Calibri" pitchFamily="34" charset="0"/>
                <a:ea typeface="Calibri" pitchFamily="34" charset="-122"/>
                <a:cs typeface="Calibri" pitchFamily="34" charset="-120"/>
              </a:rPr>
              <a:t>2 à 4 petits</a:t>
            </a:r>
            <a:endParaRPr lang="en-US" sz="1600" dirty="0"/>
          </a:p>
        </p:txBody>
      </p:sp>
      <p:sp>
        <p:nvSpPr>
          <p:cNvPr id="9" name="Shape 6"/>
          <p:cNvSpPr/>
          <p:nvPr/>
        </p:nvSpPr>
        <p:spPr>
          <a:xfrm>
            <a:off x="4663440" y="1188720"/>
            <a:ext cx="4023360" cy="2148840"/>
          </a:xfrm>
          <a:prstGeom prst="roundRect">
            <a:avLst>
              <a:gd name="adj" fmla="val 4255"/>
            </a:avLst>
          </a:prstGeom>
          <a:solidFill>
            <a:srgbClr val="DEEAF6"/>
          </a:solidFill>
          <a:ln/>
        </p:spPr>
      </p:sp>
      <p:sp>
        <p:nvSpPr>
          <p:cNvPr id="10" name="Text 7"/>
          <p:cNvSpPr/>
          <p:nvPr/>
        </p:nvSpPr>
        <p:spPr>
          <a:xfrm>
            <a:off x="4892040" y="1280160"/>
            <a:ext cx="3566160" cy="274320"/>
          </a:xfrm>
          <a:prstGeom prst="rect">
            <a:avLst/>
          </a:prstGeom>
          <a:noFill/>
          <a:ln/>
        </p:spPr>
        <p:txBody>
          <a:bodyPr wrap="square" lIns="0" tIns="0" rIns="0" bIns="0" rtlCol="0" anchor="ctr"/>
          <a:lstStyle/>
          <a:p>
            <a:pPr indent="0" marL="0">
              <a:buNone/>
            </a:pPr>
            <a:r>
              <a:rPr lang="en-US" sz="1300" b="1" dirty="0">
                <a:solidFill>
                  <a:srgbClr val="6B7280"/>
                </a:solidFill>
                <a:latin typeface="Calibri" pitchFamily="34" charset="0"/>
                <a:ea typeface="Calibri" pitchFamily="34" charset="-122"/>
                <a:cs typeface="Calibri" pitchFamily="34" charset="-120"/>
              </a:rPr>
              <a:t>Document B — l’okapi</a:t>
            </a:r>
            <a:endParaRPr lang="en-US" sz="1300" dirty="0"/>
          </a:p>
        </p:txBody>
      </p:sp>
      <p:sp>
        <p:nvSpPr>
          <p:cNvPr id="11" name="Text 8"/>
          <p:cNvSpPr/>
          <p:nvPr/>
        </p:nvSpPr>
        <p:spPr>
          <a:xfrm>
            <a:off x="4892040" y="1600200"/>
            <a:ext cx="3566160" cy="1645920"/>
          </a:xfrm>
          <a:prstGeom prst="rect">
            <a:avLst/>
          </a:prstGeom>
          <a:noFill/>
          <a:ln/>
        </p:spPr>
        <p:txBody>
          <a:bodyPr wrap="square" lIns="0" tIns="0" rIns="0" bIns="0" rtlCol="0" anchor="t"/>
          <a:lstStyle/>
          <a:p>
            <a:pPr algn="l" indent="0" marL="0">
              <a:buNone/>
            </a:pPr>
            <a:r>
              <a:rPr lang="en-US" sz="1600" dirty="0">
                <a:solidFill>
                  <a:srgbClr val="2B2B2B"/>
                </a:solidFill>
                <a:latin typeface="Calibri" pitchFamily="34" charset="0"/>
                <a:ea typeface="Calibri" pitchFamily="34" charset="-122"/>
                <a:cs typeface="Calibri" pitchFamily="34" charset="-120"/>
              </a:rPr>
              <a:t>République démocratique du Congo</a:t>
            </a:r>
            <a:endParaRPr lang="en-US" sz="1600" dirty="0"/>
          </a:p>
          <a:p>
            <a:pPr algn="l" indent="0" marL="0">
              <a:buNone/>
            </a:pPr>
            <a:r>
              <a:rPr lang="en-US" sz="1600" dirty="0">
                <a:solidFill>
                  <a:srgbClr val="2B2B2B"/>
                </a:solidFill>
                <a:latin typeface="Calibri" pitchFamily="34" charset="0"/>
                <a:ea typeface="Calibri" pitchFamily="34" charset="-122"/>
                <a:cs typeface="Calibri" pitchFamily="34" charset="-120"/>
              </a:rPr>
              <a:t>des feuilles</a:t>
            </a:r>
            <a:endParaRPr lang="en-US" sz="1600" dirty="0"/>
          </a:p>
          <a:p>
            <a:pPr algn="l" indent="0" marL="0">
              <a:buNone/>
            </a:pPr>
            <a:r>
              <a:rPr lang="en-US" sz="1600" dirty="0">
                <a:solidFill>
                  <a:srgbClr val="2B2B2B"/>
                </a:solidFill>
                <a:latin typeface="Calibri" pitchFamily="34" charset="0"/>
                <a:ea typeface="Calibri" pitchFamily="34" charset="-122"/>
                <a:cs typeface="Calibri" pitchFamily="34" charset="-120"/>
              </a:rPr>
              <a:t>sa langue d’environ 30 cm</a:t>
            </a:r>
            <a:endParaRPr lang="en-US" sz="1600" dirty="0"/>
          </a:p>
          <a:p>
            <a:pPr algn="l" indent="0" marL="0">
              <a:buNone/>
            </a:pPr>
            <a:r>
              <a:rPr lang="en-US" sz="1600" dirty="0">
                <a:solidFill>
                  <a:srgbClr val="2B2B2B"/>
                </a:solidFill>
                <a:latin typeface="Calibri" pitchFamily="34" charset="0"/>
                <a:ea typeface="Calibri" pitchFamily="34" charset="-122"/>
                <a:cs typeface="Calibri" pitchFamily="34" charset="-120"/>
              </a:rPr>
              <a:t>un seul petit</a:t>
            </a:r>
            <a:endParaRPr lang="en-US" sz="1600" dirty="0"/>
          </a:p>
        </p:txBody>
      </p:sp>
      <p:sp>
        <p:nvSpPr>
          <p:cNvPr id="12" name="Text 9"/>
          <p:cNvSpPr/>
          <p:nvPr/>
        </p:nvSpPr>
        <p:spPr>
          <a:xfrm>
            <a:off x="457200" y="3520440"/>
            <a:ext cx="8229600" cy="365760"/>
          </a:xfrm>
          <a:prstGeom prst="rect">
            <a:avLst/>
          </a:prstGeom>
          <a:noFill/>
          <a:ln/>
        </p:spPr>
        <p:txBody>
          <a:bodyPr wrap="square" lIns="0" tIns="0" rIns="0" bIns="0" rtlCol="0" anchor="ctr"/>
          <a:lstStyle/>
          <a:p>
            <a:pPr indent="0" marL="0">
              <a:buNone/>
            </a:pPr>
            <a:r>
              <a:rPr lang="en-US" sz="1900" b="1" dirty="0">
                <a:solidFill>
                  <a:srgbClr val="1F3864"/>
                </a:solidFill>
                <a:latin typeface="Calibri" pitchFamily="34" charset="0"/>
                <a:ea typeface="Calibri" pitchFamily="34" charset="-122"/>
                <a:cs typeface="Calibri" pitchFamily="34" charset="-120"/>
              </a:rPr>
              <a:t>Comptez vos points : … / 4 sur A  ·  … / 4 sur B</a:t>
            </a:r>
            <a:endParaRPr lang="en-US" sz="1900" dirty="0"/>
          </a:p>
        </p:txBody>
      </p:sp>
      <p:sp>
        <p:nvSpPr>
          <p:cNvPr id="13" name="Text 10"/>
          <p:cNvSpPr/>
          <p:nvPr/>
        </p:nvSpPr>
        <p:spPr>
          <a:xfrm>
            <a:off x="457200" y="3931920"/>
            <a:ext cx="8229600" cy="320040"/>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Mains levées : qui a 3 ou 4 bonnes réponses sur A ? sur B ?</a:t>
            </a:r>
            <a:endParaRPr lang="en-US" sz="1500" dirty="0"/>
          </a:p>
        </p:txBody>
      </p:sp>
      <p:sp>
        <p:nvSpPr>
          <p:cNvPr id="14" name="Text 11"/>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B1 · écran 11 / 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74320"/>
            <a:ext cx="7223760" cy="685800"/>
          </a:xfrm>
          <a:prstGeom prst="rect">
            <a:avLst/>
          </a:prstGeom>
          <a:noFill/>
          <a:ln/>
        </p:spPr>
        <p:txBody>
          <a:bodyPr wrap="square" lIns="0" tIns="0" rIns="0" bIns="0" rtlCol="0" anchor="ctr"/>
          <a:lstStyle/>
          <a:p>
            <a:pPr indent="0" marL="0">
              <a:buNone/>
            </a:pPr>
            <a:r>
              <a:rPr lang="en-US" sz="2800" b="1" dirty="0">
                <a:solidFill>
                  <a:srgbClr val="1F3864"/>
                </a:solidFill>
                <a:latin typeface="Calibri" pitchFamily="34" charset="0"/>
                <a:ea typeface="Calibri" pitchFamily="34" charset="-122"/>
                <a:cs typeface="Calibri" pitchFamily="34" charset="-120"/>
              </a:rPr>
              <a:t>Ce que montrent vos chiffres</a:t>
            </a:r>
            <a:endParaRPr lang="en-US" sz="2800" dirty="0"/>
          </a:p>
        </p:txBody>
      </p:sp>
      <p:sp>
        <p:nvSpPr>
          <p:cNvPr id="3" name="Shape 1"/>
          <p:cNvSpPr/>
          <p:nvPr/>
        </p:nvSpPr>
        <p:spPr>
          <a:xfrm>
            <a:off x="8092440" y="292608"/>
            <a:ext cx="566928" cy="566928"/>
          </a:xfrm>
          <a:prstGeom prst="ellipse">
            <a:avLst/>
          </a:prstGeom>
          <a:solidFill>
            <a:srgbClr val="1F3864"/>
          </a:solidFill>
          <a:ln/>
        </p:spPr>
      </p:sp>
      <p:pic>
        <p:nvPicPr>
          <p:cNvPr id="4" name="Image 0" descr="preencoded.png">    </p:cNvPr>
          <p:cNvPicPr>
            <a:picLocks noChangeAspect="1"/>
          </p:cNvPicPr>
          <p:nvPr/>
        </p:nvPicPr>
        <p:blipFill>
          <a:blip r:embed="rId1"/>
          <a:stretch>
            <a:fillRect/>
          </a:stretch>
        </p:blipFill>
        <p:spPr>
          <a:xfrm>
            <a:off x="8229600" y="429768"/>
            <a:ext cx="292608" cy="292608"/>
          </a:xfrm>
          <a:prstGeom prst="rect">
            <a:avLst/>
          </a:prstGeom>
        </p:spPr>
      </p:pic>
      <p:sp>
        <p:nvSpPr>
          <p:cNvPr id="5" name="Text 2"/>
          <p:cNvSpPr/>
          <p:nvPr/>
        </p:nvSpPr>
        <p:spPr>
          <a:xfrm>
            <a:off x="7635240" y="896112"/>
            <a:ext cx="1481328" cy="256032"/>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Classe entière</a:t>
            </a:r>
            <a:endParaRPr lang="en-US" sz="1050" dirty="0"/>
          </a:p>
        </p:txBody>
      </p:sp>
      <p:sp>
        <p:nvSpPr>
          <p:cNvPr id="6" name="Shape 3"/>
          <p:cNvSpPr/>
          <p:nvPr/>
        </p:nvSpPr>
        <p:spPr>
          <a:xfrm>
            <a:off x="457200" y="1234440"/>
            <a:ext cx="8229600" cy="1097280"/>
          </a:xfrm>
          <a:prstGeom prst="roundRect">
            <a:avLst>
              <a:gd name="adj" fmla="val 8333"/>
            </a:avLst>
          </a:prstGeom>
          <a:solidFill>
            <a:srgbClr val="DEEAF6"/>
          </a:solidFill>
          <a:ln/>
        </p:spPr>
      </p:sp>
      <p:sp>
        <p:nvSpPr>
          <p:cNvPr id="7" name="Text 4"/>
          <p:cNvSpPr/>
          <p:nvPr/>
        </p:nvSpPr>
        <p:spPr>
          <a:xfrm>
            <a:off x="777240" y="1234440"/>
            <a:ext cx="6035040" cy="1097280"/>
          </a:xfrm>
          <a:prstGeom prst="rect">
            <a:avLst/>
          </a:prstGeom>
          <a:noFill/>
          <a:ln/>
        </p:spPr>
        <p:txBody>
          <a:bodyPr wrap="square" lIns="0" tIns="0" rIns="0" bIns="0" rtlCol="0" anchor="ctr"/>
          <a:lstStyle/>
          <a:p>
            <a:pPr algn="l" indent="0" marL="0">
              <a:buNone/>
            </a:pPr>
            <a:r>
              <a:rPr lang="en-US" sz="1800" b="1" dirty="0">
                <a:solidFill>
                  <a:srgbClr val="2B2B2B"/>
                </a:solidFill>
                <a:latin typeface="Calibri" pitchFamily="34" charset="0"/>
                <a:ea typeface="Calibri" pitchFamily="34" charset="-122"/>
                <a:cs typeface="Calibri" pitchFamily="34" charset="-120"/>
              </a:rPr>
              <a:t>À temps égal, chercher dans sa mémoire fait mieux retenir que relire.</a:t>
            </a:r>
            <a:endParaRPr lang="en-US" sz="1800" dirty="0"/>
          </a:p>
        </p:txBody>
      </p:sp>
      <p:sp>
        <p:nvSpPr>
          <p:cNvPr id="8" name="Text 5"/>
          <p:cNvSpPr/>
          <p:nvPr/>
        </p:nvSpPr>
        <p:spPr>
          <a:xfrm>
            <a:off x="6766560" y="1234440"/>
            <a:ext cx="1600200" cy="1097280"/>
          </a:xfrm>
          <a:prstGeom prst="rect">
            <a:avLst/>
          </a:prstGeom>
          <a:noFill/>
          <a:ln/>
        </p:spPr>
        <p:txBody>
          <a:bodyPr wrap="square" lIns="0" tIns="0" rIns="0" bIns="0" rtlCol="0" anchor="ctr"/>
          <a:lstStyle/>
          <a:p>
            <a:pPr algn="r" indent="0" marL="0">
              <a:buNone/>
            </a:pPr>
            <a:r>
              <a:rPr lang="en-US" sz="1300" i="1" dirty="0">
                <a:solidFill>
                  <a:srgbClr val="6B7280"/>
                </a:solidFill>
                <a:latin typeface="Calibri" pitchFamily="34" charset="0"/>
                <a:ea typeface="Calibri" pitchFamily="34" charset="-122"/>
                <a:cs typeface="Calibri" pitchFamily="34" charset="-120"/>
              </a:rPr>
              <a:t>testing effect</a:t>
            </a:r>
            <a:endParaRPr lang="en-US" sz="1300" dirty="0"/>
          </a:p>
        </p:txBody>
      </p:sp>
      <p:sp>
        <p:nvSpPr>
          <p:cNvPr id="9" name="Shape 6"/>
          <p:cNvSpPr/>
          <p:nvPr/>
        </p:nvSpPr>
        <p:spPr>
          <a:xfrm>
            <a:off x="457200" y="2514600"/>
            <a:ext cx="8229600" cy="1097280"/>
          </a:xfrm>
          <a:prstGeom prst="roundRect">
            <a:avLst>
              <a:gd name="adj" fmla="val 8333"/>
            </a:avLst>
          </a:prstGeom>
          <a:solidFill>
            <a:srgbClr val="F2F2F2"/>
          </a:solidFill>
          <a:ln/>
        </p:spPr>
      </p:sp>
      <p:sp>
        <p:nvSpPr>
          <p:cNvPr id="10" name="Text 7"/>
          <p:cNvSpPr/>
          <p:nvPr/>
        </p:nvSpPr>
        <p:spPr>
          <a:xfrm>
            <a:off x="777240" y="2514600"/>
            <a:ext cx="6035040" cy="1097280"/>
          </a:xfrm>
          <a:prstGeom prst="rect">
            <a:avLst/>
          </a:prstGeom>
          <a:noFill/>
          <a:ln/>
        </p:spPr>
        <p:txBody>
          <a:bodyPr wrap="square" lIns="0" tIns="0" rIns="0" bIns="0" rtlCol="0" anchor="ctr"/>
          <a:lstStyle/>
          <a:p>
            <a:pPr algn="l" indent="0" marL="0">
              <a:buNone/>
            </a:pPr>
            <a:r>
              <a:rPr lang="en-US" sz="1800" dirty="0">
                <a:solidFill>
                  <a:srgbClr val="2B2B2B"/>
                </a:solidFill>
                <a:latin typeface="Calibri" pitchFamily="34" charset="0"/>
                <a:ea typeface="Calibri" pitchFamily="34" charset="-122"/>
                <a:cs typeface="Calibri" pitchFamily="34" charset="-120"/>
              </a:rPr>
              <a:t>Relire semble facile : la familiarité du texte se fait passer pour du savoir.</a:t>
            </a:r>
            <a:endParaRPr lang="en-US" sz="1800" dirty="0"/>
          </a:p>
        </p:txBody>
      </p:sp>
      <p:sp>
        <p:nvSpPr>
          <p:cNvPr id="11" name="Text 8"/>
          <p:cNvSpPr/>
          <p:nvPr/>
        </p:nvSpPr>
        <p:spPr>
          <a:xfrm>
            <a:off x="6766560" y="2514600"/>
            <a:ext cx="1600200" cy="1097280"/>
          </a:xfrm>
          <a:prstGeom prst="rect">
            <a:avLst/>
          </a:prstGeom>
          <a:noFill/>
          <a:ln/>
        </p:spPr>
        <p:txBody>
          <a:bodyPr wrap="square" lIns="0" tIns="0" rIns="0" bIns="0" rtlCol="0" anchor="ctr"/>
          <a:lstStyle/>
          <a:p>
            <a:pPr algn="r" indent="0" marL="0">
              <a:buNone/>
            </a:pPr>
            <a:r>
              <a:rPr lang="en-US" sz="1300" i="1" dirty="0">
                <a:solidFill>
                  <a:srgbClr val="6B7280"/>
                </a:solidFill>
                <a:latin typeface="Calibri" pitchFamily="34" charset="0"/>
                <a:ea typeface="Calibri" pitchFamily="34" charset="-122"/>
                <a:cs typeface="Calibri" pitchFamily="34" charset="-120"/>
              </a:rPr>
              <a:t>illusion de savoir</a:t>
            </a:r>
            <a:endParaRPr lang="en-US" sz="1300" dirty="0"/>
          </a:p>
        </p:txBody>
      </p:sp>
      <p:sp>
        <p:nvSpPr>
          <p:cNvPr id="12" name="Text 9"/>
          <p:cNvSpPr/>
          <p:nvPr/>
        </p:nvSpPr>
        <p:spPr>
          <a:xfrm>
            <a:off x="457200" y="3840480"/>
            <a:ext cx="8229600" cy="274320"/>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Roediger &amp; Karpicke, 2006 · Dunlosky et al., 2013 · Bjork, Dunlosky &amp; Kornell, 2013</a:t>
            </a:r>
            <a:endParaRPr lang="en-US" sz="1050" dirty="0"/>
          </a:p>
        </p:txBody>
      </p:sp>
      <p:sp>
        <p:nvSpPr>
          <p:cNvPr id="13" name="Text 10"/>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B1 · écran 12 / 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457200" y="320040"/>
            <a:ext cx="7315200" cy="45720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Trace écrite et engagement</a:t>
            </a:r>
            <a:endParaRPr lang="en-US" sz="2700" dirty="0"/>
          </a:p>
        </p:txBody>
      </p:sp>
      <p:sp>
        <p:nvSpPr>
          <p:cNvPr id="3" name="Text 1"/>
          <p:cNvSpPr/>
          <p:nvPr/>
        </p:nvSpPr>
        <p:spPr>
          <a:xfrm>
            <a:off x="457200" y="822960"/>
            <a:ext cx="7315200" cy="320040"/>
          </a:xfrm>
          <a:prstGeom prst="rect">
            <a:avLst/>
          </a:prstGeom>
          <a:noFill/>
          <a:ln/>
        </p:spPr>
        <p:txBody>
          <a:bodyPr wrap="square" lIns="0" tIns="0" rIns="0" bIns="0" rtlCol="0" anchor="ctr"/>
          <a:lstStyle/>
          <a:p>
            <a:pPr indent="0" marL="0">
              <a:buNone/>
            </a:pPr>
            <a:r>
              <a:rPr lang="en-US" sz="1400" i="1" dirty="0">
                <a:solidFill>
                  <a:srgbClr val="DEEAF6"/>
                </a:solidFill>
                <a:latin typeface="Calibri" pitchFamily="34" charset="0"/>
                <a:ea typeface="Calibri" pitchFamily="34" charset="-122"/>
                <a:cs typeface="Calibri" pitchFamily="34" charset="-120"/>
              </a:rPr>
              <a:t>Carnet de méthodes · page « Engagement actif »</a:t>
            </a:r>
            <a:endParaRPr lang="en-US" sz="1400" dirty="0"/>
          </a:p>
        </p:txBody>
      </p:sp>
      <p:sp>
        <p:nvSpPr>
          <p:cNvPr id="4" name="Shape 2"/>
          <p:cNvSpPr/>
          <p:nvPr/>
        </p:nvSpPr>
        <p:spPr>
          <a:xfrm>
            <a:off x="571500" y="1325880"/>
            <a:ext cx="1828800" cy="566928"/>
          </a:xfrm>
          <a:prstGeom prst="roundRect">
            <a:avLst>
              <a:gd name="adj" fmla="val 48387"/>
            </a:avLst>
          </a:prstGeom>
          <a:solidFill>
            <a:srgbClr val="FFFFFF"/>
          </a:solidFill>
          <a:ln/>
        </p:spPr>
      </p:sp>
      <p:sp>
        <p:nvSpPr>
          <p:cNvPr id="5" name="Text 3"/>
          <p:cNvSpPr/>
          <p:nvPr/>
        </p:nvSpPr>
        <p:spPr>
          <a:xfrm>
            <a:off x="571500" y="1325880"/>
            <a:ext cx="1828800" cy="566928"/>
          </a:xfrm>
          <a:prstGeom prst="rect">
            <a:avLst/>
          </a:prstGeom>
          <a:noFill/>
          <a:ln/>
        </p:spPr>
        <p:txBody>
          <a:bodyPr wrap="square" lIns="0" tIns="0" rIns="0" bIns="0" rtlCol="0" anchor="ctr"/>
          <a:lstStyle/>
          <a:p>
            <a:pPr algn="ctr" indent="0" marL="0">
              <a:buNone/>
            </a:pPr>
            <a:r>
              <a:rPr lang="en-US" sz="1500" b="1" dirty="0">
                <a:solidFill>
                  <a:srgbClr val="1F3864"/>
                </a:solidFill>
                <a:latin typeface="Calibri" pitchFamily="34" charset="0"/>
                <a:ea typeface="Calibri" pitchFamily="34" charset="-122"/>
                <a:cs typeface="Calibri" pitchFamily="34" charset="-120"/>
              </a:rPr>
              <a:t>je lis</a:t>
            </a:r>
            <a:endParaRPr lang="en-US" sz="1500" dirty="0"/>
          </a:p>
        </p:txBody>
      </p:sp>
      <p:sp>
        <p:nvSpPr>
          <p:cNvPr id="6" name="Text 4"/>
          <p:cNvSpPr/>
          <p:nvPr/>
        </p:nvSpPr>
        <p:spPr>
          <a:xfrm>
            <a:off x="2400300" y="1325880"/>
            <a:ext cx="228600" cy="566928"/>
          </a:xfrm>
          <a:prstGeom prst="rect">
            <a:avLst/>
          </a:prstGeom>
          <a:noFill/>
          <a:ln/>
        </p:spPr>
        <p:txBody>
          <a:bodyPr wrap="square" lIns="0" tIns="0" rIns="0" bIns="0" rtlCol="0" anchor="ctr"/>
          <a:lstStyle/>
          <a:p>
            <a:pPr algn="ctr" indent="0" marL="0">
              <a:buNone/>
            </a:pPr>
            <a:r>
              <a:rPr lang="en-US" sz="1700" b="1" dirty="0">
                <a:solidFill>
                  <a:srgbClr val="DEEAF6"/>
                </a:solidFill>
                <a:latin typeface="Calibri" pitchFamily="34" charset="0"/>
                <a:ea typeface="Calibri" pitchFamily="34" charset="-122"/>
                <a:cs typeface="Calibri" pitchFamily="34" charset="-120"/>
              </a:rPr>
              <a:t>→</a:t>
            </a:r>
            <a:endParaRPr lang="en-US" sz="1700" dirty="0"/>
          </a:p>
        </p:txBody>
      </p:sp>
      <p:sp>
        <p:nvSpPr>
          <p:cNvPr id="7" name="Shape 5"/>
          <p:cNvSpPr/>
          <p:nvPr/>
        </p:nvSpPr>
        <p:spPr>
          <a:xfrm>
            <a:off x="2628900" y="1325880"/>
            <a:ext cx="1828800" cy="566928"/>
          </a:xfrm>
          <a:prstGeom prst="roundRect">
            <a:avLst>
              <a:gd name="adj" fmla="val 48387"/>
            </a:avLst>
          </a:prstGeom>
          <a:solidFill>
            <a:srgbClr val="FFFFFF"/>
          </a:solidFill>
          <a:ln/>
        </p:spPr>
      </p:sp>
      <p:sp>
        <p:nvSpPr>
          <p:cNvPr id="8" name="Text 6"/>
          <p:cNvSpPr/>
          <p:nvPr/>
        </p:nvSpPr>
        <p:spPr>
          <a:xfrm>
            <a:off x="2628900" y="1325880"/>
            <a:ext cx="1828800" cy="566928"/>
          </a:xfrm>
          <a:prstGeom prst="rect">
            <a:avLst/>
          </a:prstGeom>
          <a:noFill/>
          <a:ln/>
        </p:spPr>
        <p:txBody>
          <a:bodyPr wrap="square" lIns="0" tIns="0" rIns="0" bIns="0" rtlCol="0" anchor="ctr"/>
          <a:lstStyle/>
          <a:p>
            <a:pPr algn="ctr" indent="0" marL="0">
              <a:buNone/>
            </a:pPr>
            <a:r>
              <a:rPr lang="en-US" sz="1500" b="1" dirty="0">
                <a:solidFill>
                  <a:srgbClr val="1F3864"/>
                </a:solidFill>
                <a:latin typeface="Calibri" pitchFamily="34" charset="0"/>
                <a:ea typeface="Calibri" pitchFamily="34" charset="-122"/>
                <a:cs typeface="Calibri" pitchFamily="34" charset="-120"/>
              </a:rPr>
              <a:t>je ferme</a:t>
            </a:r>
            <a:endParaRPr lang="en-US" sz="1500" dirty="0"/>
          </a:p>
        </p:txBody>
      </p:sp>
      <p:sp>
        <p:nvSpPr>
          <p:cNvPr id="9" name="Text 7"/>
          <p:cNvSpPr/>
          <p:nvPr/>
        </p:nvSpPr>
        <p:spPr>
          <a:xfrm>
            <a:off x="4457700" y="1325880"/>
            <a:ext cx="228600" cy="566928"/>
          </a:xfrm>
          <a:prstGeom prst="rect">
            <a:avLst/>
          </a:prstGeom>
          <a:noFill/>
          <a:ln/>
        </p:spPr>
        <p:txBody>
          <a:bodyPr wrap="square" lIns="0" tIns="0" rIns="0" bIns="0" rtlCol="0" anchor="ctr"/>
          <a:lstStyle/>
          <a:p>
            <a:pPr algn="ctr" indent="0" marL="0">
              <a:buNone/>
            </a:pPr>
            <a:r>
              <a:rPr lang="en-US" sz="1700" b="1" dirty="0">
                <a:solidFill>
                  <a:srgbClr val="DEEAF6"/>
                </a:solidFill>
                <a:latin typeface="Calibri" pitchFamily="34" charset="0"/>
                <a:ea typeface="Calibri" pitchFamily="34" charset="-122"/>
                <a:cs typeface="Calibri" pitchFamily="34" charset="-120"/>
              </a:rPr>
              <a:t>→</a:t>
            </a:r>
            <a:endParaRPr lang="en-US" sz="1700" dirty="0"/>
          </a:p>
        </p:txBody>
      </p:sp>
      <p:sp>
        <p:nvSpPr>
          <p:cNvPr id="10" name="Shape 8"/>
          <p:cNvSpPr/>
          <p:nvPr/>
        </p:nvSpPr>
        <p:spPr>
          <a:xfrm>
            <a:off x="4686300" y="1325880"/>
            <a:ext cx="1828800" cy="566928"/>
          </a:xfrm>
          <a:prstGeom prst="roundRect">
            <a:avLst>
              <a:gd name="adj" fmla="val 48387"/>
            </a:avLst>
          </a:prstGeom>
          <a:solidFill>
            <a:srgbClr val="FFFFFF"/>
          </a:solidFill>
          <a:ln/>
        </p:spPr>
      </p:sp>
      <p:sp>
        <p:nvSpPr>
          <p:cNvPr id="11" name="Text 9"/>
          <p:cNvSpPr/>
          <p:nvPr/>
        </p:nvSpPr>
        <p:spPr>
          <a:xfrm>
            <a:off x="4686300" y="1325880"/>
            <a:ext cx="1828800" cy="566928"/>
          </a:xfrm>
          <a:prstGeom prst="rect">
            <a:avLst/>
          </a:prstGeom>
          <a:noFill/>
          <a:ln/>
        </p:spPr>
        <p:txBody>
          <a:bodyPr wrap="square" lIns="0" tIns="0" rIns="0" bIns="0" rtlCol="0" anchor="ctr"/>
          <a:lstStyle/>
          <a:p>
            <a:pPr algn="ctr" indent="0" marL="0">
              <a:buNone/>
            </a:pPr>
            <a:r>
              <a:rPr lang="en-US" sz="1500" b="1" dirty="0">
                <a:solidFill>
                  <a:srgbClr val="1F3864"/>
                </a:solidFill>
                <a:latin typeface="Calibri" pitchFamily="34" charset="0"/>
                <a:ea typeface="Calibri" pitchFamily="34" charset="-122"/>
                <a:cs typeface="Calibri" pitchFamily="34" charset="-120"/>
              </a:rPr>
              <a:t>je me récite</a:t>
            </a:r>
            <a:endParaRPr lang="en-US" sz="1500" dirty="0"/>
          </a:p>
        </p:txBody>
      </p:sp>
      <p:sp>
        <p:nvSpPr>
          <p:cNvPr id="12" name="Text 10"/>
          <p:cNvSpPr/>
          <p:nvPr/>
        </p:nvSpPr>
        <p:spPr>
          <a:xfrm>
            <a:off x="6515100" y="1325880"/>
            <a:ext cx="228600" cy="566928"/>
          </a:xfrm>
          <a:prstGeom prst="rect">
            <a:avLst/>
          </a:prstGeom>
          <a:noFill/>
          <a:ln/>
        </p:spPr>
        <p:txBody>
          <a:bodyPr wrap="square" lIns="0" tIns="0" rIns="0" bIns="0" rtlCol="0" anchor="ctr"/>
          <a:lstStyle/>
          <a:p>
            <a:pPr algn="ctr" indent="0" marL="0">
              <a:buNone/>
            </a:pPr>
            <a:r>
              <a:rPr lang="en-US" sz="1700" b="1" dirty="0">
                <a:solidFill>
                  <a:srgbClr val="DEEAF6"/>
                </a:solidFill>
                <a:latin typeface="Calibri" pitchFamily="34" charset="0"/>
                <a:ea typeface="Calibri" pitchFamily="34" charset="-122"/>
                <a:cs typeface="Calibri" pitchFamily="34" charset="-120"/>
              </a:rPr>
              <a:t>→</a:t>
            </a:r>
            <a:endParaRPr lang="en-US" sz="1700" dirty="0"/>
          </a:p>
        </p:txBody>
      </p:sp>
      <p:sp>
        <p:nvSpPr>
          <p:cNvPr id="13" name="Shape 11"/>
          <p:cNvSpPr/>
          <p:nvPr/>
        </p:nvSpPr>
        <p:spPr>
          <a:xfrm>
            <a:off x="6743700" y="1325880"/>
            <a:ext cx="1828800" cy="566928"/>
          </a:xfrm>
          <a:prstGeom prst="roundRect">
            <a:avLst>
              <a:gd name="adj" fmla="val 48387"/>
            </a:avLst>
          </a:prstGeom>
          <a:solidFill>
            <a:srgbClr val="FFFFFF"/>
          </a:solidFill>
          <a:ln/>
        </p:spPr>
      </p:sp>
      <p:sp>
        <p:nvSpPr>
          <p:cNvPr id="14" name="Text 12"/>
          <p:cNvSpPr/>
          <p:nvPr/>
        </p:nvSpPr>
        <p:spPr>
          <a:xfrm>
            <a:off x="6743700" y="1325880"/>
            <a:ext cx="1828800" cy="566928"/>
          </a:xfrm>
          <a:prstGeom prst="rect">
            <a:avLst/>
          </a:prstGeom>
          <a:noFill/>
          <a:ln/>
        </p:spPr>
        <p:txBody>
          <a:bodyPr wrap="square" lIns="0" tIns="0" rIns="0" bIns="0" rtlCol="0" anchor="ctr"/>
          <a:lstStyle/>
          <a:p>
            <a:pPr algn="ctr" indent="0" marL="0">
              <a:buNone/>
            </a:pPr>
            <a:r>
              <a:rPr lang="en-US" sz="1500" b="1" dirty="0">
                <a:solidFill>
                  <a:srgbClr val="1F3864"/>
                </a:solidFill>
                <a:latin typeface="Calibri" pitchFamily="34" charset="0"/>
                <a:ea typeface="Calibri" pitchFamily="34" charset="-122"/>
                <a:cs typeface="Calibri" pitchFamily="34" charset="-120"/>
              </a:rPr>
              <a:t>je vérifie</a:t>
            </a:r>
            <a:endParaRPr lang="en-US" sz="1500" dirty="0"/>
          </a:p>
        </p:txBody>
      </p:sp>
      <p:sp>
        <p:nvSpPr>
          <p:cNvPr id="15" name="Text 13"/>
          <p:cNvSpPr/>
          <p:nvPr/>
        </p:nvSpPr>
        <p:spPr>
          <a:xfrm>
            <a:off x="571500" y="2011680"/>
            <a:ext cx="8001000" cy="320040"/>
          </a:xfrm>
          <a:prstGeom prst="rect">
            <a:avLst/>
          </a:prstGeom>
          <a:noFill/>
          <a:ln/>
        </p:spPr>
        <p:txBody>
          <a:bodyPr wrap="square" lIns="0" tIns="0" rIns="0" bIns="0" rtlCol="0" anchor="ctr"/>
          <a:lstStyle/>
          <a:p>
            <a:pPr algn="ctr" indent="0" marL="0">
              <a:buNone/>
            </a:pPr>
            <a:r>
              <a:rPr lang="en-US" sz="1400" i="1" dirty="0">
                <a:solidFill>
                  <a:srgbClr val="DEEAF6"/>
                </a:solidFill>
                <a:latin typeface="Calibri" pitchFamily="34" charset="0"/>
                <a:ea typeface="Calibri" pitchFamily="34" charset="-122"/>
                <a:cs typeface="Calibri" pitchFamily="34" charset="-120"/>
              </a:rPr>
              <a:t>Mes deux scores du jour : A ____ / 4  ·  B ____ / 4</a:t>
            </a:r>
            <a:endParaRPr lang="en-US" sz="1400" dirty="0"/>
          </a:p>
        </p:txBody>
      </p:sp>
      <p:sp>
        <p:nvSpPr>
          <p:cNvPr id="16" name="Shape 14"/>
          <p:cNvSpPr/>
          <p:nvPr/>
        </p:nvSpPr>
        <p:spPr>
          <a:xfrm>
            <a:off x="914400" y="2560320"/>
            <a:ext cx="7315200" cy="1691640"/>
          </a:xfrm>
          <a:prstGeom prst="roundRect">
            <a:avLst>
              <a:gd name="adj" fmla="val 5405"/>
            </a:avLst>
          </a:prstGeom>
          <a:solidFill>
            <a:srgbClr val="2E5395"/>
          </a:solidFill>
          <a:ln/>
        </p:spPr>
      </p:sp>
      <p:sp>
        <p:nvSpPr>
          <p:cNvPr id="17" name="Text 15"/>
          <p:cNvSpPr/>
          <p:nvPr/>
        </p:nvSpPr>
        <p:spPr>
          <a:xfrm>
            <a:off x="1234440" y="2697480"/>
            <a:ext cx="6675120" cy="1417320"/>
          </a:xfrm>
          <a:prstGeom prst="rect">
            <a:avLst/>
          </a:prstGeom>
          <a:noFill/>
          <a:ln/>
        </p:spPr>
        <p:txBody>
          <a:bodyPr wrap="square" lIns="0" tIns="0" rIns="0" bIns="0" rtlCol="0" anchor="ctr"/>
          <a:lstStyle/>
          <a:p>
            <a:pPr indent="0" marL="0">
              <a:spcAft>
                <a:spcPts val="500"/>
              </a:spcAft>
              <a:buNone/>
            </a:pPr>
            <a:r>
              <a:rPr lang="en-US" sz="1300" b="1" spc="150" kern="0" dirty="0">
                <a:solidFill>
                  <a:srgbClr val="FFFFFF"/>
                </a:solidFill>
                <a:latin typeface="Calibri" pitchFamily="34" charset="0"/>
                <a:ea typeface="Calibri" pitchFamily="34" charset="-122"/>
                <a:cs typeface="Calibri" pitchFamily="34" charset="-120"/>
              </a:rPr>
              <a:t>MON ENGAGEMENT 7 JOURS</a:t>
            </a:r>
            <a:endParaRPr lang="en-US" sz="1300" dirty="0"/>
          </a:p>
          <a:p>
            <a:pPr indent="0" marL="0">
              <a:spcAft>
                <a:spcPts val="500"/>
              </a:spcAft>
              <a:buNone/>
            </a:pPr>
            <a:r>
              <a:rPr lang="en-US" sz="1600" dirty="0">
                <a:solidFill>
                  <a:srgbClr val="FFFFFF"/>
                </a:solidFill>
                <a:latin typeface="Calibri" pitchFamily="34" charset="0"/>
                <a:ea typeface="Calibri" pitchFamily="34" charset="-122"/>
                <a:cs typeface="Calibri" pitchFamily="34" charset="-120"/>
              </a:rPr>
              <a:t>5 minutes d’auto-interrogation chaque soir, cahier fermé.</a:t>
            </a:r>
            <a:endParaRPr lang="en-US" sz="1300" dirty="0"/>
          </a:p>
          <a:p>
            <a:pPr indent="0" marL="0">
              <a:spcAft>
                <a:spcPts val="500"/>
              </a:spcAft>
              <a:buNone/>
            </a:pPr>
            <a:r>
              <a:rPr lang="en-US" sz="1600" dirty="0">
                <a:solidFill>
                  <a:srgbClr val="FFFFFF"/>
                </a:solidFill>
                <a:latin typeface="Calibri" pitchFamily="34" charset="0"/>
                <a:ea typeface="Calibri" pitchFamily="34" charset="-122"/>
                <a:cs typeface="Calibri" pitchFamily="34" charset="-120"/>
              </a:rPr>
              <a:t>Mes questions rejoignent la banque du carnet.</a:t>
            </a:r>
            <a:endParaRPr lang="en-US" sz="1300" dirty="0"/>
          </a:p>
          <a:p>
            <a:pPr indent="0" marL="0">
              <a:spcAft>
                <a:spcPts val="500"/>
              </a:spcAft>
              <a:buNone/>
            </a:pPr>
            <a:r>
              <a:rPr lang="en-US" sz="1300" i="1" dirty="0">
                <a:solidFill>
                  <a:srgbClr val="DEEAF6"/>
                </a:solidFill>
                <a:latin typeface="Calibri" pitchFamily="34" charset="0"/>
                <a:ea typeface="Calibri" pitchFamily="34" charset="-122"/>
                <a:cs typeface="Calibri" pitchFamily="34" charset="-120"/>
              </a:rPr>
              <a:t>Je coche la grille chaque jour — bilan à la prochaine vie de classe.</a:t>
            </a:r>
            <a:endParaRPr lang="en-US" sz="1300" dirty="0"/>
          </a:p>
        </p:txBody>
      </p:sp>
      <p:sp>
        <p:nvSpPr>
          <p:cNvPr id="18" name="Text 16"/>
          <p:cNvSpPr/>
          <p:nvPr/>
        </p:nvSpPr>
        <p:spPr>
          <a:xfrm>
            <a:off x="7635240" y="4828032"/>
            <a:ext cx="141732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B1 · écran 13 / 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B1 · Mémoriser : s’interroger au lieu de relire — 3e</dc:title>
  <dc:subject>PptxGenJS Presentation</dc:subject>
  <dc:creator>Institut Stanislas de Cannes</dc:creator>
  <cp:lastModifiedBy>Institut Stanislas de Cannes</cp:lastModifiedBy>
  <cp:revision>1</cp:revision>
  <dcterms:created xsi:type="dcterms:W3CDTF">2026-07-18T11:06:14Z</dcterms:created>
  <dcterms:modified xsi:type="dcterms:W3CDTF">2026-07-18T11:06:14Z</dcterms:modified>
</cp:coreProperties>
</file>