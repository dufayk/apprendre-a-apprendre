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(0-5 min). Lancement : « En 2de, on apprend a lire une copie avec 4 familles d'erreurs. En 1re, chaque copie compte pour le bac : on passe a l'outil des professionnels — un journal d'erreurs par specialite, tenu toute l'annee, relu avant chaque DS. Et on ajoute 2 familles que vos copies de 1re font apparaitre. » Materiel a verifier des l'entree : 2 copies d'EDS corrigees par eleve + carnet de methodes. Copies anonymisees de secours pretes sur le bureau.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1 (0-5 min), 3 minutes maximum, un exemple oral par famille. Connaissance : le cours n'etait pas su. Methode : su, mais mal utilise. Consigne : la question posee n'a pas ete traitee. Inattention : su, mais perdu par etourderie. Temps : la question etait faisable, mais je n'y suis pas arrive — derniere partie blanche, exercice bacle faute de minutes. Redaction/argumentation : mes idees etaient justes, mais la copie ne le montre pas — plan absent, affirmation sans preuve, calcul juste sans justification. Poser ensuite la regle du jeu : toute contestation de correction se traite avec le professeur concerne, hors de cette heure. Vigilance : ne pas depasser 5 min ici (plan B : 7 min maximum, en renvoyant les exemples a la fiche atelier).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 (5-25 min). Lancement : « Sortez votre copie n°1 et la fiche atelier. On fait la premiere copie ensemble, au meme rythme, point perdu par point perdu. A chaque point perdu, quatre gestes : je surligne l'endroit exact ; je note ou et combien ; je choisis la famille ; j'ecris la cause probable — pas la famille recopiee, la cause : theoreme non su, document lu trop vite, 40 minutes sur l'exercice 1. Puis la parade, choisie dans la banque. » Guider les 5 premieres minutes pas a pas : tous traitent leur premier point perdu pendant que vous verbalisez les 4 gestes sur un exemple au tableau. « Je suis nul en dissertation » est interdit ; « je n'ai pas pose de plan avant d'ecrire » est une cause.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2, suite (5-25 min). Cet ecran reste affiche pendant tout l'atelier. Circuler et challenger les causes complaisantes. Trois deguisements frequents et la replique : (1) tout en « inattention » -&gt; question-test : « refais-le la, maintenant, sans le cours » ; s'il n'y arrive pas, c'est connaissance ou methode. (2) tout en « temps » -&gt; « si tu avais eu 30 minutes de plus, tu aurais eu tous les points ? Montre-moi comment tu aurais fait » ; l'hesitation revele la methode. (3) « le correcteur voulait autre chose » -&gt; relire l'enonce : c'est presque toujours la famille consigne. Plan B : stopper a 25 min meme si la copie n'est pas finie — l'objectif est le geste, pas l'exhaustivite.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Charniere entre les phases 2 et 3 (vers 25 min). Nommer l'outil maintenant que le geste a ete fait : le journal d'erreurs, une page par specialite, installe dans le carnet de methodes a la page du pilier « Retour d'information ». Deux exigences a poser explicitement : moins de 10 minutes par copie, et une relecture a J-2 de chaque DS — c'est cette relecture qui figure dans l'engagement et qui sera verifiee a la meteo du transfert. Relier au retro-planning C3 : la relecture se cale sur le J-2 deja prevu.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3 (25-35 min). Lancement : « Deuxieme copie, memes gestes, mais seuls et en 10 minutes chrono. C'est le format definitif : en regime de croisiere, une copie s'analyse en moins de 10 minutes. Au-dela, on ne le fera plus — donc on apprend a aller a l'essentiel : les points perdus, rien d'autre. » N'intervenir qu'a la demande : la phase mesure si le geste est acquis, votre silence en fait partie. Distribuer les copies anonymisees de secours aux eleves sans copie. Phase incompressible : elle ne se coupe pas.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4 (35-45 min). Lancement : « Echangez vos journaux. Chacun lit les entrees de l'autre et challenge la colonne cause probable avec deux questions : cette cause est-elle un fait ou une excuse ? et : l'inattention que tu as notee la — saurais-tu vraiment le refaire juste demain, seul ? Le lecteur a le droit de barrer une cause et d'en proposer une autre au crayon ; l'auteur tranche. » Modeliser d'abord sur un eleve volontaire : lire une de ses entrees a voix haute et poser les deux questions devant la classe (1 minute). Circuler pour debloquer les binomes trop polis. Plan B : ramener a 6 minutes (une seule entree challengee chacun) pour proteger les phases 5 et 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5 (45-52 min). Lancement : « Regardez vos deux entrees : quelle est la famille qui vous coute le plus de points ? Vous ecrivez maintenant UNE strategie pour le prochain DS — une seule — au format quand... alors... Exemple : quand le prochain DS de maths commencera, alors je note sur le brouillon 10 minutes de relecture des calculs a la fin, et je m'y tiens. » Refuser systematiquement : les strategies multiples, les strategies vagues (« mieux gerer mon temps », « faire attention »), les strategies sans declencheur date. La banque de parades (support 3) fournit une formulation prete par famille. Phase incompressible.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Phase 6 (52-55 min). Lancement : « Completez la trace ecrite pour le carnet de methodes, page du pilier Retour d'information. Votre engagement, sur un mois : chaque copie rendue entre au journal en moins de 10 minutes, et vous relisez le journal a J-2 de chaque DS — c'est la relecture qui transforme le journal en points. Bilan a la prochaine vie de classe, et point complet dans un mois. » Trace ecrite et engagement sont incompressibles : ils ne se coupent jamais, meme en cas de debordement. Suivi : meteo du transfert standard a la prochaine vie de classe (main levee, deux temoignages, relance), revue de journaux volontaires, et meteo complete a J+30.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200" kern="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Séance E2 · Première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journal d’erreurs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chaque DS en levier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417320" y="2880360"/>
            <a:ext cx="6309360" cy="1051560"/>
          </a:xfrm>
          <a:prstGeom prst="roundRect">
            <a:avLst>
              <a:gd name="adj" fmla="val 8696"/>
            </a:avLst>
          </a:prstGeom>
          <a:solidFill>
            <a:srgbClr val="2E5395"/>
          </a:solidFill>
          <a:ln/>
        </p:spPr>
      </p:sp>
      <p:sp>
        <p:nvSpPr>
          <p:cNvPr id="6" name="Text 4"/>
          <p:cNvSpPr/>
          <p:nvPr/>
        </p:nvSpPr>
        <p:spPr>
          <a:xfrm>
            <a:off x="1600200" y="297180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3 · RETOUR D’INFORMATION</a:t>
            </a:r>
            <a:endParaRPr lang="en-US" sz="14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L’erreur est une information, pas une punition »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Dispositif « Apprendre à apprendre » · Institut Stanislas de Cannes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· écran 1 / 9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6 familles d’erreurs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143000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F2F2F2"/>
          </a:solidFill>
          <a:ln/>
        </p:spPr>
      </p:sp>
      <p:sp>
        <p:nvSpPr>
          <p:cNvPr id="7" name="Shape 4"/>
          <p:cNvSpPr/>
          <p:nvPr/>
        </p:nvSpPr>
        <p:spPr>
          <a:xfrm>
            <a:off x="603504" y="1316736"/>
            <a:ext cx="402336" cy="40233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8" name="Text 5"/>
          <p:cNvSpPr/>
          <p:nvPr/>
        </p:nvSpPr>
        <p:spPr>
          <a:xfrm>
            <a:off x="603504" y="1316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15568" y="119786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CONNAISSANCE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cours n’était pas su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17720" y="1143000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F2F2F2"/>
          </a:solidFill>
          <a:ln/>
        </p:spPr>
      </p:sp>
      <p:sp>
        <p:nvSpPr>
          <p:cNvPr id="11" name="Shape 8"/>
          <p:cNvSpPr/>
          <p:nvPr/>
        </p:nvSpPr>
        <p:spPr>
          <a:xfrm>
            <a:off x="4764024" y="1316736"/>
            <a:ext cx="402336" cy="40233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9"/>
          <p:cNvSpPr/>
          <p:nvPr/>
        </p:nvSpPr>
        <p:spPr>
          <a:xfrm>
            <a:off x="4764024" y="1316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276088" y="119786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INATTENTION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su, mais perdu par étourderie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2011680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F2F2F2"/>
          </a:solidFill>
          <a:ln/>
        </p:spPr>
      </p:sp>
      <p:sp>
        <p:nvSpPr>
          <p:cNvPr id="15" name="Shape 12"/>
          <p:cNvSpPr/>
          <p:nvPr/>
        </p:nvSpPr>
        <p:spPr>
          <a:xfrm>
            <a:off x="603504" y="2185416"/>
            <a:ext cx="402336" cy="40233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6" name="Text 13"/>
          <p:cNvSpPr/>
          <p:nvPr/>
        </p:nvSpPr>
        <p:spPr>
          <a:xfrm>
            <a:off x="603504" y="2185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115568" y="206654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su, mais mal utilisé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617720" y="2011680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DEEAF6"/>
          </a:solidFill>
          <a:ln/>
        </p:spPr>
      </p:sp>
      <p:sp>
        <p:nvSpPr>
          <p:cNvPr id="19" name="Shape 16"/>
          <p:cNvSpPr/>
          <p:nvPr/>
        </p:nvSpPr>
        <p:spPr>
          <a:xfrm>
            <a:off x="4764024" y="2185416"/>
            <a:ext cx="402336" cy="40233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0" name="Text 17"/>
          <p:cNvSpPr/>
          <p:nvPr/>
        </p:nvSpPr>
        <p:spPr>
          <a:xfrm>
            <a:off x="4764024" y="21854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276088" y="206654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faisable, mais pas atteint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57200" y="2880360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F2F2F2"/>
          </a:solidFill>
          <a:ln/>
        </p:spPr>
      </p:sp>
      <p:sp>
        <p:nvSpPr>
          <p:cNvPr id="23" name="Shape 20"/>
          <p:cNvSpPr/>
          <p:nvPr/>
        </p:nvSpPr>
        <p:spPr>
          <a:xfrm>
            <a:off x="603504" y="3054096"/>
            <a:ext cx="402336" cy="40233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4" name="Text 21"/>
          <p:cNvSpPr/>
          <p:nvPr/>
        </p:nvSpPr>
        <p:spPr>
          <a:xfrm>
            <a:off x="603504" y="3054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115568" y="293522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question posée n’a pas été traitée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617720" y="2880360"/>
            <a:ext cx="3977640" cy="749808"/>
          </a:xfrm>
          <a:prstGeom prst="roundRect">
            <a:avLst>
              <a:gd name="adj" fmla="val 12195"/>
            </a:avLst>
          </a:prstGeom>
          <a:solidFill>
            <a:srgbClr val="DEEAF6"/>
          </a:solidFill>
          <a:ln/>
        </p:spPr>
      </p:sp>
      <p:sp>
        <p:nvSpPr>
          <p:cNvPr id="27" name="Shape 24"/>
          <p:cNvSpPr/>
          <p:nvPr/>
        </p:nvSpPr>
        <p:spPr>
          <a:xfrm>
            <a:off x="4764024" y="3054096"/>
            <a:ext cx="402336" cy="402336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8" name="Text 25"/>
          <p:cNvSpPr/>
          <p:nvPr/>
        </p:nvSpPr>
        <p:spPr>
          <a:xfrm>
            <a:off x="4764024" y="3054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5276088" y="293522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RÉDACTION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idées justes, copie qui ne le montre pas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457200" y="37673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familles en bleu sont nouvelles en 1re.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57200" y="4114800"/>
            <a:ext cx="8138160" cy="566928"/>
          </a:xfrm>
          <a:prstGeom prst="roundRect">
            <a:avLst>
              <a:gd name="adj" fmla="val 16129"/>
            </a:avLst>
          </a:prstGeom>
          <a:solidFill>
            <a:srgbClr val="FBEAEA"/>
          </a:solidFill>
          <a:ln/>
        </p:spPr>
      </p:sp>
      <p:sp>
        <p:nvSpPr>
          <p:cNvPr id="32" name="Text 29"/>
          <p:cNvSpPr/>
          <p:nvPr/>
        </p:nvSpPr>
        <p:spPr>
          <a:xfrm>
            <a:off x="640080" y="41148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de la séance : on analyse, on ne renégocie pas les notes.</a:t>
            </a:r>
            <a:endParaRPr lang="en-US" sz="1700" dirty="0"/>
          </a:p>
        </p:txBody>
      </p:sp>
      <p:sp>
        <p:nvSpPr>
          <p:cNvPr id="34" name="Text 30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· écran 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n°1 : les 4 gestes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9601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n°1 + fiche atelier. Pour chaque point perdu :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7680960" cy="512064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/>
        </p:spPr>
      </p:sp>
      <p:sp>
        <p:nvSpPr>
          <p:cNvPr id="8" name="Shape 5"/>
          <p:cNvSpPr/>
          <p:nvPr/>
        </p:nvSpPr>
        <p:spPr>
          <a:xfrm>
            <a:off x="603504" y="1444752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9" name="Text 6"/>
          <p:cNvSpPr/>
          <p:nvPr/>
        </p:nvSpPr>
        <p:spPr>
          <a:xfrm>
            <a:off x="603504" y="1444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97280" y="1371600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surligne l’endroit exact sur la copie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57200" y="1993392"/>
            <a:ext cx="7680960" cy="512064"/>
          </a:xfrm>
          <a:prstGeom prst="roundRect">
            <a:avLst>
              <a:gd name="adj" fmla="val 17857"/>
            </a:avLst>
          </a:prstGeom>
          <a:solidFill>
            <a:srgbClr val="DEEAF6"/>
          </a:solidFill>
          <a:ln/>
        </p:spPr>
      </p:sp>
      <p:sp>
        <p:nvSpPr>
          <p:cNvPr id="12" name="Shape 9"/>
          <p:cNvSpPr/>
          <p:nvPr/>
        </p:nvSpPr>
        <p:spPr>
          <a:xfrm>
            <a:off x="603504" y="2066544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3" name="Text 10"/>
          <p:cNvSpPr/>
          <p:nvPr/>
        </p:nvSpPr>
        <p:spPr>
          <a:xfrm>
            <a:off x="603504" y="20665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097280" y="1993392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note où (quelle question) et combien de points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57200" y="2615184"/>
            <a:ext cx="7680960" cy="512064"/>
          </a:xfrm>
          <a:prstGeom prst="roundRect">
            <a:avLst>
              <a:gd name="adj" fmla="val 17857"/>
            </a:avLst>
          </a:prstGeom>
          <a:solidFill>
            <a:srgbClr val="F2F2F2"/>
          </a:solidFill>
          <a:ln/>
        </p:spPr>
      </p:sp>
      <p:sp>
        <p:nvSpPr>
          <p:cNvPr id="16" name="Shape 13"/>
          <p:cNvSpPr/>
          <p:nvPr/>
        </p:nvSpPr>
        <p:spPr>
          <a:xfrm>
            <a:off x="603504" y="2688336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4"/>
          <p:cNvSpPr/>
          <p:nvPr/>
        </p:nvSpPr>
        <p:spPr>
          <a:xfrm>
            <a:off x="603504" y="2688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97280" y="2615184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choisis la famille : C · M · CO · I · T · R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457200" y="3236976"/>
            <a:ext cx="7680960" cy="512064"/>
          </a:xfrm>
          <a:prstGeom prst="roundRect">
            <a:avLst>
              <a:gd name="adj" fmla="val 17857"/>
            </a:avLst>
          </a:prstGeom>
          <a:solidFill>
            <a:srgbClr val="DEEAF6"/>
          </a:solidFill>
          <a:ln/>
        </p:spPr>
      </p:sp>
      <p:sp>
        <p:nvSpPr>
          <p:cNvPr id="20" name="Shape 17"/>
          <p:cNvSpPr/>
          <p:nvPr/>
        </p:nvSpPr>
        <p:spPr>
          <a:xfrm>
            <a:off x="603504" y="3310128"/>
            <a:ext cx="365760" cy="3657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21" name="Text 18"/>
          <p:cNvSpPr/>
          <p:nvPr/>
        </p:nvSpPr>
        <p:spPr>
          <a:xfrm>
            <a:off x="603504" y="33101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097280" y="3236976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J’écris la cause probable, puis la parade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57200" y="3986784"/>
            <a:ext cx="7680960" cy="566928"/>
          </a:xfrm>
          <a:prstGeom prst="roundRect">
            <a:avLst>
              <a:gd name="adj" fmla="val 16129"/>
            </a:avLst>
          </a:prstGeom>
          <a:solidFill>
            <a:srgbClr val="FBEAEA"/>
          </a:solidFill>
          <a:ln/>
        </p:spPr>
      </p:sp>
      <p:sp>
        <p:nvSpPr>
          <p:cNvPr id="24" name="Text 21"/>
          <p:cNvSpPr/>
          <p:nvPr/>
        </p:nvSpPr>
        <p:spPr>
          <a:xfrm>
            <a:off x="640080" y="3986784"/>
            <a:ext cx="7315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cause est un fait, pas un jugement.</a:t>
            </a:r>
            <a:endParaRPr lang="en-US" sz="1700" dirty="0"/>
          </a:p>
        </p:txBody>
      </p:sp>
      <p:sp>
        <p:nvSpPr>
          <p:cNvPr id="26" name="Text 22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· écran 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travail sur la copie n°1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2926080" cy="1554480"/>
          </a:xfrm>
          <a:prstGeom prst="roundRect">
            <a:avLst>
              <a:gd name="adj" fmla="val 7059"/>
            </a:avLst>
          </a:prstGeom>
          <a:solidFill>
            <a:srgbClr val="F2F2F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837944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24128" y="1307592"/>
            <a:ext cx="2267712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20:00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457200" y="24597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57200" y="2971800"/>
            <a:ext cx="2926080" cy="1417320"/>
          </a:xfrm>
          <a:prstGeom prst="roundRect">
            <a:avLst>
              <a:gd name="adj" fmla="val 6452"/>
            </a:avLst>
          </a:prstGeom>
          <a:solidFill>
            <a:srgbClr val="DEEAF6"/>
          </a:solidFill>
          <a:ln/>
        </p:spPr>
      </p:sp>
      <p:sp>
        <p:nvSpPr>
          <p:cNvPr id="11" name="Text 7"/>
          <p:cNvSpPr/>
          <p:nvPr/>
        </p:nvSpPr>
        <p:spPr>
          <a:xfrm>
            <a:off x="621792" y="3044952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ambigu ?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Saurais-je répondre juste demain, seul ? »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Oui → I · Non → C ou M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3703320" y="1234440"/>
            <a:ext cx="4434840" cy="3154680"/>
          </a:xfrm>
          <a:prstGeom prst="roundRect">
            <a:avLst>
              <a:gd name="adj" fmla="val 2899"/>
            </a:avLst>
          </a:prstGeom>
          <a:solidFill>
            <a:srgbClr val="F2F2F2"/>
          </a:solidFill>
          <a:ln/>
        </p:spPr>
      </p:sp>
      <p:sp>
        <p:nvSpPr>
          <p:cNvPr id="13" name="Text 9"/>
          <p:cNvSpPr/>
          <p:nvPr/>
        </p:nvSpPr>
        <p:spPr>
          <a:xfrm>
            <a:off x="3913632" y="13258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Aide-mémoire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913632" y="1719072"/>
            <a:ext cx="329184" cy="329184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15" name="Text 11"/>
          <p:cNvSpPr/>
          <p:nvPr/>
        </p:nvSpPr>
        <p:spPr>
          <a:xfrm>
            <a:off x="3913632" y="1719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343400" y="169164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 non su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3913632" y="2148840"/>
            <a:ext cx="329184" cy="329184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18" name="Text 14"/>
          <p:cNvSpPr/>
          <p:nvPr/>
        </p:nvSpPr>
        <p:spPr>
          <a:xfrm>
            <a:off x="3913632" y="21488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343400" y="2121408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su, mal utilisé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3913632" y="2578608"/>
            <a:ext cx="329184" cy="329184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21" name="Text 17"/>
          <p:cNvSpPr/>
          <p:nvPr/>
        </p:nvSpPr>
        <p:spPr>
          <a:xfrm>
            <a:off x="3913632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343400" y="2551176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non traitée</a:t>
            </a:r>
            <a:endParaRPr lang="en-US" sz="1450" dirty="0"/>
          </a:p>
        </p:txBody>
      </p:sp>
      <p:sp>
        <p:nvSpPr>
          <p:cNvPr id="23" name="Shape 19"/>
          <p:cNvSpPr/>
          <p:nvPr/>
        </p:nvSpPr>
        <p:spPr>
          <a:xfrm>
            <a:off x="3913632" y="3008376"/>
            <a:ext cx="329184" cy="329184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24" name="Text 20"/>
          <p:cNvSpPr/>
          <p:nvPr/>
        </p:nvSpPr>
        <p:spPr>
          <a:xfrm>
            <a:off x="3913632" y="3008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4343400" y="298094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étourderie</a:t>
            </a:r>
            <a:endParaRPr lang="en-US" sz="1450" dirty="0"/>
          </a:p>
        </p:txBody>
      </p:sp>
      <p:sp>
        <p:nvSpPr>
          <p:cNvPr id="26" name="Shape 22"/>
          <p:cNvSpPr/>
          <p:nvPr/>
        </p:nvSpPr>
        <p:spPr>
          <a:xfrm>
            <a:off x="3913632" y="3438144"/>
            <a:ext cx="329184" cy="329184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27" name="Text 23"/>
          <p:cNvSpPr/>
          <p:nvPr/>
        </p:nvSpPr>
        <p:spPr>
          <a:xfrm>
            <a:off x="3913632" y="34381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4343400" y="341071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atteint faute de temps</a:t>
            </a:r>
            <a:endParaRPr lang="en-US" sz="1450" dirty="0"/>
          </a:p>
        </p:txBody>
      </p:sp>
      <p:sp>
        <p:nvSpPr>
          <p:cNvPr id="29" name="Shape 25"/>
          <p:cNvSpPr/>
          <p:nvPr/>
        </p:nvSpPr>
        <p:spPr>
          <a:xfrm>
            <a:off x="3913632" y="3867912"/>
            <a:ext cx="329184" cy="329184"/>
          </a:xfrm>
          <a:prstGeom prst="ellipse">
            <a:avLst/>
          </a:prstGeom>
          <a:solidFill>
            <a:srgbClr val="2E5395"/>
          </a:solidFill>
          <a:ln/>
        </p:spPr>
      </p:sp>
      <p:sp>
        <p:nvSpPr>
          <p:cNvPr id="30" name="Text 26"/>
          <p:cNvSpPr/>
          <p:nvPr/>
        </p:nvSpPr>
        <p:spPr>
          <a:xfrm>
            <a:off x="3913632" y="3867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4343400" y="3840480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juste, mais non démontré</a:t>
            </a:r>
            <a:endParaRPr lang="en-US" sz="1450" dirty="0"/>
          </a:p>
        </p:txBody>
      </p:sp>
      <p:sp>
        <p:nvSpPr>
          <p:cNvPr id="32" name="Text 28"/>
          <p:cNvSpPr/>
          <p:nvPr/>
        </p:nvSpPr>
        <p:spPr>
          <a:xfrm>
            <a:off x="3913632" y="395020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entrée par point perdu, sur la fiche atelier.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· écran 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venez d’ouvrir : le journal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entière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188720"/>
            <a:ext cx="1234440" cy="384048"/>
          </a:xfrm>
          <a:prstGeom prst="rect">
            <a:avLst/>
          </a:prstGeom>
          <a:solidFill>
            <a:srgbClr val="DEEAF6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118872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du DS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57200" y="1572768"/>
            <a:ext cx="1234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920240"/>
            <a:ext cx="1234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7200" y="2267712"/>
            <a:ext cx="123444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691640" y="1188720"/>
            <a:ext cx="1737360" cy="384048"/>
          </a:xfrm>
          <a:prstGeom prst="rect">
            <a:avLst/>
          </a:prstGeom>
          <a:solidFill>
            <a:srgbClr val="DEEAF6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91640" y="11887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Où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1691640" y="1572768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691640" y="1920240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691640" y="2267712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429000" y="1188720"/>
            <a:ext cx="640080" cy="384048"/>
          </a:xfrm>
          <a:prstGeom prst="rect">
            <a:avLst/>
          </a:prstGeom>
          <a:solidFill>
            <a:srgbClr val="DEEAF6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429000" y="1188720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429000" y="1572768"/>
            <a:ext cx="640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429000" y="1920240"/>
            <a:ext cx="640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429000" y="2267712"/>
            <a:ext cx="640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069080" y="1188720"/>
            <a:ext cx="685800" cy="384048"/>
          </a:xfrm>
          <a:prstGeom prst="rect">
            <a:avLst/>
          </a:prstGeom>
          <a:solidFill>
            <a:srgbClr val="DEEAF6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69080" y="1188720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069080" y="1572768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069080" y="1920240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069080" y="2267712"/>
            <a:ext cx="685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754880" y="1188720"/>
            <a:ext cx="2103120" cy="384048"/>
          </a:xfrm>
          <a:prstGeom prst="rect">
            <a:avLst/>
          </a:prstGeom>
          <a:solidFill>
            <a:srgbClr val="DEEAF6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0" y="1188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probable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754880" y="1572768"/>
            <a:ext cx="2103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754880" y="1920240"/>
            <a:ext cx="2103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754880" y="2267712"/>
            <a:ext cx="2103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858000" y="1188720"/>
            <a:ext cx="1737360" cy="384048"/>
          </a:xfrm>
          <a:prstGeom prst="rect">
            <a:avLst/>
          </a:prstGeom>
          <a:solidFill>
            <a:srgbClr val="DEEAF6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858000" y="11887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Parade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858000" y="1572768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858000" y="1920240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858000" y="2267712"/>
            <a:ext cx="1737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2E539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7200" y="24871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page par spécialité · une entrée par point perdu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457200" y="292608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F2F2F2"/>
          </a:solidFill>
          <a:ln/>
        </p:spPr>
      </p:sp>
      <p:sp>
        <p:nvSpPr>
          <p:cNvPr id="38" name="Text 35"/>
          <p:cNvSpPr/>
          <p:nvPr/>
        </p:nvSpPr>
        <p:spPr>
          <a:xfrm>
            <a:off x="685800" y="30175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de 10 minutes par copie.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Au-delà, on ne le fera plus.</a:t>
            </a:r>
            <a:endParaRPr lang="en-US" sz="1700" dirty="0"/>
          </a:p>
        </p:txBody>
      </p:sp>
      <p:sp>
        <p:nvSpPr>
          <p:cNvPr id="39" name="Shape 36"/>
          <p:cNvSpPr/>
          <p:nvPr/>
        </p:nvSpPr>
        <p:spPr>
          <a:xfrm>
            <a:off x="4617720" y="2926080"/>
            <a:ext cx="3977640" cy="1371600"/>
          </a:xfrm>
          <a:prstGeom prst="roundRect">
            <a:avLst>
              <a:gd name="adj" fmla="val 6667"/>
            </a:avLst>
          </a:prstGeom>
          <a:solidFill>
            <a:srgbClr val="DEEAF6"/>
          </a:solidFill>
          <a:ln/>
        </p:spPr>
      </p:sp>
      <p:sp>
        <p:nvSpPr>
          <p:cNvPr id="40" name="Text 37"/>
          <p:cNvSpPr/>
          <p:nvPr/>
        </p:nvSpPr>
        <p:spPr>
          <a:xfrm>
            <a:off x="4846320" y="30175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à J−2 de chaque DS.</a:t>
            </a:r>
            <a:endParaRPr lang="en-US" sz="17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C’est la relecture qui le transforme en points.</a:t>
            </a:r>
            <a:endParaRPr lang="en-US" sz="1700" dirty="0"/>
          </a:p>
        </p:txBody>
      </p:sp>
      <p:sp>
        <p:nvSpPr>
          <p:cNvPr id="42" name="Text 38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· écran 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 n°2 : seul, 10 minutes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457200" y="1234440"/>
            <a:ext cx="4572000" cy="2651760"/>
          </a:xfrm>
          <a:prstGeom prst="roundRect">
            <a:avLst>
              <a:gd name="adj" fmla="val 3448"/>
            </a:avLst>
          </a:prstGeom>
          <a:solidFill>
            <a:srgbClr val="F2F2F2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1371600"/>
            <a:ext cx="4114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Mêmes gestes.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Seul, sans aide.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C’est le format définitif : une copie s’analyse en moins de 10 minutes.</a:t>
            </a: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endParaRPr lang="en-US" sz="2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points perdus, rien d’autre.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394960" y="1234440"/>
            <a:ext cx="3200400" cy="2651760"/>
          </a:xfrm>
          <a:prstGeom prst="roundRect">
            <a:avLst>
              <a:gd name="adj" fmla="val 4138"/>
            </a:avLst>
          </a:prstGeom>
          <a:solidFill>
            <a:srgbClr val="F2F2F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8" y="238658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61888" y="1307592"/>
            <a:ext cx="2542032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4400" dirty="0"/>
          </a:p>
        </p:txBody>
      </p:sp>
      <p:sp>
        <p:nvSpPr>
          <p:cNvPr id="11" name="Text 7"/>
          <p:cNvSpPr/>
          <p:nvPr/>
        </p:nvSpPr>
        <p:spPr>
          <a:xfrm>
            <a:off x="5394960" y="35570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457200" y="40690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copie ? Copie d’entraînement au bureau — le geste est le même.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· écran 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croisée des journaux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Binôme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9601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Échangez vos journaux. Sur chaque « cause probable », deux questions :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4937760" cy="960120"/>
          </a:xfrm>
          <a:prstGeom prst="roundRect">
            <a:avLst>
              <a:gd name="adj" fmla="val 9524"/>
            </a:avLst>
          </a:prstGeom>
          <a:solidFill>
            <a:srgbClr val="F2F2F2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137160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fait, ou une excuse ?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457200" y="2468880"/>
            <a:ext cx="4937760" cy="1097280"/>
          </a:xfrm>
          <a:prstGeom prst="roundRect">
            <a:avLst>
              <a:gd name="adj" fmla="val 8333"/>
            </a:avLst>
          </a:prstGeom>
          <a:solidFill>
            <a:srgbClr val="DEEAF6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2542032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L’« inattention » que tu as notée :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referais-tu juste demain, seul ?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760720" y="1371600"/>
            <a:ext cx="2834640" cy="1508760"/>
          </a:xfrm>
          <a:prstGeom prst="roundRect">
            <a:avLst>
              <a:gd name="adj" fmla="val 7273"/>
            </a:avLst>
          </a:prstGeom>
          <a:solidFill>
            <a:srgbClr val="F2F2F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1888" y="1952244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27648" y="1444752"/>
            <a:ext cx="2176272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3800" dirty="0"/>
          </a:p>
        </p:txBody>
      </p:sp>
      <p:sp>
        <p:nvSpPr>
          <p:cNvPr id="14" name="Text 10"/>
          <p:cNvSpPr/>
          <p:nvPr/>
        </p:nvSpPr>
        <p:spPr>
          <a:xfrm>
            <a:off x="5760720" y="25511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57200" y="379476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lecteur peut barrer une cause et en proposer une autre au crayon. L’auteur tranche.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· écran 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stratégie, une seule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566928" cy="566928"/>
          </a:xfrm>
          <a:prstGeom prst="ellipse">
            <a:avLst/>
          </a:prstGeom>
          <a:solidFill>
            <a:srgbClr val="1F3864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29768"/>
            <a:ext cx="292608" cy="2926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635240" y="89611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Individuel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457200" y="9601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famille qui vous coûte le plus de points → une action pour le prochain DS.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137160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DEEAF6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481328"/>
            <a:ext cx="466344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</a:t>
            </a:r>
            <a:pPr indent="0" marL="0"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[un moment précis du DS ou de sa préparation]</a:t>
            </a:r>
            <a:endParaRPr lang="en-US" sz="2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alors </a:t>
            </a:r>
            <a:pPr indent="0" marL="0">
              <a:spcAft>
                <a:spcPts val="1000"/>
              </a:spcAft>
              <a:buNone/>
            </a:pPr>
            <a:r>
              <a:rPr lang="en-US" sz="1500" i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[une action, une seule]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5943600" y="1371600"/>
            <a:ext cx="2651760" cy="1737360"/>
          </a:xfrm>
          <a:prstGeom prst="roundRect">
            <a:avLst>
              <a:gd name="adj" fmla="val 6316"/>
            </a:avLst>
          </a:prstGeom>
          <a:solidFill>
            <a:srgbClr val="F2F2F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2066544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10528" y="1444752"/>
            <a:ext cx="1993392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7:00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5943600" y="277977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 projeté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57200" y="3291840"/>
            <a:ext cx="8138160" cy="1097280"/>
          </a:xfrm>
          <a:prstGeom prst="roundRect">
            <a:avLst>
              <a:gd name="adj" fmla="val 8333"/>
            </a:avLst>
          </a:prstGeom>
          <a:solidFill>
            <a:srgbClr val="F2F2F2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" y="3383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spc="6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vérifiabilité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la fin du DS, je peux répondre à « l’ai-je fait ? » par oui ou par non.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· écran 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écrite et engagement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de méthodes · page « Retour d’information »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2 premières entrées de journal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617720" y="1234440"/>
            <a:ext cx="39776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800600" y="1234440"/>
            <a:ext cx="3611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stratégie « quand… alors… »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8138160" cy="1965960"/>
          </a:xfrm>
          <a:prstGeom prst="roundRect">
            <a:avLst>
              <a:gd name="adj" fmla="val 4651"/>
            </a:avLst>
          </a:prstGeom>
          <a:solidFill>
            <a:srgbClr val="2E5395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12848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700"/>
              </a:spcAft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ENGAGEMENT · UN MOIS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copie rendue entre au journal, en moins de 10 minutes.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relis mon journal à J−2 de chaque DS.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tiens ma stratégie au prochain DS.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coche la grille chaque semaine — bilan à la prochaine vie de classe, point complet à J+30.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2519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E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3 · « L’erreur est une information, pas une punition »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635240" y="482803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· écran 9 / 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E2 · Le journal d’erreurs — 1re</dc:title>
  <dc:subject>PptxGenJS Presentation</dc:subject>
  <dc:creator>Institut Stanislas de Cannes</dc:creator>
  <cp:lastModifiedBy>Institut Stanislas de Cannes</cp:lastModifiedBy>
  <cp:revision>1</cp:revision>
  <dcterms:created xsi:type="dcterms:W3CDTF">2026-07-18T07:46:28Z</dcterms:created>
  <dcterms:modified xsi:type="dcterms:W3CDTF">2026-07-18T07:46:28Z</dcterms:modified>
</cp:coreProperties>
</file>