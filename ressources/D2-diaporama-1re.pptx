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0–5 min · Accroche (classe). Deux questions à main levée : « qui refait les exercices dans l’ordre du cours ? qui refait ceux qu’il a déjà réussis, parce que ça rassure ? » Compter sans commenter. Puis : « au DS, l’exercice arrive-t-il avec une étiquette qui dit quelle méthode utiliser ? » Enchaîner sur l’expérience. VIGILANCE : ne pas prononcer le mot « intercalage » ni annoncer ce que l’expérience démontre — faire d’abord, nommer ensuite.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5–20 min · Phase 2, série A (individuel, 4 min chrono). Distribuer le support 1 (variante choisie), face Série A visible. Lancement : « Série A : trois exercices du même type. La méthode est la même pour les trois, elle est rappelée en haut. Quatre minutes, seul, sans document. À vous. » Minuteur projeté. NE PAS AIDER. À la fin : « stylo posé, tournez la feuille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2, série B (individuel, 5 min chrono). Lancement : « Série B : trois exercices, même difficulté de calcul, mais les types sont mélangés et rien ne vous dit lequel est lequel. Première étape de chaque exercice : identifier ce qu’on vous demande. Cinq minutes, seul, sans document. » NE PAS AIDER, tenir le chrono à la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2, correction éclair (3 min, classe). Chacun compte ses réussites en A et en B. Relevé à deux mains levées, les deux nombres écrits au tableau. Résultat fréquent : scores plus bas en B. S’ils sont identiques, ce n’est pas grave : c’est le ressenti de l’écran suivant qui porte la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2, ressenti (2 min, classe). Deux mains levées : plus d’effort en A / en B. Résultat attendu : quasi-unanimité sur B. Puis recueillir 2 ou 3 formulations d’élèves ; la réponse clé ressemble à « il fallait d’abord trouver quoi faire ». L’écrire au tableau telle quelle : elle sert d’appui à tout le nommage qui suit.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20–28 min · Nommage, idée 1 (classe). S’appuyer sur les chiffres et la phrase du tableau. Trois idées en 8 minutes maximum, pas une de plus : ici la première. Ne pas transformer cette phase en cours sur la mémoire.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Nommage, idées 2 et 3 (classe). Dire ce que montrent les études : entraînement mélangé = moins bons scores pendant, meilleurs scores au test final, surtout en mathématiques. Si un élève objecte que dix minutes ne prouvent rien : lui donner raison. L’expérience du jour fait ressentir la différence d’effort ; la preuve d’efficacité vient des études citées, menées avec tests différés.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28–45 min · Atelier (individuel, 17 min). Lancement : « Sortez le manuel de la spécialité de votre prochain DS, votre agenda, et le support 2. Vous construisez la série que vous ferez réellement. » Circuler et opposer trois refus : la série triée (types groupés = série A reconstruite), la série déjà faite (exercices corrigés en classe : on teste la mémoire du corrigé, pas la méthode), la session fantôme (« je la ferai ce week-end »). Élève sans manuel : binôme avec un camarade de la même spécialité, il note les références.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de support, laissé projeté pendant tout l’atelier. Les cinq étapes sont reprises à l’identique sur le support 2. Vigilance : ne pas accepter une série sans sources exactes (page, numéro) — une série « dans la tête » ne sera pas faite.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d’atelier, avertissement obligatoire (écueil principal de la séance). Un élève non prévenu qui échoue à sa première série mélangée abandonne immédiatement la méthode. Le dire mot pour mot avant le contrôle croisé.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45–52 min · Contrôle croisé (binôme, 7 min). Arbitrages : DS à moins de 7 jours → sessions à J−4 et J−2, on ne renonce pas au principe. Chapitre à un seul type d’exercice → élargir au chapitre précédent de la même spécialité (c’est aussi de la réactivation, lien B3). Désaccord sur le « tenable » → question de C3 : « à cette heure-là ce jour-là, sais-tu exactement ce que tu fais à la minute une ?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52–55 min · Trace écrite et transfert (individuel). Support 4 à coller au carnet, page « Engagement actif ». Vérifier en circulant que les deux dates de session sont recopiées sur la trace écrite ET présentes dans l’agenda. Météo du transfert à la prochaine vie de classe (« qui a fait sa session J−7, ou l’a calée ? », deux témoignages, relance). Après le DS : débrief à question unique — « la série mélangée a-t-elle changé quelque chose ? » — à croiser avec le journal d’erreurs E2 (la famille « méthode » a-t-elle reculé 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D2 · 1re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Mélanger pour maîtriser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Refaire les exercices dans l’ordre du cours : est-ce que ça marche 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417320" y="288036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2E5395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971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· ENGAGEMENT ACTIF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n’apprends que si je fais l’effort de chercher 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 Apprendre à apprendre » · Institut Stanislas de Cannes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207008"/>
            <a:ext cx="4901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exercices du même type.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est donnée en haut de la série.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2304288"/>
            <a:ext cx="490118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Seul, sans document. Pliez la feuille sous le trait : le corrigé reste caché.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26480" y="14173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9293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93408" y="1490472"/>
            <a:ext cx="18105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6126480" y="2459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· écran 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207008"/>
            <a:ext cx="4901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exercices, types mélangés.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vous dit lequel est lequel.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5303520" cy="960120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2304288"/>
            <a:ext cx="4901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de chaque exercice :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ce qu’on me demande.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126480" y="14173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9293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93408" y="1490472"/>
            <a:ext cx="18105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6126480" y="2459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· écran 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et scores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794760" cy="1051560"/>
          </a:xfrm>
          <a:prstGeom prst="roundRect">
            <a:avLst>
              <a:gd name="adj" fmla="val 8696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252728"/>
            <a:ext cx="33924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A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/ 3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26280" y="1188720"/>
            <a:ext cx="3794760" cy="1051560"/>
          </a:xfrm>
          <a:prstGeom prst="roundRect">
            <a:avLst>
              <a:gd name="adj" fmla="val 8696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4727448" y="1252728"/>
            <a:ext cx="33924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B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/ 3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DEEAF6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2532888"/>
            <a:ext cx="7461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Dépliez le corrigé. Comptez vos réussites, sans demi-point.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57200" y="34747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2E5395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3538728"/>
            <a:ext cx="7461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 levées : qui a 3/3 en A ?   ·   qui a 3/3 en B 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· écran 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ressenti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7863840" cy="9144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298448"/>
            <a:ext cx="7461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série vous a demandé le plus d’effort ?  A  ou  B 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7863840" cy="9144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2441448"/>
            <a:ext cx="7461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qu’est-ce qui était difficile en B, exactement ?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3474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phrase de la classe s’écrit au tableau.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· écran 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venez de vivre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79476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252728"/>
            <a:ext cx="33924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A · pratique bloquée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type est connu d’avance : on exécute.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26280" y="1188720"/>
            <a:ext cx="3794760" cy="1371600"/>
          </a:xfrm>
          <a:prstGeom prst="roundRect">
            <a:avLst>
              <a:gd name="adj" fmla="val 6667"/>
            </a:avLst>
          </a:prstGeom>
          <a:solidFill>
            <a:srgbClr val="DEEAF6"/>
          </a:solidFill>
          <a:ln/>
        </p:spPr>
      </p:sp>
      <p:sp>
        <p:nvSpPr>
          <p:cNvPr id="9" name="Text 6"/>
          <p:cNvSpPr/>
          <p:nvPr/>
        </p:nvSpPr>
        <p:spPr>
          <a:xfrm>
            <a:off x="4727448" y="1252728"/>
            <a:ext cx="33924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B · pratique intercalée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la méthode, puis l’exécuter.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2E5395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2944368"/>
            <a:ext cx="74615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DS, c’est toujours la situation B.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· écran 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difficile pendant, plus solide après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379476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298448"/>
            <a:ext cx="33924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l’entraînement mélangé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plus bas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26280" y="1234440"/>
            <a:ext cx="3794760" cy="1234440"/>
          </a:xfrm>
          <a:prstGeom prst="roundRect">
            <a:avLst>
              <a:gd name="adj" fmla="val 7407"/>
            </a:avLst>
          </a:prstGeom>
          <a:solidFill>
            <a:srgbClr val="DEEAF6"/>
          </a:solidFill>
          <a:ln/>
        </p:spPr>
      </p:sp>
      <p:sp>
        <p:nvSpPr>
          <p:cNvPr id="9" name="Text 6"/>
          <p:cNvSpPr/>
          <p:nvPr/>
        </p:nvSpPr>
        <p:spPr>
          <a:xfrm>
            <a:off x="4727448" y="1298448"/>
            <a:ext cx="33924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test final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plus hauts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2E5395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2852928"/>
            <a:ext cx="74615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 pendant l’entraînement ≠ appris.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57200" y="3886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 intercalée : Rohrer &amp; Taylor, 2007 ; Kornell &amp; Bjork, 2008 · difficultés désirables : Bjork &amp; Bjork, 2011.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· écran 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: ma série pour le prochain 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5303520" cy="960120"/>
          </a:xfrm>
          <a:prstGeom prst="roundRect">
            <a:avLst>
              <a:gd name="adj" fmla="val 9524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207008"/>
            <a:ext cx="4901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+ agenda + support 2.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votre prochain DS réel.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5303520" cy="960120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2350008"/>
            <a:ext cx="4901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à 8 exercices inédits · au moins 3 types · ordre mélangé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42900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2E5395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3493008"/>
            <a:ext cx="49011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des deux : jamais deux exercices du même type à la suite.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34086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93408" y="1901952"/>
            <a:ext cx="18105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6126480" y="28712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· écran 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étapes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52144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52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111556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les types d’exercices du chapitre du DS.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1728216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16916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6 à 8 exercices inédits, au moins 3 types.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304288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226771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Mélanger : jamais deux du même type à la suite.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400" y="2843784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 la source exacte : page, numéro.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57200" y="3456432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456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" y="34198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sessions dans l’agenda : J−7 et J−3, avec date, heure, numéros.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7200" y="4023360"/>
            <a:ext cx="7406640" cy="5486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4087368"/>
            <a:ext cx="7004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 : les exercices déjà corrigés en classe.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· écran 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commencer, un avertissement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7863840" cy="9144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252728"/>
            <a:ext cx="7461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vos sessions : vous réussirez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bien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et ce sera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lent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7863840" cy="914400"/>
          </a:xfrm>
          <a:prstGeom prst="roundRect">
            <a:avLst>
              <a:gd name="adj" fmla="val 10000"/>
            </a:avLst>
          </a:prstGeom>
          <a:solidFill>
            <a:srgbClr val="2E5395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2350008"/>
            <a:ext cx="7461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n’est pas la méthode qui échoue — c’est elle qui travaille.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338328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DEEAF6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3447288"/>
            <a:ext cx="74615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l’entraînement est confortable, changez d’entraînement.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· écran 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croisé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207008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Échangez support 2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agenda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1929384"/>
            <a:ext cx="274320" cy="2743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929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1874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Mélange réel : jamais deux types à la suite, au moins 3 types ?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57200" y="2587752"/>
            <a:ext cx="274320" cy="2743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25328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exactes, exercices inédits ?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3246120"/>
            <a:ext cx="274320" cy="2743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31912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sessions écrites dans l’agenda, J−7 et J−3, tenables ?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457200" y="3931920"/>
            <a:ext cx="5303520" cy="5486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" y="3995928"/>
            <a:ext cx="4901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« non » = on corrige maintenant, puis on signe.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26480" y="20116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523744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693408" y="2084832"/>
            <a:ext cx="18105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</a:t>
            </a:r>
            <a:endParaRPr lang="en-US" sz="4000" dirty="0"/>
          </a:p>
        </p:txBody>
      </p:sp>
      <p:sp>
        <p:nvSpPr>
          <p:cNvPr id="22" name="Text 18"/>
          <p:cNvSpPr/>
          <p:nvPr/>
        </p:nvSpPr>
        <p:spPr>
          <a:xfrm>
            <a:off x="6126480" y="3054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· écran 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écrite et engagement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méthodes · page « Engagement actif 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1381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 pendant l’entraînement ≠ appris.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1381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mélange les types : au DS, personne ne me dira quelle méthode utiliser.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1381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86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sessions écrites — J−7 et J−3 — cours fermé, erreurs au journal.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138160" cy="1371600"/>
          </a:xfrm>
          <a:prstGeom prst="roundRect">
            <a:avLst>
              <a:gd name="adj" fmla="val 6667"/>
            </a:avLst>
          </a:prstGeom>
          <a:solidFill>
            <a:srgbClr val="2E539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1752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ENGAGEMENT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mes deux sessions avant le DS — série mélangée en main, cours fermé.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coche ma grille après chaque session — bilan à la prochaine vie de classe, et débrief après le DS.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· écran 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Institut Stanislas de Cannes</dc:creator>
  <cp:lastModifiedBy>Institut Stanislas de Cannes</cp:lastModifiedBy>
  <cp:revision>1</cp:revision>
  <dcterms:created xsi:type="dcterms:W3CDTF">2026-07-18T08:00:58Z</dcterms:created>
  <dcterms:modified xsi:type="dcterms:W3CDTF">2026-07-18T08:00:58Z</dcterms:modified>
</cp:coreProperties>
</file>