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Écran 1 · phase 0-8 min. Ouvrir sans préambule : cette séance porte sur l'anticipation, pas sur la volonté. Vérifier d'un regard que les agendas sont sortis et ouverts ; les élèves sans agenda travailleront depuis l'ENT projeté. Distribuer le jeu de supports maintenant. Rappel du pilier : consolidation — c'est le même pilier que la séance sur les fiches.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Écran 2 · 0-8 min, phase binôme (4 min). Lancement : « Voici la semaine de Sacha, élève de 2de. Elle s'est mal passée — mais pas parce que Sacha est paresseux. En binôme, 4 minutes : trouvez trois failles de pilotage. » Chrono 4:00. Vigilance : dès qu'une réponse vise la personne (« il est sur son téléphone »), relancer avec la question-test projetée. Support 1 en 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Écran 3 · 4-8 min, mise en commun (4 min). Recueillir d'abord les propositions de la classe au tableau, en deux colonnes « faille » / « ce que ça coûte », puis projeter cet écran comme synthèse. Corrigé complet en section 7 du guide (4 failles ; la quatrième — rien n'est décidé à l'avance — sert d'appui à la règle du dimanche soir). Ne pas dépasser la minute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Écran 4 · 8-15 min (classe). Verbatim : « Trois règles suffisent à empêcher la semaine de Sacha. Trois, pas dix. Vous les appliquerez à votre propre semaine dans cinq minutes. » Illustrer chaque règle sur le cas : le DS de SES pour la règle 1, l'exposé pour la règle 2. Donner l'exemple d'action : « avancer l'exposé » n'est pas une action ; « lister 5 idées et choisir 3 documents » en est une. Ne pas développer le modèle TMT au-delà de la phrase projetée.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Écran 5 · 8-15 min (suite). Verbatim : « Deux fois 30-45 minutes en s'interrogeant valent mieux que deux heures la veille. » Faire le lien explicite avec la séance B2 : les fiches converties en questions servent exactement à ces deux préparations. Enchaîner sans commentaire supplémentaire vers la phase d'application : la démonstration a déjà eu lieu en octobre.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Écran 6 · 15-22 min (individuel, 7 min). Lancement : « À vous, sur votre vraie semaine. Agenda ouvert. 7 minutes pour recenser tout ce qui est daté d'ici 14 jours. » Projeter le cahier de textes de l'ENT de la classe pendant toute la phase. Circuler et vérifier surtout l'exhaustivité : un radar à trois lignes est presque toujours incomplet. Chrono 7:00.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Écran 7 · 22-30 min (individuel, 8 min). Lancement : « Choisissez le plus gros travail de votre radar — celui devant lequel vous tournez. Découpez-le. » Circuler avec une seule question, répétée : « concrètement, tu fais quoi pendant ces 30 minutes ? à quoi vois-tu que c'est fini ? ». C'est ici que se joue la séance : ne laisser passer aucune action floue. Chrono 8:00.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Écran 8 · 30-40 min (individuel, 10 min). Contrôle prioritaire pendant la circulation : tout DS daté au radar doit avoir ses deux préparations placées à J−7 et J−2 — c'est la vérification la plus rentable de la séance. Rappeler aux élèves issus du collège de l'établissement qu'ils peuvent repartir de leur semaine type au carnet. Chrono 10:00.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Écran 9 · appui de la phase 15-40 min, à projeter dès que plusieurs élèves butent sur la formulation. Ces trois exemples sont volontairement issus du même DS : ils montrent qu'une préparation J−7 et une préparation J−2 n'ont pas le même contenu. Laisser l'écran affiché pendant la fin de la phase de placement.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Écran 10 · 40-50 min (binôme, 8 min). Lancement : « Échangez vos supports 2, 3 et 4. Trois questions, seulement trois. » Arbitrer avec le critère unique projeté. Si un binôme repère un oubli au radar, l'ajout se fait immédiatement, pendant la phase. Double signature au support 5 avant de passer à la trace écrite.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Écran 11 · 50-55 min (individuel). Verbatim : « Trace écrite au carnet, page Consolidation : les trois règles, et votre rituel du dimanche soir. Au format que vous connaissez : quand dimanche 19 h, alors radar. » Exiger une heure écrite, pas « le dimanche ». Incompressible : personne ne sort sans son rituel daté au carnet et sa grille de semaine remplie. Annoncer le suivi : trois lundis de suite, « qui a fait son radar hier soir ? », plus la météo du transfert à la prochaine vie de classe.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200" kern="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C2 · Classe de seconde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Anticiper : planifier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semaine au lycée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radar, mes actions, mes préparations de DS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417320" y="2880360"/>
            <a:ext cx="6309360" cy="1051560"/>
          </a:xfrm>
          <a:prstGeom prst="roundRect">
            <a:avLst>
              <a:gd name="adj" fmla="val 8696"/>
            </a:avLst>
          </a:prstGeom>
          <a:solidFill>
            <a:srgbClr val="2E5395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297180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4 · CONSOLIDATION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Répéter dans le temps, et dormir, gravent ce que j’ai appris 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Dispositif « Apprendre à apprendre » · Institut Stanislas de Cannes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cas Sacha, élève de 2de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Binôme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DEEAF6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" y="128016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Douze jours pour un exposé. Un DS de SES découvert la veille à 22 h.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contrôle de maths relu la veille pendant 1 h 45.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57200" y="274320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vous, en binôme : trouvez </a:t>
            </a:r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failles de pilotage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défauts de sa semaine — pas des défauts de sa personne.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457200" y="37490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: si Sacha était très courageux, le problème disparaîtrait-il ? Si oui, cherchez encore.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09360" y="1828800"/>
            <a:ext cx="2286000" cy="1280160"/>
          </a:xfrm>
          <a:prstGeom prst="roundRect">
            <a:avLst>
              <a:gd name="adj" fmla="val 8571"/>
            </a:avLst>
          </a:prstGeom>
          <a:solidFill>
            <a:srgbClr val="F2F2F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229514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76288" y="1901952"/>
            <a:ext cx="1627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4:00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6309360" y="27797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· écran 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a fait dérailler sa semaine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8138160" cy="960120"/>
          </a:xfrm>
          <a:prstGeom prst="roundRect">
            <a:avLst>
              <a:gd name="adj" fmla="val 9524"/>
            </a:avLst>
          </a:prstGeom>
          <a:solidFill>
            <a:srgbClr val="F2F2F2"/>
          </a:solidFill>
          <a:ln/>
        </p:spPr>
      </p:sp>
      <p:sp>
        <p:nvSpPr>
          <p:cNvPr id="7" name="Shape 4"/>
          <p:cNvSpPr/>
          <p:nvPr/>
        </p:nvSpPr>
        <p:spPr>
          <a:xfrm>
            <a:off x="685800" y="1472184"/>
            <a:ext cx="384048" cy="3840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472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34440" y="1316736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DS n’était sur aucun radar.</a:t>
            </a:r>
            <a:endParaRPr lang="en-US" sz="15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Découvert la veille à 22 h, par un message de camarade.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457200" y="2304288"/>
            <a:ext cx="8138160" cy="960120"/>
          </a:xfrm>
          <a:prstGeom prst="roundRect">
            <a:avLst>
              <a:gd name="adj" fmla="val 9524"/>
            </a:avLst>
          </a:prstGeom>
          <a:solidFill>
            <a:srgbClr val="DEEAF6"/>
          </a:solidFill>
          <a:ln/>
        </p:spPr>
      </p:sp>
      <p:sp>
        <p:nvSpPr>
          <p:cNvPr id="11" name="Shape 8"/>
          <p:cNvSpPr/>
          <p:nvPr/>
        </p:nvSpPr>
        <p:spPr>
          <a:xfrm>
            <a:off x="685800" y="2587752"/>
            <a:ext cx="384048" cy="3840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234440" y="2432304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L’exposé est resté un bloc énorme et flou.</a:t>
            </a:r>
            <a:endParaRPr lang="en-US" sz="15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Douze jours de « je m’y mets ce week-end ».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457200" y="3419856"/>
            <a:ext cx="8138160" cy="960120"/>
          </a:xfrm>
          <a:prstGeom prst="roundRect">
            <a:avLst>
              <a:gd name="adj" fmla="val 9524"/>
            </a:avLst>
          </a:prstGeom>
          <a:solidFill>
            <a:srgbClr val="F2F2F2"/>
          </a:solidFill>
          <a:ln/>
        </p:spPr>
      </p:sp>
      <p:sp>
        <p:nvSpPr>
          <p:cNvPr id="15" name="Shape 12"/>
          <p:cNvSpPr/>
          <p:nvPr/>
        </p:nvSpPr>
        <p:spPr>
          <a:xfrm>
            <a:off x="685800" y="3703320"/>
            <a:ext cx="384048" cy="3840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234440" y="3547872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maths ont été relues la veille.</a:t>
            </a:r>
            <a:endParaRPr lang="en-US" sz="15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le soir même. Envolé au DS.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· écran 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règles pour ne pas être Sacha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8138160" cy="1234440"/>
          </a:xfrm>
          <a:prstGeom prst="roundRect">
            <a:avLst>
              <a:gd name="adj" fmla="val 7407"/>
            </a:avLst>
          </a:prstGeom>
          <a:solidFill>
            <a:srgbClr val="F2F2F2"/>
          </a:solidFill>
          <a:ln/>
        </p:spPr>
      </p:sp>
      <p:sp>
        <p:nvSpPr>
          <p:cNvPr id="7" name="Shape 4"/>
          <p:cNvSpPr/>
          <p:nvPr/>
        </p:nvSpPr>
        <p:spPr>
          <a:xfrm>
            <a:off x="685800" y="1572768"/>
            <a:ext cx="420624" cy="420624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572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80160" y="1298448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ce qui est daté entre dans mon radar J+14.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DS, exposés, travaux à rendre, oraux. Ce qui n’est pas sur le radar me tombe dessus.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2514600"/>
            <a:ext cx="8138160" cy="1234440"/>
          </a:xfrm>
          <a:prstGeom prst="roundRect">
            <a:avLst>
              <a:gd name="adj" fmla="val 7407"/>
            </a:avLst>
          </a:prstGeom>
          <a:solidFill>
            <a:srgbClr val="DEEAF6"/>
          </a:solidFill>
          <a:ln/>
        </p:spPr>
      </p:sp>
      <p:sp>
        <p:nvSpPr>
          <p:cNvPr id="11" name="Shape 8"/>
          <p:cNvSpPr/>
          <p:nvPr/>
        </p:nvSpPr>
        <p:spPr>
          <a:xfrm>
            <a:off x="685800" y="2944368"/>
            <a:ext cx="420624" cy="420624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280160" y="2670048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gros travail = des actions de 30 à 45 minutes.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verbe précis, une date, et on sait à quoi c’est fini.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57200" y="39319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Proche, petit, précis : ça se commence. Loin, gros, flou : ça se repousse.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57200" y="45902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la procrastination — Steel, 2007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· écran 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troisième règle : préparer deux fois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8138160" cy="137160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/>
        </p:spPr>
      </p:sp>
      <p:sp>
        <p:nvSpPr>
          <p:cNvPr id="7" name="Shape 4"/>
          <p:cNvSpPr/>
          <p:nvPr/>
        </p:nvSpPr>
        <p:spPr>
          <a:xfrm>
            <a:off x="685800" y="1636776"/>
            <a:ext cx="420624" cy="420624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636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80160" y="1298448"/>
            <a:ext cx="7132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DS se prépare deux fois : à J−7, puis à J−2.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fois 30 à 45 minutes, en m’interrogeant avec mes fiches — pas en relisant.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2697480"/>
            <a:ext cx="8138160" cy="777240"/>
          </a:xfrm>
          <a:prstGeom prst="roundRect">
            <a:avLst>
              <a:gd name="adj" fmla="val 11765"/>
            </a:avLst>
          </a:prstGeom>
          <a:solidFill>
            <a:srgbClr val="DEEAF6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27889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l’avez mesuré avec le quiz : ce qu’on relit la veille semble su, et s’évapore.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7200" y="36576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Espacer, c’est graver.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457200" y="45902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Pratique espacée — Cepeda et al., 2006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· écran 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 · Mon radar J+14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DEEAF6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298448"/>
            <a:ext cx="4983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2, agenda ouvert.</a:t>
            </a:r>
            <a:endParaRPr lang="en-US" sz="16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ce qui est daté d’ici 14 jours : une ligne, une date exacte.</a:t>
            </a:r>
            <a:endParaRPr lang="en-US" sz="16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Croisez trois sources : agenda, cahier de textes de l’ENT, mémoire.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6309360" y="1645920"/>
            <a:ext cx="2286000" cy="1280160"/>
          </a:xfrm>
          <a:prstGeom prst="roundRect">
            <a:avLst>
              <a:gd name="adj" fmla="val 8571"/>
            </a:avLst>
          </a:prstGeom>
          <a:solidFill>
            <a:srgbClr val="F2F2F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2112264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76288" y="1719072"/>
            <a:ext cx="1627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7:00</a:t>
            </a:r>
            <a:endParaRPr lang="en-US" sz="4000" dirty="0"/>
          </a:p>
        </p:txBody>
      </p:sp>
      <p:sp>
        <p:nvSpPr>
          <p:cNvPr id="11" name="Text 7"/>
          <p:cNvSpPr/>
          <p:nvPr/>
        </p:nvSpPr>
        <p:spPr>
          <a:xfrm>
            <a:off x="6309360" y="25968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57200" y="34747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oubli au radar, c’est une semaine de Sacha en préparation.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57200" y="39776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pas à jour ? Travaillez depuis l’ENT projeté ; première action du soir : le remettre à jour.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· écran 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 · Découper mon plus gros travail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DEEAF6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298448"/>
            <a:ext cx="4983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3 : le plus gros travail de votre radar.</a:t>
            </a:r>
            <a:endParaRPr lang="en-US" sz="16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à 5 actions de 30 à 45 minutes.</a:t>
            </a:r>
            <a:endParaRPr lang="en-US" sz="16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Chacune : un verbe précis, une date, « fini quand… ».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6309360" y="1463040"/>
            <a:ext cx="2286000" cy="1280160"/>
          </a:xfrm>
          <a:prstGeom prst="roundRect">
            <a:avLst>
              <a:gd name="adj" fmla="val 8571"/>
            </a:avLst>
          </a:prstGeom>
          <a:solidFill>
            <a:srgbClr val="F2F2F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1929384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76288" y="1536192"/>
            <a:ext cx="1627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8:00</a:t>
            </a:r>
            <a:endParaRPr lang="en-US" sz="4000" dirty="0"/>
          </a:p>
        </p:txBody>
      </p:sp>
      <p:sp>
        <p:nvSpPr>
          <p:cNvPr id="11" name="Text 7"/>
          <p:cNvSpPr/>
          <p:nvPr/>
        </p:nvSpPr>
        <p:spPr>
          <a:xfrm>
            <a:off x="6309360" y="2414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3200400"/>
            <a:ext cx="8138160" cy="1234440"/>
          </a:xfrm>
          <a:prstGeom prst="roundRect">
            <a:avLst>
              <a:gd name="adj" fmla="val 7407"/>
            </a:avLst>
          </a:prstGeom>
          <a:solidFill>
            <a:srgbClr val="F2F2F2"/>
          </a:solidFill>
          <a:ln/>
        </p:spPr>
      </p:sp>
      <p:sp>
        <p:nvSpPr>
          <p:cNvPr id="13" name="Text 9"/>
          <p:cNvSpPr/>
          <p:nvPr/>
        </p:nvSpPr>
        <p:spPr>
          <a:xfrm>
            <a:off x="685800" y="3310128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INTERDIT 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avancer l’exposé », « réviser les maths », « m’y mettre ».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ATTENDU 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lister 5 idées et choisir le plan — 40 min, mercredi 14 h ».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· écran 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 · Placer sur mes 14 jours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DEEAF6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298448"/>
            <a:ext cx="4983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4, en deux temps.</a:t>
            </a:r>
            <a:endParaRPr lang="en-US" sz="16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DS du radar reçoit ses deux préparations : J−7, puis J−2.</a:t>
            </a:r>
            <a:endParaRPr lang="en-US" sz="16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 chaque action du support 3 rejoint sa case, avec son heure.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6309360" y="1645920"/>
            <a:ext cx="2286000" cy="1280160"/>
          </a:xfrm>
          <a:prstGeom prst="roundRect">
            <a:avLst>
              <a:gd name="adj" fmla="val 8571"/>
            </a:avLst>
          </a:prstGeom>
          <a:solidFill>
            <a:srgbClr val="F2F2F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2112264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76288" y="1719072"/>
            <a:ext cx="1627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</a:t>
            </a:r>
            <a:endParaRPr lang="en-US" sz="3600" dirty="0"/>
          </a:p>
        </p:txBody>
      </p:sp>
      <p:sp>
        <p:nvSpPr>
          <p:cNvPr id="11" name="Text 7"/>
          <p:cNvSpPr/>
          <p:nvPr/>
        </p:nvSpPr>
        <p:spPr>
          <a:xfrm>
            <a:off x="6309360" y="25968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57200" y="35661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avez une semaine type du collège ? Placez dans vos créneaux existants.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7200" y="4023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dimanche porte déjà une action obligatoire : « radar, 15 min ».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· écran 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action qui se déclenche toute seule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8138160" cy="731520"/>
          </a:xfrm>
          <a:prstGeom prst="roundRect">
            <a:avLst>
              <a:gd name="adj" fmla="val 12500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261872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Mercredi 14 h — lister 5 idées et choisir le plan (40 min).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457200" y="2057400"/>
            <a:ext cx="8138160" cy="731520"/>
          </a:xfrm>
          <a:prstGeom prst="roundRect">
            <a:avLst>
              <a:gd name="adj" fmla="val 12500"/>
            </a:avLst>
          </a:prstGeom>
          <a:solidFill>
            <a:srgbClr val="DEEAF6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130552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Samedi 10 h — préparation DS de maths J−7 : fiche de récupération, cahier fermé (40 min).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457200" y="2926080"/>
            <a:ext cx="8138160" cy="731520"/>
          </a:xfrm>
          <a:prstGeom prst="roundRect">
            <a:avLst>
              <a:gd name="adj" fmla="val 12500"/>
            </a:avLst>
          </a:prstGeom>
          <a:solidFill>
            <a:srgbClr val="F2F2F2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2999232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Jeudi 18 h — préparation DS de maths J−2 : les 5 questions ratées, refaites (30 min).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457200" y="38862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jour, une heure, un verbe précis. Sinon, ça ne se déclenchera pas.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· écran 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croisé : trois questions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Binôme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5669280" cy="640080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/>
        </p:spPr>
      </p:sp>
      <p:sp>
        <p:nvSpPr>
          <p:cNvPr id="7" name="Shape 4"/>
          <p:cNvSpPr/>
          <p:nvPr/>
        </p:nvSpPr>
        <p:spPr>
          <a:xfrm>
            <a:off x="658368" y="1316736"/>
            <a:ext cx="384048" cy="3840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" y="1316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07008" y="123444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d’oublié au radar ?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457200" y="1965960"/>
            <a:ext cx="5669280" cy="640080"/>
          </a:xfrm>
          <a:prstGeom prst="roundRect">
            <a:avLst>
              <a:gd name="adj" fmla="val 14286"/>
            </a:avLst>
          </a:prstGeom>
          <a:solidFill>
            <a:srgbClr val="DEEAF6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" y="2093976"/>
            <a:ext cx="384048" cy="3840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" y="2093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207008" y="20116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actions sont-elles assez petites et précises ?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457200" y="2743200"/>
            <a:ext cx="5669280" cy="640080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/>
        </p:spPr>
      </p:sp>
      <p:sp>
        <p:nvSpPr>
          <p:cNvPr id="15" name="Shape 12"/>
          <p:cNvSpPr/>
          <p:nvPr/>
        </p:nvSpPr>
        <p:spPr>
          <a:xfrm>
            <a:off x="658368" y="2871216"/>
            <a:ext cx="384048" cy="3840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6" name="Text 13"/>
          <p:cNvSpPr/>
          <p:nvPr/>
        </p:nvSpPr>
        <p:spPr>
          <a:xfrm>
            <a:off x="658368" y="2871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207008" y="27889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DS a-t-il ses deux préparations, à J−7 puis J−2 ?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6400800" y="1691640"/>
            <a:ext cx="2194560" cy="1234440"/>
          </a:xfrm>
          <a:prstGeom prst="roundRect">
            <a:avLst>
              <a:gd name="adj" fmla="val 8889"/>
            </a:avLst>
          </a:prstGeom>
          <a:solidFill>
            <a:srgbClr val="F2F2F2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2135124"/>
            <a:ext cx="347472" cy="34747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967728" y="1764792"/>
            <a:ext cx="153619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8:00</a:t>
            </a:r>
            <a:endParaRPr lang="en-US" sz="4000" dirty="0"/>
          </a:p>
        </p:txBody>
      </p:sp>
      <p:sp>
        <p:nvSpPr>
          <p:cNvPr id="21" name="Text 17"/>
          <p:cNvSpPr/>
          <p:nvPr/>
        </p:nvSpPr>
        <p:spPr>
          <a:xfrm>
            <a:off x="6400800" y="25968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57200" y="36576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 de doute : « est-ce que ça se déclenche tout seul le jour dit, ou faudra-t-il encore réfléchir ? »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457200" y="41148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Corrigez ce qui doit l’être, puis signez tous les deux (support 5).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· écran 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trace écrite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Carnet de méthodes · page « Consolidation »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13816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170432"/>
            <a:ext cx="329184" cy="329184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170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4128" y="1097280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ce qui est daté entre dans mon radar J+14.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813816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737360"/>
            <a:ext cx="329184" cy="329184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737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24128" y="1664208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gros travail = des actions de 30 à 45 min, datées.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231136"/>
            <a:ext cx="813816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2304288"/>
            <a:ext cx="329184" cy="329184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304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24128" y="2231136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DS se prépare à J−7 puis à J−2, en m’interrogeant.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8138160" cy="1737360"/>
          </a:xfrm>
          <a:prstGeom prst="roundRect">
            <a:avLst>
              <a:gd name="adj" fmla="val 5263"/>
            </a:avLst>
          </a:prstGeom>
          <a:solidFill>
            <a:srgbClr val="2E5395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99923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ENGAGEMENT · DEUX DIMANCHES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3310128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dimanche à ____ h, alors mon radar — 15 minutes, agenda ouvert.</a:t>
            </a:r>
            <a:endParaRPr lang="en-US" sz="15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mets à jour mon radar, je découpe, je place.</a:t>
            </a:r>
            <a:endParaRPr lang="en-US" sz="15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5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coche la grille chaque dimanche — bilan à la prochaine vie de classe.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· écran 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C2 · Anticiper : planifier sa semaine au lycée — 2de</dc:title>
  <dc:subject>PptxGenJS Presentation</dc:subject>
  <dc:creator>Institut Stanislas de Cannes</dc:creator>
  <cp:lastModifiedBy>Institut Stanislas de Cannes</cp:lastModifiedBy>
  <cp:revision>1</cp:revision>
  <dcterms:created xsi:type="dcterms:W3CDTF">2026-07-18T07:08:52Z</dcterms:created>
  <dcterms:modified xsi:type="dcterms:W3CDTF">2026-07-18T07:08:52Z</dcterms:modified>
</cp:coreProperties>
</file>