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Lancement (phase 1, 0-12 min). À dire : « En 1re, vous avez appris à piloter un trimestre. La Terminale ne se pilote pas trimestre par trimestre : tout converge vers juin — les écrits, le Grand Oral — pendant que Parcoursup avance en parallèle et que chacune de vos moyennes compte déjà. Aujourd’hui on pose l’année entière sur une ligne, on repère où ça va frotter, et on décide dès septembre comment tenir jusqu’en juin. » Vigilance : annoncer dès maintenant la règle de l’heure — on planifie, on n’oriente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secondes maximum. Les questions d’orientation sont notées et renvoyées aux temps dédiés — une phrase, pas un débat. Rappel : les coefficients de Terminale (EDS 16 + 16, philosophie 8, Grand Oral 10) sont à revalider avant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Calendrier consolidé de l’année projeté à côté (matériel bloquant, préparé avant la séance). Construire la ligne septembre → juillet au tableau avec la classe. Deux insistances : le Grand Oral dès septembre ; tout ce qui est daté entre sur la ligne. Relance : « Qui a une échéance que personne n’a encore citée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individuel. Circuler et vérifier l’exhaustivité : bacs blancs, jalons Parcoursup, philosophie, écrits, Grand Oral, résultats. Ne pas laisser un élève rester sur une ligne partielle : c’est la base des quatre phases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en binôme. Circuler, faire verbaliser. Ne pas donner les collisions maintenant : elles sont nommées à l’écran suivant, à partir de ce que les binômes ont trouvé. C’est le « faire d’abord »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Partir des trouvailles des binômes, puis nommer les trois collisions types. Enchaîner immédiatement sur la semaine type : c’est la réponse concrète aux collisions.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écran, deux minutes. Les cinq règles seront appliquées immédiatement à l’atelier suivant : ne pas développer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individuel. Circuler : refuser les semaines héroïques (sept soirs pleins + week-end complet : ce plan casse en novembre) et les créneaux sans contenu par défaut. Vérifier la présence du créneau orientation et du tampon. Faire écrire une heure de coucher réaliste en bas de la grille.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 d’atelier, 2 minutes. Chacun coche les cinq cases avant de montrer sa grille. Une case non cochée = une correction immédiate, pas une remarque pour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minutes, agenda en main (support 4). Faire poser 9 à 10 dates réelles. 3 minutes de téléphone autorisées pour les rappels numériques, annoncer les deux bornes à voix haute. Vérifier que les dates sont dans l’agenda, pas seulement sur la feuille ; refuser « je le ferai de tête ». Annoncer B4 : la matrice de maîtrise viendra alimenter ce rendez-vous dès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incompressible. À dire : « Carnet de méthodes, page Consolidation. Vous y mettez votre ligne de temps, vos trois collisions, votre semaine type et vos dates de rendez-vous mensuels. Engagement : tenir la semaine type quatorze jours, en entourant chaque créneau honoré. » Suivi : météo du transfert à J+14 (main levée — qui a tenu au moins 10 jours sur 14 ? ; deux témoignages ; relance), puis point mensuel de 5 minutes couplé à B4 jusqu’aux écrits.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640080" y="777240"/>
            <a:ext cx="7863840" cy="365760"/>
          </a:xfrm>
          <a:prstGeom prst="rect">
            <a:avLst/>
          </a:prstGeom>
          <a:noFill/>
          <a:ln/>
        </p:spPr>
        <p:txBody>
          <a:bodyPr wrap="square" lIns="0" tIns="0" rIns="0" bIns="0" rtlCol="0" anchor="ctr"/>
          <a:lstStyle/>
          <a:p>
            <a:pPr algn="ctr" indent="0" marL="0">
              <a:buNone/>
            </a:pPr>
            <a:r>
              <a:rPr lang="en-US" sz="1500" spc="200" kern="0" dirty="0">
                <a:solidFill>
                  <a:srgbClr val="DEEAF6"/>
                </a:solidFill>
                <a:latin typeface="Calibri" pitchFamily="34" charset="0"/>
                <a:ea typeface="Calibri" pitchFamily="34" charset="-122"/>
                <a:cs typeface="Calibri" pitchFamily="34" charset="-120"/>
              </a:rPr>
              <a:t>Vie de classe · Terminale</a:t>
            </a:r>
            <a:endParaRPr lang="en-US" sz="1500" dirty="0"/>
          </a:p>
        </p:txBody>
      </p:sp>
      <p:sp>
        <p:nvSpPr>
          <p:cNvPr id="3" name="Text 1"/>
          <p:cNvSpPr/>
          <p:nvPr/>
        </p:nvSpPr>
        <p:spPr>
          <a:xfrm>
            <a:off x="640080" y="1188720"/>
            <a:ext cx="7863840"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Piloter l’année de Terminale</a:t>
            </a:r>
            <a:endParaRPr lang="en-US" sz="4400" dirty="0"/>
          </a:p>
        </p:txBody>
      </p:sp>
      <p:sp>
        <p:nvSpPr>
          <p:cNvPr id="4" name="Text 2"/>
          <p:cNvSpPr/>
          <p:nvPr/>
        </p:nvSpPr>
        <p:spPr>
          <a:xfrm>
            <a:off x="640080" y="2011680"/>
            <a:ext cx="7863840" cy="502920"/>
          </a:xfrm>
          <a:prstGeom prst="rect">
            <a:avLst/>
          </a:prstGeom>
          <a:noFill/>
          <a:ln/>
        </p:spPr>
        <p:txBody>
          <a:bodyPr wrap="square" lIns="0" tIns="0" rIns="0" bIns="0" rtlCol="0" anchor="ctr"/>
          <a:lstStyle/>
          <a:p>
            <a:pPr algn="ctr" indent="0" marL="0">
              <a:buNone/>
            </a:pPr>
            <a:r>
              <a:rPr lang="en-US" sz="2200" i="1" dirty="0">
                <a:solidFill>
                  <a:srgbClr val="DEEAF6"/>
                </a:solidFill>
                <a:latin typeface="Calibri" pitchFamily="34" charset="0"/>
                <a:ea typeface="Calibri" pitchFamily="34" charset="-122"/>
                <a:cs typeface="Calibri" pitchFamily="34" charset="-120"/>
              </a:rPr>
              <a:t>Tout converge vers juin. Tout compte dès septembre.</a:t>
            </a:r>
            <a:endParaRPr lang="en-US" sz="2200" dirty="0"/>
          </a:p>
        </p:txBody>
      </p:sp>
      <p:sp>
        <p:nvSpPr>
          <p:cNvPr id="5" name="Shape 3"/>
          <p:cNvSpPr/>
          <p:nvPr/>
        </p:nvSpPr>
        <p:spPr>
          <a:xfrm>
            <a:off x="1417320" y="2880360"/>
            <a:ext cx="6309360" cy="1051560"/>
          </a:xfrm>
          <a:prstGeom prst="roundRect">
            <a:avLst>
              <a:gd name="adj" fmla="val 8696"/>
            </a:avLst>
          </a:prstGeom>
          <a:solidFill>
            <a:srgbClr val="2E5395"/>
          </a:solidFill>
          <a:ln/>
        </p:spPr>
      </p:sp>
      <p:sp>
        <p:nvSpPr>
          <p:cNvPr id="6" name="Text 4"/>
          <p:cNvSpPr/>
          <p:nvPr/>
        </p:nvSpPr>
        <p:spPr>
          <a:xfrm>
            <a:off x="1600200" y="2971800"/>
            <a:ext cx="5943600" cy="868680"/>
          </a:xfrm>
          <a:prstGeom prst="rect">
            <a:avLst/>
          </a:prstGeom>
          <a:noFill/>
          <a:ln/>
        </p:spPr>
        <p:txBody>
          <a:bodyPr wrap="square" lIns="0" tIns="0" rIns="0" bIns="0" rtlCol="0" anchor="ctr"/>
          <a:lstStyle/>
          <a:p>
            <a:pPr algn="ctr" indent="0" marL="0">
              <a:spcAft>
                <a:spcPts val="400"/>
              </a:spcAft>
              <a:buNone/>
            </a:pPr>
            <a:r>
              <a:rPr lang="en-US" sz="1400" b="1" spc="150" kern="0" dirty="0">
                <a:solidFill>
                  <a:srgbClr val="FFFFFF"/>
                </a:solidFill>
                <a:latin typeface="Calibri" pitchFamily="34" charset="0"/>
                <a:ea typeface="Calibri" pitchFamily="34" charset="-122"/>
                <a:cs typeface="Calibri" pitchFamily="34" charset="-120"/>
              </a:rPr>
              <a:t>PILIER 4 · CONSOLIDATION</a:t>
            </a:r>
            <a:endParaRPr lang="en-US" sz="1400" dirty="0"/>
          </a:p>
          <a:p>
            <a:pPr algn="ctr" indent="0" marL="0">
              <a:spcAft>
                <a:spcPts val="400"/>
              </a:spcAft>
              <a:buNone/>
            </a:pPr>
            <a:r>
              <a:rPr lang="en-US" sz="1800" i="1" dirty="0">
                <a:solidFill>
                  <a:srgbClr val="FFFFFF"/>
                </a:solidFill>
                <a:latin typeface="Calibri" pitchFamily="34" charset="0"/>
                <a:ea typeface="Calibri" pitchFamily="34" charset="-122"/>
                <a:cs typeface="Calibri" pitchFamily="34" charset="-120"/>
              </a:rPr>
              <a:t>« Répéter dans le temps, et dormir, gravent ce que j’ai appris »</a:t>
            </a:r>
            <a:endParaRPr lang="en-US" sz="1400" dirty="0"/>
          </a:p>
        </p:txBody>
      </p:sp>
      <p:sp>
        <p:nvSpPr>
          <p:cNvPr id="7" name="Text 5"/>
          <p:cNvSpPr/>
          <p:nvPr/>
        </p:nvSpPr>
        <p:spPr>
          <a:xfrm>
            <a:off x="640080" y="4526280"/>
            <a:ext cx="7863840" cy="320040"/>
          </a:xfrm>
          <a:prstGeom prst="rect">
            <a:avLst/>
          </a:prstGeom>
          <a:noFill/>
          <a:ln/>
        </p:spPr>
        <p:txBody>
          <a:bodyPr wrap="square" lIns="0" tIns="0" rIns="0" bIns="0" rtlCol="0" anchor="ctr"/>
          <a:lstStyle/>
          <a:p>
            <a:pPr algn="ctr" indent="0" marL="0">
              <a:buNone/>
            </a:pPr>
            <a:r>
              <a:rPr lang="en-US" sz="1100" dirty="0">
                <a:solidFill>
                  <a:srgbClr val="DEEAF6"/>
                </a:solidFill>
                <a:latin typeface="Calibri" pitchFamily="34" charset="0"/>
                <a:ea typeface="Calibri" pitchFamily="34" charset="-122"/>
                <a:cs typeface="Calibri" pitchFamily="34" charset="-120"/>
              </a:rPr>
              <a:t>Dispositif « Apprendre à apprendre » · Institut Stanislas de Cannes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L’année en une phrase</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Classe entière</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2 / 11</a:t>
            </a:r>
            <a:endParaRPr lang="en-US" sz="900" dirty="0"/>
          </a:p>
        </p:txBody>
      </p:sp>
      <p:sp>
        <p:nvSpPr>
          <p:cNvPr id="7" name="Shape 4"/>
          <p:cNvSpPr/>
          <p:nvPr/>
        </p:nvSpPr>
        <p:spPr>
          <a:xfrm>
            <a:off x="457200" y="1188720"/>
            <a:ext cx="7040880" cy="868680"/>
          </a:xfrm>
          <a:prstGeom prst="roundRect">
            <a:avLst>
              <a:gd name="adj" fmla="val 10526"/>
            </a:avLst>
          </a:prstGeom>
          <a:solidFill>
            <a:srgbClr val="DEEAF6"/>
          </a:solidFill>
          <a:ln/>
        </p:spPr>
      </p:sp>
      <p:sp>
        <p:nvSpPr>
          <p:cNvPr id="8" name="Text 5"/>
          <p:cNvSpPr/>
          <p:nvPr/>
        </p:nvSpPr>
        <p:spPr>
          <a:xfrm>
            <a:off x="640080" y="1188720"/>
            <a:ext cx="6675120" cy="868680"/>
          </a:xfrm>
          <a:prstGeom prst="rect">
            <a:avLst/>
          </a:prstGeom>
          <a:noFill/>
          <a:ln/>
        </p:spPr>
        <p:txBody>
          <a:bodyPr wrap="square" lIns="0" tIns="0" rIns="0" bIns="0" rtlCol="0" anchor="ctr"/>
          <a:lstStyle/>
          <a:p>
            <a:pPr algn="ctr" indent="0" marL="0">
              <a:buNone/>
            </a:pPr>
            <a:r>
              <a:rPr lang="en-US" sz="2400" b="1" dirty="0">
                <a:solidFill>
                  <a:srgbClr val="1F3864"/>
                </a:solidFill>
                <a:latin typeface="Calibri" pitchFamily="34" charset="0"/>
                <a:ea typeface="Calibri" pitchFamily="34" charset="-122"/>
                <a:cs typeface="Calibri" pitchFamily="34" charset="-120"/>
              </a:rPr>
              <a:t>Tout converge vers juin. Tout compte dès septembre.</a:t>
            </a:r>
            <a:endParaRPr lang="en-US" sz="2400" dirty="0"/>
          </a:p>
        </p:txBody>
      </p:sp>
      <p:sp>
        <p:nvSpPr>
          <p:cNvPr id="9" name="Shape 6"/>
          <p:cNvSpPr/>
          <p:nvPr/>
        </p:nvSpPr>
        <p:spPr>
          <a:xfrm>
            <a:off x="457200" y="2286000"/>
            <a:ext cx="2194560" cy="1051560"/>
          </a:xfrm>
          <a:prstGeom prst="roundRect">
            <a:avLst>
              <a:gd name="adj" fmla="val 8696"/>
            </a:avLst>
          </a:prstGeom>
          <a:solidFill>
            <a:srgbClr val="F2F2F2"/>
          </a:solidFill>
          <a:ln/>
        </p:spPr>
      </p:sp>
      <p:sp>
        <p:nvSpPr>
          <p:cNvPr id="10" name="Text 7"/>
          <p:cNvSpPr/>
          <p:nvPr/>
        </p:nvSpPr>
        <p:spPr>
          <a:xfrm>
            <a:off x="566928" y="2286000"/>
            <a:ext cx="1975104" cy="1051560"/>
          </a:xfrm>
          <a:prstGeom prst="rect">
            <a:avLst/>
          </a:prstGeom>
          <a:noFill/>
          <a:ln/>
        </p:spPr>
        <p:txBody>
          <a:bodyPr wrap="square" lIns="0" tIns="0" rIns="0" bIns="0" rtlCol="0" anchor="ctr"/>
          <a:lstStyle/>
          <a:p>
            <a:pPr algn="ctr" indent="0" marL="0">
              <a:buNone/>
            </a:pPr>
            <a:r>
              <a:rPr lang="en-US" sz="1500" dirty="0">
                <a:solidFill>
                  <a:srgbClr val="2B2B2B"/>
                </a:solidFill>
                <a:latin typeface="Calibri" pitchFamily="34" charset="0"/>
                <a:ea typeface="Calibri" pitchFamily="34" charset="-122"/>
                <a:cs typeface="Calibri" pitchFamily="34" charset="-120"/>
              </a:rPr>
              <a:t>Écrits + Grand Oral</a:t>
            </a:r>
            <a:endParaRPr lang="en-US" sz="1500" dirty="0"/>
          </a:p>
          <a:p>
            <a:pPr algn="ctr" indent="0" marL="0">
              <a:buNone/>
            </a:pPr>
            <a:r>
              <a:rPr lang="en-US" sz="1500" dirty="0">
                <a:solidFill>
                  <a:srgbClr val="2B2B2B"/>
                </a:solidFill>
                <a:latin typeface="Calibri" pitchFamily="34" charset="0"/>
                <a:ea typeface="Calibri" pitchFamily="34" charset="-122"/>
                <a:cs typeface="Calibri" pitchFamily="34" charset="-120"/>
              </a:rPr>
              <a:t>en juin</a:t>
            </a:r>
            <a:endParaRPr lang="en-US" sz="1500" dirty="0"/>
          </a:p>
        </p:txBody>
      </p:sp>
      <p:sp>
        <p:nvSpPr>
          <p:cNvPr id="11" name="Shape 8"/>
          <p:cNvSpPr/>
          <p:nvPr/>
        </p:nvSpPr>
        <p:spPr>
          <a:xfrm>
            <a:off x="2880360" y="2286000"/>
            <a:ext cx="2194560" cy="1051560"/>
          </a:xfrm>
          <a:prstGeom prst="roundRect">
            <a:avLst>
              <a:gd name="adj" fmla="val 8696"/>
            </a:avLst>
          </a:prstGeom>
          <a:solidFill>
            <a:srgbClr val="F2F2F2"/>
          </a:solidFill>
          <a:ln/>
        </p:spPr>
      </p:sp>
      <p:sp>
        <p:nvSpPr>
          <p:cNvPr id="12" name="Text 9"/>
          <p:cNvSpPr/>
          <p:nvPr/>
        </p:nvSpPr>
        <p:spPr>
          <a:xfrm>
            <a:off x="2990088" y="2286000"/>
            <a:ext cx="1975104" cy="1051560"/>
          </a:xfrm>
          <a:prstGeom prst="rect">
            <a:avLst/>
          </a:prstGeom>
          <a:noFill/>
          <a:ln/>
        </p:spPr>
        <p:txBody>
          <a:bodyPr wrap="square" lIns="0" tIns="0" rIns="0" bIns="0" rtlCol="0" anchor="ctr"/>
          <a:lstStyle/>
          <a:p>
            <a:pPr algn="ctr" indent="0" marL="0">
              <a:buNone/>
            </a:pPr>
            <a:r>
              <a:rPr lang="en-US" sz="1500" dirty="0">
                <a:solidFill>
                  <a:srgbClr val="2B2B2B"/>
                </a:solidFill>
                <a:latin typeface="Calibri" pitchFamily="34" charset="0"/>
                <a:ea typeface="Calibri" pitchFamily="34" charset="-122"/>
                <a:cs typeface="Calibri" pitchFamily="34" charset="-120"/>
              </a:rPr>
              <a:t>Parcoursup</a:t>
            </a:r>
            <a:endParaRPr lang="en-US" sz="1500" dirty="0"/>
          </a:p>
          <a:p>
            <a:pPr algn="ctr" indent="0" marL="0">
              <a:buNone/>
            </a:pPr>
            <a:r>
              <a:rPr lang="en-US" sz="1500" dirty="0">
                <a:solidFill>
                  <a:srgbClr val="2B2B2B"/>
                </a:solidFill>
                <a:latin typeface="Calibri" pitchFamily="34" charset="0"/>
                <a:ea typeface="Calibri" pitchFamily="34" charset="-122"/>
                <a:cs typeface="Calibri" pitchFamily="34" charset="-120"/>
              </a:rPr>
              <a:t>en parallèle</a:t>
            </a:r>
            <a:endParaRPr lang="en-US" sz="1500" dirty="0"/>
          </a:p>
        </p:txBody>
      </p:sp>
      <p:sp>
        <p:nvSpPr>
          <p:cNvPr id="13" name="Shape 10"/>
          <p:cNvSpPr/>
          <p:nvPr/>
        </p:nvSpPr>
        <p:spPr>
          <a:xfrm>
            <a:off x="5303520" y="2286000"/>
            <a:ext cx="2194560" cy="1051560"/>
          </a:xfrm>
          <a:prstGeom prst="roundRect">
            <a:avLst>
              <a:gd name="adj" fmla="val 8696"/>
            </a:avLst>
          </a:prstGeom>
          <a:solidFill>
            <a:srgbClr val="F2F2F2"/>
          </a:solidFill>
          <a:ln/>
        </p:spPr>
      </p:sp>
      <p:sp>
        <p:nvSpPr>
          <p:cNvPr id="14" name="Text 11"/>
          <p:cNvSpPr/>
          <p:nvPr/>
        </p:nvSpPr>
        <p:spPr>
          <a:xfrm>
            <a:off x="5413248" y="2286000"/>
            <a:ext cx="1975104" cy="1051560"/>
          </a:xfrm>
          <a:prstGeom prst="rect">
            <a:avLst/>
          </a:prstGeom>
          <a:noFill/>
          <a:ln/>
        </p:spPr>
        <p:txBody>
          <a:bodyPr wrap="square" lIns="0" tIns="0" rIns="0" bIns="0" rtlCol="0" anchor="ctr"/>
          <a:lstStyle/>
          <a:p>
            <a:pPr algn="ctr" indent="0" marL="0">
              <a:buNone/>
            </a:pPr>
            <a:r>
              <a:rPr lang="en-US" sz="1500" dirty="0">
                <a:solidFill>
                  <a:srgbClr val="2B2B2B"/>
                </a:solidFill>
                <a:latin typeface="Calibri" pitchFamily="34" charset="0"/>
                <a:ea typeface="Calibri" pitchFamily="34" charset="-122"/>
                <a:cs typeface="Calibri" pitchFamily="34" charset="-120"/>
              </a:rPr>
              <a:t>Chaque moyenne</a:t>
            </a:r>
            <a:endParaRPr lang="en-US" sz="1500" dirty="0"/>
          </a:p>
          <a:p>
            <a:pPr algn="ctr" indent="0" marL="0">
              <a:buNone/>
            </a:pPr>
            <a:r>
              <a:rPr lang="en-US" sz="1500" dirty="0">
                <a:solidFill>
                  <a:srgbClr val="2B2B2B"/>
                </a:solidFill>
                <a:latin typeface="Calibri" pitchFamily="34" charset="0"/>
                <a:ea typeface="Calibri" pitchFamily="34" charset="-122"/>
                <a:cs typeface="Calibri" pitchFamily="34" charset="-120"/>
              </a:rPr>
              <a:t>compte déjà</a:t>
            </a:r>
            <a:endParaRPr lang="en-US" sz="1500" dirty="0"/>
          </a:p>
        </p:txBody>
      </p:sp>
      <p:sp>
        <p:nvSpPr>
          <p:cNvPr id="15" name="Shape 12"/>
          <p:cNvSpPr/>
          <p:nvPr/>
        </p:nvSpPr>
        <p:spPr>
          <a:xfrm>
            <a:off x="457200" y="3611880"/>
            <a:ext cx="7040880" cy="685800"/>
          </a:xfrm>
          <a:prstGeom prst="roundRect">
            <a:avLst>
              <a:gd name="adj" fmla="val 13333"/>
            </a:avLst>
          </a:prstGeom>
          <a:solidFill>
            <a:srgbClr val="F2F2F2"/>
          </a:solidFill>
          <a:ln/>
        </p:spPr>
      </p:sp>
      <p:sp>
        <p:nvSpPr>
          <p:cNvPr id="16" name="Text 13"/>
          <p:cNvSpPr/>
          <p:nvPr/>
        </p:nvSpPr>
        <p:spPr>
          <a:xfrm>
            <a:off x="640080" y="3611880"/>
            <a:ext cx="6675120" cy="685800"/>
          </a:xfrm>
          <a:prstGeom prst="rect">
            <a:avLst/>
          </a:prstGeom>
          <a:noFill/>
          <a:ln/>
        </p:spPr>
        <p:txBody>
          <a:bodyPr wrap="square" lIns="0" tIns="0" rIns="0" bIns="0" rtlCol="0" anchor="ctr"/>
          <a:lstStyle/>
          <a:p>
            <a:pPr indent="0" marL="0">
              <a:buNone/>
            </a:pPr>
            <a:r>
              <a:rPr lang="en-US" sz="1800" b="1" dirty="0">
                <a:solidFill>
                  <a:srgbClr val="C00000"/>
                </a:solidFill>
                <a:latin typeface="Calibri" pitchFamily="34" charset="0"/>
                <a:ea typeface="Calibri" pitchFamily="34" charset="-122"/>
                <a:cs typeface="Calibri" pitchFamily="34" charset="-120"/>
              </a:rPr>
              <a:t>Règle de l’heure : </a:t>
            </a:r>
            <a:pPr indent="0" marL="0">
              <a:buNone/>
            </a:pPr>
            <a:r>
              <a:rPr lang="en-US" sz="1800" dirty="0">
                <a:solidFill>
                  <a:srgbClr val="2B2B2B"/>
                </a:solidFill>
                <a:latin typeface="Calibri" pitchFamily="34" charset="0"/>
                <a:ea typeface="Calibri" pitchFamily="34" charset="-122"/>
                <a:cs typeface="Calibri" pitchFamily="34" charset="-120"/>
              </a:rPr>
              <a:t>on planifie, on n’oriente pas.</a:t>
            </a:r>
            <a:endParaRPr lang="en-US" sz="1800" dirty="0"/>
          </a:p>
        </p:txBody>
      </p:sp>
      <p:sp>
        <p:nvSpPr>
          <p:cNvPr id="17" name="Text 14"/>
          <p:cNvSpPr/>
          <p:nvPr/>
        </p:nvSpPr>
        <p:spPr>
          <a:xfrm>
            <a:off x="457200" y="4828032"/>
            <a:ext cx="69494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Cadre réglementaire de l’examen : 40 % contrôle continu · 60 % épreuves finales.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La ligne de l’année</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Classe entière</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3 / 11</a:t>
            </a:r>
            <a:endParaRPr lang="en-US" sz="900" dirty="0"/>
          </a:p>
        </p:txBody>
      </p:sp>
      <p:sp>
        <p:nvSpPr>
          <p:cNvPr id="7" name="Text 4"/>
          <p:cNvSpPr/>
          <p:nvPr/>
        </p:nvSpPr>
        <p:spPr>
          <a:xfrm>
            <a:off x="457200" y="1051560"/>
            <a:ext cx="7040880" cy="320040"/>
          </a:xfrm>
          <a:prstGeom prst="rect">
            <a:avLst/>
          </a:prstGeom>
          <a:noFill/>
          <a:ln/>
        </p:spPr>
        <p:txBody>
          <a:bodyPr wrap="square" lIns="0" tIns="0" rIns="0" bIns="0" rtlCol="0" anchor="ctr"/>
          <a:lstStyle/>
          <a:p>
            <a:pPr indent="0" marL="0">
              <a:buNone/>
            </a:pPr>
            <a:r>
              <a:rPr lang="en-US" sz="1700" b="1" dirty="0">
                <a:solidFill>
                  <a:srgbClr val="2B2B2B"/>
                </a:solidFill>
                <a:latin typeface="Calibri" pitchFamily="34" charset="0"/>
                <a:ea typeface="Calibri" pitchFamily="34" charset="-122"/>
                <a:cs typeface="Calibri" pitchFamily="34" charset="-120"/>
              </a:rPr>
              <a:t>Sur la ligne, tout ce qui est daté :</a:t>
            </a:r>
            <a:endParaRPr lang="en-US" sz="1700" dirty="0"/>
          </a:p>
        </p:txBody>
      </p:sp>
      <p:sp>
        <p:nvSpPr>
          <p:cNvPr id="8" name="Shape 5"/>
          <p:cNvSpPr/>
          <p:nvPr/>
        </p:nvSpPr>
        <p:spPr>
          <a:xfrm>
            <a:off x="457200" y="1463040"/>
            <a:ext cx="1618488" cy="1005840"/>
          </a:xfrm>
          <a:prstGeom prst="roundRect">
            <a:avLst>
              <a:gd name="adj" fmla="val 9091"/>
            </a:avLst>
          </a:prstGeom>
          <a:solidFill>
            <a:srgbClr val="F2F2F2"/>
          </a:solidFill>
          <a:ln/>
        </p:spPr>
      </p:sp>
      <p:sp>
        <p:nvSpPr>
          <p:cNvPr id="9" name="Text 6"/>
          <p:cNvSpPr/>
          <p:nvPr/>
        </p:nvSpPr>
        <p:spPr>
          <a:xfrm>
            <a:off x="530352" y="1463040"/>
            <a:ext cx="1472184" cy="1005840"/>
          </a:xfrm>
          <a:prstGeom prst="rect">
            <a:avLst/>
          </a:prstGeom>
          <a:noFill/>
          <a:ln/>
        </p:spPr>
        <p:txBody>
          <a:bodyPr wrap="square" lIns="0" tIns="0" rIns="0" bIns="0" rtlCol="0" anchor="ctr"/>
          <a:lstStyle/>
          <a:p>
            <a:pPr algn="ctr" indent="0" marL="0">
              <a:buNone/>
            </a:pPr>
            <a:r>
              <a:rPr lang="en-US" sz="1350" dirty="0">
                <a:solidFill>
                  <a:srgbClr val="2B2B2B"/>
                </a:solidFill>
                <a:latin typeface="Calibri" pitchFamily="34" charset="0"/>
                <a:ea typeface="Calibri" pitchFamily="34" charset="-122"/>
                <a:cs typeface="Calibri" pitchFamily="34" charset="-120"/>
              </a:rPr>
              <a:t>Bacs blancs</a:t>
            </a:r>
            <a:endParaRPr lang="en-US" sz="1350" dirty="0"/>
          </a:p>
          <a:p>
            <a:pPr algn="ctr" indent="0" marL="0">
              <a:buNone/>
            </a:pPr>
            <a:r>
              <a:rPr lang="en-US" sz="1350" dirty="0">
                <a:solidFill>
                  <a:srgbClr val="2B2B2B"/>
                </a:solidFill>
                <a:latin typeface="Calibri" pitchFamily="34" charset="0"/>
                <a:ea typeface="Calibri" pitchFamily="34" charset="-122"/>
                <a:cs typeface="Calibri" pitchFamily="34" charset="-120"/>
              </a:rPr>
              <a:t>et oraux blancs</a:t>
            </a:r>
            <a:endParaRPr lang="en-US" sz="1350" dirty="0"/>
          </a:p>
        </p:txBody>
      </p:sp>
      <p:sp>
        <p:nvSpPr>
          <p:cNvPr id="10" name="Shape 7"/>
          <p:cNvSpPr/>
          <p:nvPr/>
        </p:nvSpPr>
        <p:spPr>
          <a:xfrm>
            <a:off x="2258568" y="1463040"/>
            <a:ext cx="1618488" cy="1005840"/>
          </a:xfrm>
          <a:prstGeom prst="roundRect">
            <a:avLst>
              <a:gd name="adj" fmla="val 9091"/>
            </a:avLst>
          </a:prstGeom>
          <a:solidFill>
            <a:srgbClr val="F2F2F2"/>
          </a:solidFill>
          <a:ln/>
        </p:spPr>
      </p:sp>
      <p:sp>
        <p:nvSpPr>
          <p:cNvPr id="11" name="Text 8"/>
          <p:cNvSpPr/>
          <p:nvPr/>
        </p:nvSpPr>
        <p:spPr>
          <a:xfrm>
            <a:off x="2331720" y="1463040"/>
            <a:ext cx="1472184" cy="1005840"/>
          </a:xfrm>
          <a:prstGeom prst="rect">
            <a:avLst/>
          </a:prstGeom>
          <a:noFill/>
          <a:ln/>
        </p:spPr>
        <p:txBody>
          <a:bodyPr wrap="square" lIns="0" tIns="0" rIns="0" bIns="0" rtlCol="0" anchor="ctr"/>
          <a:lstStyle/>
          <a:p>
            <a:pPr algn="ctr" indent="0" marL="0">
              <a:buNone/>
            </a:pPr>
            <a:r>
              <a:rPr lang="en-US" sz="1350" dirty="0">
                <a:solidFill>
                  <a:srgbClr val="2B2B2B"/>
                </a:solidFill>
                <a:latin typeface="Calibri" pitchFamily="34" charset="0"/>
                <a:ea typeface="Calibri" pitchFamily="34" charset="-122"/>
                <a:cs typeface="Calibri" pitchFamily="34" charset="-120"/>
              </a:rPr>
              <a:t>Jalons</a:t>
            </a:r>
            <a:endParaRPr lang="en-US" sz="1350" dirty="0"/>
          </a:p>
          <a:p>
            <a:pPr algn="ctr" indent="0" marL="0">
              <a:buNone/>
            </a:pPr>
            <a:r>
              <a:rPr lang="en-US" sz="1350" dirty="0">
                <a:solidFill>
                  <a:srgbClr val="2B2B2B"/>
                </a:solidFill>
                <a:latin typeface="Calibri" pitchFamily="34" charset="0"/>
                <a:ea typeface="Calibri" pitchFamily="34" charset="-122"/>
                <a:cs typeface="Calibri" pitchFamily="34" charset="-120"/>
              </a:rPr>
              <a:t>Parcoursup</a:t>
            </a:r>
            <a:endParaRPr lang="en-US" sz="1350" dirty="0"/>
          </a:p>
        </p:txBody>
      </p:sp>
      <p:sp>
        <p:nvSpPr>
          <p:cNvPr id="12" name="Shape 9"/>
          <p:cNvSpPr/>
          <p:nvPr/>
        </p:nvSpPr>
        <p:spPr>
          <a:xfrm>
            <a:off x="4059936" y="1463040"/>
            <a:ext cx="1618488" cy="1005840"/>
          </a:xfrm>
          <a:prstGeom prst="roundRect">
            <a:avLst>
              <a:gd name="adj" fmla="val 9091"/>
            </a:avLst>
          </a:prstGeom>
          <a:solidFill>
            <a:srgbClr val="F2F2F2"/>
          </a:solidFill>
          <a:ln/>
        </p:spPr>
      </p:sp>
      <p:sp>
        <p:nvSpPr>
          <p:cNvPr id="13" name="Text 10"/>
          <p:cNvSpPr/>
          <p:nvPr/>
        </p:nvSpPr>
        <p:spPr>
          <a:xfrm>
            <a:off x="4133088" y="1463040"/>
            <a:ext cx="1472184" cy="1005840"/>
          </a:xfrm>
          <a:prstGeom prst="rect">
            <a:avLst/>
          </a:prstGeom>
          <a:noFill/>
          <a:ln/>
        </p:spPr>
        <p:txBody>
          <a:bodyPr wrap="square" lIns="0" tIns="0" rIns="0" bIns="0" rtlCol="0" anchor="ctr"/>
          <a:lstStyle/>
          <a:p>
            <a:pPr algn="ctr" indent="0" marL="0">
              <a:buNone/>
            </a:pPr>
            <a:r>
              <a:rPr lang="en-US" sz="1350" dirty="0">
                <a:solidFill>
                  <a:srgbClr val="2B2B2B"/>
                </a:solidFill>
                <a:latin typeface="Calibri" pitchFamily="34" charset="0"/>
                <a:ea typeface="Calibri" pitchFamily="34" charset="-122"/>
                <a:cs typeface="Calibri" pitchFamily="34" charset="-120"/>
              </a:rPr>
              <a:t>Philosophie</a:t>
            </a:r>
            <a:endParaRPr lang="en-US" sz="1350" dirty="0"/>
          </a:p>
          <a:p>
            <a:pPr algn="ctr" indent="0" marL="0">
              <a:buNone/>
            </a:pPr>
            <a:r>
              <a:rPr lang="en-US" sz="1350" dirty="0">
                <a:solidFill>
                  <a:srgbClr val="2B2B2B"/>
                </a:solidFill>
                <a:latin typeface="Calibri" pitchFamily="34" charset="0"/>
                <a:ea typeface="Calibri" pitchFamily="34" charset="-122"/>
                <a:cs typeface="Calibri" pitchFamily="34" charset="-120"/>
              </a:rPr>
              <a:t>et écrits EDS</a:t>
            </a:r>
            <a:endParaRPr lang="en-US" sz="1350" dirty="0"/>
          </a:p>
        </p:txBody>
      </p:sp>
      <p:sp>
        <p:nvSpPr>
          <p:cNvPr id="14" name="Shape 11"/>
          <p:cNvSpPr/>
          <p:nvPr/>
        </p:nvSpPr>
        <p:spPr>
          <a:xfrm>
            <a:off x="5861304" y="1463040"/>
            <a:ext cx="1618488" cy="1005840"/>
          </a:xfrm>
          <a:prstGeom prst="roundRect">
            <a:avLst>
              <a:gd name="adj" fmla="val 9091"/>
            </a:avLst>
          </a:prstGeom>
          <a:solidFill>
            <a:srgbClr val="F2F2F2"/>
          </a:solidFill>
          <a:ln/>
        </p:spPr>
      </p:sp>
      <p:sp>
        <p:nvSpPr>
          <p:cNvPr id="15" name="Text 12"/>
          <p:cNvSpPr/>
          <p:nvPr/>
        </p:nvSpPr>
        <p:spPr>
          <a:xfrm>
            <a:off x="5934456" y="1463040"/>
            <a:ext cx="1472184" cy="1005840"/>
          </a:xfrm>
          <a:prstGeom prst="rect">
            <a:avLst/>
          </a:prstGeom>
          <a:noFill/>
          <a:ln/>
        </p:spPr>
        <p:txBody>
          <a:bodyPr wrap="square" lIns="0" tIns="0" rIns="0" bIns="0" rtlCol="0" anchor="ctr"/>
          <a:lstStyle/>
          <a:p>
            <a:pPr algn="ctr" indent="0" marL="0">
              <a:buNone/>
            </a:pPr>
            <a:r>
              <a:rPr lang="en-US" sz="1350" dirty="0">
                <a:solidFill>
                  <a:srgbClr val="2B2B2B"/>
                </a:solidFill>
                <a:latin typeface="Calibri" pitchFamily="34" charset="0"/>
                <a:ea typeface="Calibri" pitchFamily="34" charset="-122"/>
                <a:cs typeface="Calibri" pitchFamily="34" charset="-120"/>
              </a:rPr>
              <a:t>Résultats</a:t>
            </a:r>
            <a:endParaRPr lang="en-US" sz="1350" dirty="0"/>
          </a:p>
          <a:p>
            <a:pPr algn="ctr" indent="0" marL="0">
              <a:buNone/>
            </a:pPr>
            <a:r>
              <a:rPr lang="en-US" sz="1350" dirty="0">
                <a:solidFill>
                  <a:srgbClr val="2B2B2B"/>
                </a:solidFill>
                <a:latin typeface="Calibri" pitchFamily="34" charset="0"/>
                <a:ea typeface="Calibri" pitchFamily="34" charset="-122"/>
                <a:cs typeface="Calibri" pitchFamily="34" charset="-120"/>
              </a:rPr>
              <a:t>et après-bac</a:t>
            </a:r>
            <a:endParaRPr lang="en-US" sz="1350" dirty="0"/>
          </a:p>
        </p:txBody>
      </p:sp>
      <p:sp>
        <p:nvSpPr>
          <p:cNvPr id="16" name="Shape 13"/>
          <p:cNvSpPr/>
          <p:nvPr/>
        </p:nvSpPr>
        <p:spPr>
          <a:xfrm>
            <a:off x="457200" y="2697480"/>
            <a:ext cx="7040880" cy="914400"/>
          </a:xfrm>
          <a:prstGeom prst="roundRect">
            <a:avLst>
              <a:gd name="adj" fmla="val 10000"/>
            </a:avLst>
          </a:prstGeom>
          <a:solidFill>
            <a:srgbClr val="DEEAF6"/>
          </a:solidFill>
          <a:ln/>
        </p:spPr>
      </p:sp>
      <p:sp>
        <p:nvSpPr>
          <p:cNvPr id="17" name="Text 14"/>
          <p:cNvSpPr/>
          <p:nvPr/>
        </p:nvSpPr>
        <p:spPr>
          <a:xfrm>
            <a:off x="685800" y="2697480"/>
            <a:ext cx="6583680" cy="914400"/>
          </a:xfrm>
          <a:prstGeom prst="rect">
            <a:avLst/>
          </a:prstGeom>
          <a:noFill/>
          <a:ln/>
        </p:spPr>
        <p:txBody>
          <a:bodyPr wrap="square" lIns="0" tIns="0" rIns="0" bIns="0" rtlCol="0" anchor="ctr"/>
          <a:lstStyle/>
          <a:p>
            <a:pPr indent="0" marL="0">
              <a:spcAft>
                <a:spcPts val="300"/>
              </a:spcAft>
              <a:buNone/>
            </a:pPr>
            <a:r>
              <a:rPr lang="en-US" sz="1800" b="1" dirty="0">
                <a:solidFill>
                  <a:srgbClr val="1F3864"/>
                </a:solidFill>
                <a:latin typeface="Calibri" pitchFamily="34" charset="0"/>
                <a:ea typeface="Calibri" pitchFamily="34" charset="-122"/>
                <a:cs typeface="Calibri" pitchFamily="34" charset="-120"/>
              </a:rPr>
              <a:t>Grand Oral : il n’a pas de case.</a:t>
            </a:r>
            <a:endParaRPr lang="en-US" sz="1800" dirty="0"/>
          </a:p>
          <a:p>
            <a:pPr indent="0" marL="0">
              <a:spcAft>
                <a:spcPts val="300"/>
              </a:spcAft>
              <a:buNone/>
            </a:pPr>
            <a:r>
              <a:rPr lang="en-US" sz="1800" dirty="0">
                <a:solidFill>
                  <a:srgbClr val="2B2B2B"/>
                </a:solidFill>
                <a:latin typeface="Calibri" pitchFamily="34" charset="0"/>
                <a:ea typeface="Calibri" pitchFamily="34" charset="-122"/>
                <a:cs typeface="Calibri" pitchFamily="34" charset="-120"/>
              </a:rPr>
              <a:t>Il traverse toute la ligne, de septembre à juin.</a:t>
            </a:r>
            <a:endParaRPr lang="en-US" sz="1800" dirty="0"/>
          </a:p>
        </p:txBody>
      </p:sp>
      <p:sp>
        <p:nvSpPr>
          <p:cNvPr id="18" name="Text 15"/>
          <p:cNvSpPr/>
          <p:nvPr/>
        </p:nvSpPr>
        <p:spPr>
          <a:xfrm>
            <a:off x="457200" y="3840480"/>
            <a:ext cx="7040880" cy="36576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Mes échéances personnelles aussi : concours, certifications, compétitions, engagements.</a:t>
            </a:r>
            <a:endParaRPr lang="en-US" sz="1500" dirty="0"/>
          </a:p>
        </p:txBody>
      </p:sp>
      <p:sp>
        <p:nvSpPr>
          <p:cNvPr id="19" name="Text 16"/>
          <p:cNvSpPr/>
          <p:nvPr/>
        </p:nvSpPr>
        <p:spPr>
          <a:xfrm>
            <a:off x="457200" y="4828032"/>
            <a:ext cx="69494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Les dates non encore publiées portent la mention [à confirmer] — elles se complètent en cours d’année.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Ma ligne à moi</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Individuel</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4 / 11</a:t>
            </a:r>
            <a:endParaRPr lang="en-US" sz="900" dirty="0"/>
          </a:p>
        </p:txBody>
      </p:sp>
      <p:sp>
        <p:nvSpPr>
          <p:cNvPr id="7" name="Shape 4"/>
          <p:cNvSpPr/>
          <p:nvPr/>
        </p:nvSpPr>
        <p:spPr>
          <a:xfrm>
            <a:off x="457200" y="1234440"/>
            <a:ext cx="5120640" cy="2651760"/>
          </a:xfrm>
          <a:prstGeom prst="roundRect">
            <a:avLst>
              <a:gd name="adj" fmla="val 3448"/>
            </a:avLst>
          </a:prstGeom>
          <a:solidFill>
            <a:srgbClr val="F2F2F2"/>
          </a:solidFill>
          <a:ln/>
        </p:spPr>
      </p:sp>
      <p:sp>
        <p:nvSpPr>
          <p:cNvPr id="8" name="Text 5"/>
          <p:cNvSpPr/>
          <p:nvPr/>
        </p:nvSpPr>
        <p:spPr>
          <a:xfrm>
            <a:off x="685800" y="1417320"/>
            <a:ext cx="4663440" cy="2286000"/>
          </a:xfrm>
          <a:prstGeom prst="rect">
            <a:avLst/>
          </a:prstGeom>
          <a:noFill/>
          <a:ln/>
        </p:spPr>
        <p:txBody>
          <a:bodyPr wrap="square" lIns="0" tIns="0" rIns="0" bIns="0" rtlCol="0" anchor="t"/>
          <a:lstStyle/>
          <a:p>
            <a:pPr indent="0" marL="0">
              <a:spcAft>
                <a:spcPts val="1000"/>
              </a:spcAft>
              <a:buNone/>
            </a:pPr>
            <a:r>
              <a:rPr lang="en-US" sz="1800" b="1" dirty="0">
                <a:solidFill>
                  <a:srgbClr val="1F3864"/>
                </a:solidFill>
                <a:latin typeface="Calibri" pitchFamily="34" charset="0"/>
                <a:ea typeface="Calibri" pitchFamily="34" charset="-122"/>
                <a:cs typeface="Calibri" pitchFamily="34" charset="-120"/>
              </a:rPr>
              <a:t>Support 1</a:t>
            </a:r>
            <a:endParaRPr lang="en-US" sz="1800" dirty="0"/>
          </a:p>
          <a:p>
            <a:pPr indent="0" marL="0">
              <a:spcAft>
                <a:spcPts val="1000"/>
              </a:spcAft>
              <a:buNone/>
            </a:pPr>
            <a:r>
              <a:rPr lang="en-US" sz="1800" dirty="0">
                <a:solidFill>
                  <a:srgbClr val="2B2B2B"/>
                </a:solidFill>
                <a:latin typeface="Calibri" pitchFamily="34" charset="0"/>
                <a:ea typeface="Calibri" pitchFamily="34" charset="-122"/>
                <a:cs typeface="Calibri" pitchFamily="34" charset="-120"/>
              </a:rPr>
              <a:t>Je recopie la ligne de temps.</a:t>
            </a:r>
            <a:endParaRPr lang="en-US" sz="1800" dirty="0"/>
          </a:p>
          <a:p>
            <a:pPr indent="0" marL="0">
              <a:spcAft>
                <a:spcPts val="1000"/>
              </a:spcAft>
              <a:buNone/>
            </a:pPr>
            <a:r>
              <a:rPr lang="en-US" sz="1800" dirty="0">
                <a:solidFill>
                  <a:srgbClr val="2B2B2B"/>
                </a:solidFill>
                <a:latin typeface="Calibri" pitchFamily="34" charset="0"/>
                <a:ea typeface="Calibri" pitchFamily="34" charset="-122"/>
                <a:cs typeface="Calibri" pitchFamily="34" charset="-120"/>
              </a:rPr>
              <a:t>J’ajoute mes échéances personnelles.</a:t>
            </a:r>
            <a:endParaRPr lang="en-US" sz="1800" dirty="0"/>
          </a:p>
          <a:p>
            <a:pPr indent="0" marL="0">
              <a:spcAft>
                <a:spcPts val="1000"/>
              </a:spcAft>
              <a:buNone/>
            </a:pPr>
            <a:r>
              <a:rPr lang="en-US" sz="1800" dirty="0">
                <a:solidFill>
                  <a:srgbClr val="2B2B2B"/>
                </a:solidFill>
                <a:latin typeface="Calibri" pitchFamily="34" charset="0"/>
                <a:ea typeface="Calibri" pitchFamily="34" charset="-122"/>
                <a:cs typeface="Calibri" pitchFamily="34" charset="-120"/>
              </a:rPr>
              <a:t>Je laisse les champs [à confirmer] tels quels.</a:t>
            </a:r>
            <a:endParaRPr lang="en-US" sz="1800" dirty="0"/>
          </a:p>
        </p:txBody>
      </p:sp>
      <p:sp>
        <p:nvSpPr>
          <p:cNvPr id="9" name="Shape 6"/>
          <p:cNvSpPr/>
          <p:nvPr/>
        </p:nvSpPr>
        <p:spPr>
          <a:xfrm>
            <a:off x="5852160" y="1783080"/>
            <a:ext cx="2651760" cy="1417320"/>
          </a:xfrm>
          <a:prstGeom prst="roundRect">
            <a:avLst>
              <a:gd name="adj" fmla="val 7742"/>
            </a:avLst>
          </a:prstGeom>
          <a:solidFill>
            <a:srgbClr val="F2F2F2"/>
          </a:solidFill>
          <a:ln/>
        </p:spPr>
      </p:sp>
      <p:pic>
        <p:nvPicPr>
          <p:cNvPr id="10" name="Image 1" descr="preencoded.png">    </p:cNvPr>
          <p:cNvPicPr>
            <a:picLocks noChangeAspect="1"/>
          </p:cNvPicPr>
          <p:nvPr/>
        </p:nvPicPr>
        <p:blipFill>
          <a:blip r:embed="rId2"/>
          <a:stretch>
            <a:fillRect/>
          </a:stretch>
        </p:blipFill>
        <p:spPr>
          <a:xfrm>
            <a:off x="6053328" y="2318004"/>
            <a:ext cx="347472" cy="347472"/>
          </a:xfrm>
          <a:prstGeom prst="rect">
            <a:avLst/>
          </a:prstGeom>
        </p:spPr>
      </p:pic>
      <p:sp>
        <p:nvSpPr>
          <p:cNvPr id="11" name="Text 7"/>
          <p:cNvSpPr/>
          <p:nvPr/>
        </p:nvSpPr>
        <p:spPr>
          <a:xfrm>
            <a:off x="6419088" y="1856232"/>
            <a:ext cx="1993392" cy="1033272"/>
          </a:xfrm>
          <a:prstGeom prst="rect">
            <a:avLst/>
          </a:prstGeom>
          <a:noFill/>
          <a:ln/>
        </p:spPr>
        <p:txBody>
          <a:bodyPr wrap="square" lIns="0" tIns="0" rIns="0" bIns="0" rtlCol="0" anchor="ctr"/>
          <a:lstStyle/>
          <a:p>
            <a:pPr algn="ctr" indent="0" marL="0">
              <a:buNone/>
            </a:pPr>
            <a:r>
              <a:rPr lang="en-US" sz="4000" b="1" dirty="0">
                <a:solidFill>
                  <a:srgbClr val="1F3864"/>
                </a:solidFill>
                <a:latin typeface="Calibri" pitchFamily="34" charset="0"/>
                <a:ea typeface="Calibri" pitchFamily="34" charset="-122"/>
                <a:cs typeface="Calibri" pitchFamily="34" charset="-120"/>
              </a:rPr>
              <a:t>6:00</a:t>
            </a:r>
            <a:endParaRPr lang="en-US" sz="4000" dirty="0"/>
          </a:p>
        </p:txBody>
      </p:sp>
      <p:sp>
        <p:nvSpPr>
          <p:cNvPr id="12" name="Text 8"/>
          <p:cNvSpPr/>
          <p:nvPr/>
        </p:nvSpPr>
        <p:spPr>
          <a:xfrm>
            <a:off x="5852160" y="2871216"/>
            <a:ext cx="2651760" cy="27432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chrono projeté</a:t>
            </a:r>
            <a:endParaRPr lang="en-US" sz="1050" dirty="0"/>
          </a:p>
        </p:txBody>
      </p:sp>
      <p:sp>
        <p:nvSpPr>
          <p:cNvPr id="13" name="Text 9"/>
          <p:cNvSpPr/>
          <p:nvPr/>
        </p:nvSpPr>
        <p:spPr>
          <a:xfrm>
            <a:off x="457200" y="4069080"/>
            <a:ext cx="7040880" cy="365760"/>
          </a:xfrm>
          <a:prstGeom prst="rect">
            <a:avLst/>
          </a:prstGeom>
          <a:noFill/>
          <a:ln/>
        </p:spPr>
        <p:txBody>
          <a:bodyPr wrap="square" lIns="0" tIns="0" rIns="0" bIns="0" rtlCol="0" anchor="ctr"/>
          <a:lstStyle/>
          <a:p>
            <a:pPr indent="0" marL="0">
              <a:buNone/>
            </a:pPr>
            <a:r>
              <a:rPr lang="en-US" sz="1500" i="1" dirty="0">
                <a:solidFill>
                  <a:srgbClr val="2B2B2B"/>
                </a:solidFill>
                <a:latin typeface="Calibri" pitchFamily="34" charset="0"/>
                <a:ea typeface="Calibri" pitchFamily="34" charset="-122"/>
                <a:cs typeface="Calibri" pitchFamily="34" charset="-120"/>
              </a:rPr>
              <a:t>Le Grand Oral figure sur votre ligne : vérifiez-le avant de poser le stylo.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Où ça frotte ?</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Binôme</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5 / 11</a:t>
            </a:r>
            <a:endParaRPr lang="en-US" sz="900" dirty="0"/>
          </a:p>
        </p:txBody>
      </p:sp>
      <p:sp>
        <p:nvSpPr>
          <p:cNvPr id="7" name="Text 4"/>
          <p:cNvSpPr/>
          <p:nvPr/>
        </p:nvSpPr>
        <p:spPr>
          <a:xfrm>
            <a:off x="457200" y="1024128"/>
            <a:ext cx="7040880" cy="347472"/>
          </a:xfrm>
          <a:prstGeom prst="rect">
            <a:avLst/>
          </a:prstGeom>
          <a:noFill/>
          <a:ln/>
        </p:spPr>
        <p:txBody>
          <a:bodyPr wrap="square" lIns="0" tIns="0" rIns="0" bIns="0" rtlCol="0" anchor="ctr"/>
          <a:lstStyle/>
          <a:p>
            <a:pPr indent="0" marL="0">
              <a:buNone/>
            </a:pPr>
            <a:r>
              <a:rPr lang="en-US" sz="1700" b="1" dirty="0">
                <a:solidFill>
                  <a:srgbClr val="2B2B2B"/>
                </a:solidFill>
                <a:latin typeface="Calibri" pitchFamily="34" charset="0"/>
                <a:ea typeface="Calibri" pitchFamily="34" charset="-122"/>
                <a:cs typeface="Calibri" pitchFamily="34" charset="-120"/>
              </a:rPr>
              <a:t>Échangez vos lignes de temps — support 2, on écrit sur les deux.</a:t>
            </a:r>
            <a:endParaRPr lang="en-US" sz="1700" dirty="0"/>
          </a:p>
        </p:txBody>
      </p:sp>
      <p:sp>
        <p:nvSpPr>
          <p:cNvPr id="8" name="Shape 5"/>
          <p:cNvSpPr/>
          <p:nvPr/>
        </p:nvSpPr>
        <p:spPr>
          <a:xfrm>
            <a:off x="457200" y="1508760"/>
            <a:ext cx="5120640" cy="548640"/>
          </a:xfrm>
          <a:prstGeom prst="roundRect">
            <a:avLst>
              <a:gd name="adj" fmla="val 16667"/>
            </a:avLst>
          </a:prstGeom>
          <a:solidFill>
            <a:srgbClr val="F2F2F2"/>
          </a:solidFill>
          <a:ln/>
        </p:spPr>
      </p:sp>
      <p:sp>
        <p:nvSpPr>
          <p:cNvPr id="9" name="Shape 6"/>
          <p:cNvSpPr/>
          <p:nvPr/>
        </p:nvSpPr>
        <p:spPr>
          <a:xfrm>
            <a:off x="603504" y="1600200"/>
            <a:ext cx="365760" cy="365760"/>
          </a:xfrm>
          <a:prstGeom prst="ellipse">
            <a:avLst/>
          </a:prstGeom>
          <a:solidFill>
            <a:srgbClr val="1F3864"/>
          </a:solidFill>
          <a:ln/>
        </p:spPr>
      </p:sp>
      <p:sp>
        <p:nvSpPr>
          <p:cNvPr id="10" name="Text 7"/>
          <p:cNvSpPr/>
          <p:nvPr/>
        </p:nvSpPr>
        <p:spPr>
          <a:xfrm>
            <a:off x="603504" y="16002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Text 8"/>
          <p:cNvSpPr/>
          <p:nvPr/>
        </p:nvSpPr>
        <p:spPr>
          <a:xfrm>
            <a:off x="1097280" y="1508760"/>
            <a:ext cx="4389120" cy="5486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Quoi en même temps ?</a:t>
            </a:r>
            <a:endParaRPr lang="en-US" sz="1600" dirty="0"/>
          </a:p>
        </p:txBody>
      </p:sp>
      <p:sp>
        <p:nvSpPr>
          <p:cNvPr id="12" name="Shape 9"/>
          <p:cNvSpPr/>
          <p:nvPr/>
        </p:nvSpPr>
        <p:spPr>
          <a:xfrm>
            <a:off x="457200" y="2167128"/>
            <a:ext cx="5120640" cy="548640"/>
          </a:xfrm>
          <a:prstGeom prst="roundRect">
            <a:avLst>
              <a:gd name="adj" fmla="val 16667"/>
            </a:avLst>
          </a:prstGeom>
          <a:solidFill>
            <a:srgbClr val="DEEAF6"/>
          </a:solidFill>
          <a:ln/>
        </p:spPr>
      </p:sp>
      <p:sp>
        <p:nvSpPr>
          <p:cNvPr id="13" name="Shape 10"/>
          <p:cNvSpPr/>
          <p:nvPr/>
        </p:nvSpPr>
        <p:spPr>
          <a:xfrm>
            <a:off x="603504" y="2258568"/>
            <a:ext cx="365760" cy="365760"/>
          </a:xfrm>
          <a:prstGeom prst="ellipse">
            <a:avLst/>
          </a:prstGeom>
          <a:solidFill>
            <a:srgbClr val="1F3864"/>
          </a:solidFill>
          <a:ln/>
        </p:spPr>
      </p:sp>
      <p:sp>
        <p:nvSpPr>
          <p:cNvPr id="14" name="Text 11"/>
          <p:cNvSpPr/>
          <p:nvPr/>
        </p:nvSpPr>
        <p:spPr>
          <a:xfrm>
            <a:off x="603504" y="22585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2"/>
          <p:cNvSpPr/>
          <p:nvPr/>
        </p:nvSpPr>
        <p:spPr>
          <a:xfrm>
            <a:off x="1097280" y="2167128"/>
            <a:ext cx="4389120" cy="5486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Quelles périodes sont calmes ?</a:t>
            </a:r>
            <a:endParaRPr lang="en-US" sz="1600" dirty="0"/>
          </a:p>
        </p:txBody>
      </p:sp>
      <p:sp>
        <p:nvSpPr>
          <p:cNvPr id="16" name="Shape 13"/>
          <p:cNvSpPr/>
          <p:nvPr/>
        </p:nvSpPr>
        <p:spPr>
          <a:xfrm>
            <a:off x="457200" y="2825496"/>
            <a:ext cx="5120640" cy="548640"/>
          </a:xfrm>
          <a:prstGeom prst="roundRect">
            <a:avLst>
              <a:gd name="adj" fmla="val 16667"/>
            </a:avLst>
          </a:prstGeom>
          <a:solidFill>
            <a:srgbClr val="F2F2F2"/>
          </a:solidFill>
          <a:ln/>
        </p:spPr>
      </p:sp>
      <p:sp>
        <p:nvSpPr>
          <p:cNvPr id="17" name="Shape 14"/>
          <p:cNvSpPr/>
          <p:nvPr/>
        </p:nvSpPr>
        <p:spPr>
          <a:xfrm>
            <a:off x="603504" y="2916936"/>
            <a:ext cx="365760" cy="365760"/>
          </a:xfrm>
          <a:prstGeom prst="ellipse">
            <a:avLst/>
          </a:prstGeom>
          <a:solidFill>
            <a:srgbClr val="1F3864"/>
          </a:solidFill>
          <a:ln/>
        </p:spPr>
      </p:sp>
      <p:sp>
        <p:nvSpPr>
          <p:cNvPr id="18" name="Text 15"/>
          <p:cNvSpPr/>
          <p:nvPr/>
        </p:nvSpPr>
        <p:spPr>
          <a:xfrm>
            <a:off x="603504" y="29169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6"/>
          <p:cNvSpPr/>
          <p:nvPr/>
        </p:nvSpPr>
        <p:spPr>
          <a:xfrm>
            <a:off x="1097280" y="2825496"/>
            <a:ext cx="4389120" cy="5486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Que déplacer vers septembre–novembre ?</a:t>
            </a:r>
            <a:endParaRPr lang="en-US" sz="1600" dirty="0"/>
          </a:p>
        </p:txBody>
      </p:sp>
      <p:sp>
        <p:nvSpPr>
          <p:cNvPr id="20" name="Shape 17"/>
          <p:cNvSpPr/>
          <p:nvPr/>
        </p:nvSpPr>
        <p:spPr>
          <a:xfrm>
            <a:off x="5852160" y="1783080"/>
            <a:ext cx="2651760" cy="1417320"/>
          </a:xfrm>
          <a:prstGeom prst="roundRect">
            <a:avLst>
              <a:gd name="adj" fmla="val 7742"/>
            </a:avLst>
          </a:prstGeom>
          <a:solidFill>
            <a:srgbClr val="F2F2F2"/>
          </a:solidFill>
          <a:ln/>
        </p:spPr>
      </p:sp>
      <p:pic>
        <p:nvPicPr>
          <p:cNvPr id="21" name="Image 1" descr="preencoded.png">    </p:cNvPr>
          <p:cNvPicPr>
            <a:picLocks noChangeAspect="1"/>
          </p:cNvPicPr>
          <p:nvPr/>
        </p:nvPicPr>
        <p:blipFill>
          <a:blip r:embed="rId2"/>
          <a:stretch>
            <a:fillRect/>
          </a:stretch>
        </p:blipFill>
        <p:spPr>
          <a:xfrm>
            <a:off x="6053328" y="2318004"/>
            <a:ext cx="347472" cy="347472"/>
          </a:xfrm>
          <a:prstGeom prst="rect">
            <a:avLst/>
          </a:prstGeom>
        </p:spPr>
      </p:pic>
      <p:sp>
        <p:nvSpPr>
          <p:cNvPr id="22" name="Text 18"/>
          <p:cNvSpPr/>
          <p:nvPr/>
        </p:nvSpPr>
        <p:spPr>
          <a:xfrm>
            <a:off x="6419088" y="1856232"/>
            <a:ext cx="1993392" cy="1033272"/>
          </a:xfrm>
          <a:prstGeom prst="rect">
            <a:avLst/>
          </a:prstGeom>
          <a:noFill/>
          <a:ln/>
        </p:spPr>
        <p:txBody>
          <a:bodyPr wrap="square" lIns="0" tIns="0" rIns="0" bIns="0" rtlCol="0" anchor="ctr"/>
          <a:lstStyle/>
          <a:p>
            <a:pPr algn="ctr" indent="0" marL="0">
              <a:buNone/>
            </a:pPr>
            <a:r>
              <a:rPr lang="en-US" sz="4000" b="1" dirty="0">
                <a:solidFill>
                  <a:srgbClr val="1F3864"/>
                </a:solidFill>
                <a:latin typeface="Calibri" pitchFamily="34" charset="0"/>
                <a:ea typeface="Calibri" pitchFamily="34" charset="-122"/>
                <a:cs typeface="Calibri" pitchFamily="34" charset="-120"/>
              </a:rPr>
              <a:t>6:00</a:t>
            </a:r>
            <a:endParaRPr lang="en-US" sz="4000" dirty="0"/>
          </a:p>
        </p:txBody>
      </p:sp>
      <p:sp>
        <p:nvSpPr>
          <p:cNvPr id="23" name="Text 19"/>
          <p:cNvSpPr/>
          <p:nvPr/>
        </p:nvSpPr>
        <p:spPr>
          <a:xfrm>
            <a:off x="5852160" y="2871216"/>
            <a:ext cx="2651760" cy="27432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chrono projeté</a:t>
            </a:r>
            <a:endParaRPr lang="en-US" sz="1050" dirty="0"/>
          </a:p>
        </p:txBody>
      </p:sp>
      <p:sp>
        <p:nvSpPr>
          <p:cNvPr id="24" name="Shape 20"/>
          <p:cNvSpPr/>
          <p:nvPr/>
        </p:nvSpPr>
        <p:spPr>
          <a:xfrm>
            <a:off x="457200" y="3611880"/>
            <a:ext cx="7040880" cy="640080"/>
          </a:xfrm>
          <a:prstGeom prst="roundRect">
            <a:avLst>
              <a:gd name="adj" fmla="val 14286"/>
            </a:avLst>
          </a:prstGeom>
          <a:solidFill>
            <a:srgbClr val="F2F2F2"/>
          </a:solidFill>
          <a:ln/>
        </p:spPr>
      </p:sp>
      <p:sp>
        <p:nvSpPr>
          <p:cNvPr id="25" name="Text 21"/>
          <p:cNvSpPr/>
          <p:nvPr/>
        </p:nvSpPr>
        <p:spPr>
          <a:xfrm>
            <a:off x="685800" y="3611880"/>
            <a:ext cx="6583680" cy="640080"/>
          </a:xfrm>
          <a:prstGeom prst="rect">
            <a:avLst/>
          </a:prstGeom>
          <a:noFill/>
          <a:ln/>
        </p:spPr>
        <p:txBody>
          <a:bodyPr wrap="square" lIns="0" tIns="0" rIns="0" bIns="0" rtlCol="0" anchor="ctr"/>
          <a:lstStyle/>
          <a:p>
            <a:pPr indent="0" marL="0">
              <a:buNone/>
            </a:pPr>
            <a:r>
              <a:rPr lang="en-US" sz="1700" b="1" dirty="0">
                <a:solidFill>
                  <a:srgbClr val="1F3864"/>
                </a:solidFill>
                <a:latin typeface="Calibri" pitchFamily="34" charset="0"/>
                <a:ea typeface="Calibri" pitchFamily="34" charset="-122"/>
                <a:cs typeface="Calibri" pitchFamily="34" charset="-120"/>
              </a:rPr>
              <a:t>Entourez les zones de collision sur les deux supports.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Les 3 collisions de l’année</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Classe entière</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6 / 11</a:t>
            </a:r>
            <a:endParaRPr lang="en-US" sz="900" dirty="0"/>
          </a:p>
        </p:txBody>
      </p:sp>
      <p:sp>
        <p:nvSpPr>
          <p:cNvPr id="7" name="Shape 4"/>
          <p:cNvSpPr/>
          <p:nvPr/>
        </p:nvSpPr>
        <p:spPr>
          <a:xfrm>
            <a:off x="457200" y="1143000"/>
            <a:ext cx="2194560" cy="1965960"/>
          </a:xfrm>
          <a:prstGeom prst="roundRect">
            <a:avLst>
              <a:gd name="adj" fmla="val 4651"/>
            </a:avLst>
          </a:prstGeom>
          <a:solidFill>
            <a:srgbClr val="F2F2F2"/>
          </a:solidFill>
          <a:ln/>
        </p:spPr>
      </p:sp>
      <p:sp>
        <p:nvSpPr>
          <p:cNvPr id="8" name="Text 5"/>
          <p:cNvSpPr/>
          <p:nvPr/>
        </p:nvSpPr>
        <p:spPr>
          <a:xfrm>
            <a:off x="566928" y="1280160"/>
            <a:ext cx="1975104" cy="365760"/>
          </a:xfrm>
          <a:prstGeom prst="rect">
            <a:avLst/>
          </a:prstGeom>
          <a:noFill/>
          <a:ln/>
        </p:spPr>
        <p:txBody>
          <a:bodyPr wrap="square" lIns="0" tIns="0" rIns="0" bIns="0" rtlCol="0" anchor="ctr"/>
          <a:lstStyle/>
          <a:p>
            <a:pPr algn="ctr" indent="0" marL="0">
              <a:buNone/>
            </a:pPr>
            <a:r>
              <a:rPr lang="en-US" sz="1700" b="1" dirty="0">
                <a:solidFill>
                  <a:srgbClr val="1F3864"/>
                </a:solidFill>
                <a:latin typeface="Calibri" pitchFamily="34" charset="0"/>
                <a:ea typeface="Calibri" pitchFamily="34" charset="-122"/>
                <a:cs typeface="Calibri" pitchFamily="34" charset="-120"/>
              </a:rPr>
              <a:t>Hiver</a:t>
            </a:r>
            <a:endParaRPr lang="en-US" sz="1700" dirty="0"/>
          </a:p>
        </p:txBody>
      </p:sp>
      <p:sp>
        <p:nvSpPr>
          <p:cNvPr id="9" name="Text 6"/>
          <p:cNvSpPr/>
          <p:nvPr/>
        </p:nvSpPr>
        <p:spPr>
          <a:xfrm>
            <a:off x="566928" y="1691640"/>
            <a:ext cx="1975104" cy="1280160"/>
          </a:xfrm>
          <a:prstGeom prst="rect">
            <a:avLst/>
          </a:prstGeom>
          <a:noFill/>
          <a:ln/>
        </p:spPr>
        <p:txBody>
          <a:bodyPr wrap="square" lIns="0" tIns="0" rIns="0" bIns="0" rtlCol="0" anchor="t"/>
          <a:lstStyle/>
          <a:p>
            <a:pPr algn="ctr" indent="0" marL="0">
              <a:buNone/>
            </a:pPr>
            <a:r>
              <a:rPr lang="en-US" sz="1400" dirty="0">
                <a:solidFill>
                  <a:srgbClr val="2B2B2B"/>
                </a:solidFill>
                <a:latin typeface="Calibri" pitchFamily="34" charset="0"/>
                <a:ea typeface="Calibri" pitchFamily="34" charset="-122"/>
                <a:cs typeface="Calibri" pitchFamily="34" charset="-120"/>
              </a:rPr>
              <a:t>Bac blanc n°1</a:t>
            </a:r>
            <a:endParaRPr lang="en-US" sz="1400" dirty="0"/>
          </a:p>
          <a:p>
            <a:pPr algn="ctr" indent="0" marL="0">
              <a:buNone/>
            </a:pPr>
            <a:r>
              <a:rPr lang="en-US" sz="1400" dirty="0">
                <a:solidFill>
                  <a:srgbClr val="2B2B2B"/>
                </a:solidFill>
                <a:latin typeface="Calibri" pitchFamily="34" charset="0"/>
                <a:ea typeface="Calibri" pitchFamily="34" charset="-122"/>
                <a:cs typeface="Calibri" pitchFamily="34" charset="-120"/>
              </a:rPr>
              <a:t>× formulation des vœux</a:t>
            </a:r>
            <a:endParaRPr lang="en-US" sz="1400" dirty="0"/>
          </a:p>
        </p:txBody>
      </p:sp>
      <p:sp>
        <p:nvSpPr>
          <p:cNvPr id="10" name="Shape 7"/>
          <p:cNvSpPr/>
          <p:nvPr/>
        </p:nvSpPr>
        <p:spPr>
          <a:xfrm>
            <a:off x="2880360" y="1143000"/>
            <a:ext cx="2194560" cy="1965960"/>
          </a:xfrm>
          <a:prstGeom prst="roundRect">
            <a:avLst>
              <a:gd name="adj" fmla="val 4651"/>
            </a:avLst>
          </a:prstGeom>
          <a:solidFill>
            <a:srgbClr val="DEEAF6"/>
          </a:solidFill>
          <a:ln/>
        </p:spPr>
      </p:sp>
      <p:sp>
        <p:nvSpPr>
          <p:cNvPr id="11" name="Text 8"/>
          <p:cNvSpPr/>
          <p:nvPr/>
        </p:nvSpPr>
        <p:spPr>
          <a:xfrm>
            <a:off x="2990088" y="1280160"/>
            <a:ext cx="1975104" cy="365760"/>
          </a:xfrm>
          <a:prstGeom prst="rect">
            <a:avLst/>
          </a:prstGeom>
          <a:noFill/>
          <a:ln/>
        </p:spPr>
        <p:txBody>
          <a:bodyPr wrap="square" lIns="0" tIns="0" rIns="0" bIns="0" rtlCol="0" anchor="ctr"/>
          <a:lstStyle/>
          <a:p>
            <a:pPr algn="ctr" indent="0" marL="0">
              <a:buNone/>
            </a:pPr>
            <a:r>
              <a:rPr lang="en-US" sz="1700" b="1" dirty="0">
                <a:solidFill>
                  <a:srgbClr val="1F3864"/>
                </a:solidFill>
                <a:latin typeface="Calibri" pitchFamily="34" charset="0"/>
                <a:ea typeface="Calibri" pitchFamily="34" charset="-122"/>
                <a:cs typeface="Calibri" pitchFamily="34" charset="-120"/>
              </a:rPr>
              <a:t>Mars–avril</a:t>
            </a:r>
            <a:endParaRPr lang="en-US" sz="1700" dirty="0"/>
          </a:p>
        </p:txBody>
      </p:sp>
      <p:sp>
        <p:nvSpPr>
          <p:cNvPr id="12" name="Text 9"/>
          <p:cNvSpPr/>
          <p:nvPr/>
        </p:nvSpPr>
        <p:spPr>
          <a:xfrm>
            <a:off x="2990088" y="1691640"/>
            <a:ext cx="1975104" cy="1280160"/>
          </a:xfrm>
          <a:prstGeom prst="rect">
            <a:avLst/>
          </a:prstGeom>
          <a:noFill/>
          <a:ln/>
        </p:spPr>
        <p:txBody>
          <a:bodyPr wrap="square" lIns="0" tIns="0" rIns="0" bIns="0" rtlCol="0" anchor="t"/>
          <a:lstStyle/>
          <a:p>
            <a:pPr algn="ctr" indent="0" marL="0">
              <a:buNone/>
            </a:pPr>
            <a:r>
              <a:rPr lang="en-US" sz="1400" dirty="0">
                <a:solidFill>
                  <a:srgbClr val="2B2B2B"/>
                </a:solidFill>
                <a:latin typeface="Calibri" pitchFamily="34" charset="0"/>
                <a:ea typeface="Calibri" pitchFamily="34" charset="-122"/>
                <a:cs typeface="Calibri" pitchFamily="34" charset="-120"/>
              </a:rPr>
              <a:t>Vœux à clore et confirmer</a:t>
            </a:r>
            <a:endParaRPr lang="en-US" sz="1400" dirty="0"/>
          </a:p>
          <a:p>
            <a:pPr algn="ctr" indent="0" marL="0">
              <a:buNone/>
            </a:pPr>
            <a:r>
              <a:rPr lang="en-US" sz="1400" dirty="0">
                <a:solidFill>
                  <a:srgbClr val="2B2B2B"/>
                </a:solidFill>
                <a:latin typeface="Calibri" pitchFamily="34" charset="0"/>
                <a:ea typeface="Calibri" pitchFamily="34" charset="-122"/>
                <a:cs typeface="Calibri" pitchFamily="34" charset="-120"/>
              </a:rPr>
              <a:t>× bac blanc n°2</a:t>
            </a:r>
            <a:endParaRPr lang="en-US" sz="1400" dirty="0"/>
          </a:p>
          <a:p>
            <a:pPr algn="ctr" indent="0" marL="0">
              <a:buNone/>
            </a:pPr>
            <a:r>
              <a:rPr lang="en-US" sz="1400" dirty="0">
                <a:solidFill>
                  <a:srgbClr val="2B2B2B"/>
                </a:solidFill>
                <a:latin typeface="Calibri" pitchFamily="34" charset="0"/>
                <a:ea typeface="Calibri" pitchFamily="34" charset="-122"/>
                <a:cs typeface="Calibri" pitchFamily="34" charset="-120"/>
              </a:rPr>
              <a:t>× montée vers les écrits</a:t>
            </a:r>
            <a:endParaRPr lang="en-US" sz="1400" dirty="0"/>
          </a:p>
        </p:txBody>
      </p:sp>
      <p:sp>
        <p:nvSpPr>
          <p:cNvPr id="13" name="Shape 10"/>
          <p:cNvSpPr/>
          <p:nvPr/>
        </p:nvSpPr>
        <p:spPr>
          <a:xfrm>
            <a:off x="5303520" y="1143000"/>
            <a:ext cx="2194560" cy="1965960"/>
          </a:xfrm>
          <a:prstGeom prst="roundRect">
            <a:avLst>
              <a:gd name="adj" fmla="val 4651"/>
            </a:avLst>
          </a:prstGeom>
          <a:solidFill>
            <a:srgbClr val="F2F2F2"/>
          </a:solidFill>
          <a:ln/>
        </p:spPr>
      </p:sp>
      <p:sp>
        <p:nvSpPr>
          <p:cNvPr id="14" name="Text 11"/>
          <p:cNvSpPr/>
          <p:nvPr/>
        </p:nvSpPr>
        <p:spPr>
          <a:xfrm>
            <a:off x="5413248" y="1280160"/>
            <a:ext cx="1975104" cy="365760"/>
          </a:xfrm>
          <a:prstGeom prst="rect">
            <a:avLst/>
          </a:prstGeom>
          <a:noFill/>
          <a:ln/>
        </p:spPr>
        <p:txBody>
          <a:bodyPr wrap="square" lIns="0" tIns="0" rIns="0" bIns="0" rtlCol="0" anchor="ctr"/>
          <a:lstStyle/>
          <a:p>
            <a:pPr algn="ctr" indent="0" marL="0">
              <a:buNone/>
            </a:pPr>
            <a:r>
              <a:rPr lang="en-US" sz="1700" b="1" dirty="0">
                <a:solidFill>
                  <a:srgbClr val="1F3864"/>
                </a:solidFill>
                <a:latin typeface="Calibri" pitchFamily="34" charset="0"/>
                <a:ea typeface="Calibri" pitchFamily="34" charset="-122"/>
                <a:cs typeface="Calibri" pitchFamily="34" charset="-120"/>
              </a:rPr>
              <a:t>Juin</a:t>
            </a:r>
            <a:endParaRPr lang="en-US" sz="1700" dirty="0"/>
          </a:p>
        </p:txBody>
      </p:sp>
      <p:sp>
        <p:nvSpPr>
          <p:cNvPr id="15" name="Text 12"/>
          <p:cNvSpPr/>
          <p:nvPr/>
        </p:nvSpPr>
        <p:spPr>
          <a:xfrm>
            <a:off x="5413248" y="1691640"/>
            <a:ext cx="1975104" cy="1280160"/>
          </a:xfrm>
          <a:prstGeom prst="rect">
            <a:avLst/>
          </a:prstGeom>
          <a:noFill/>
          <a:ln/>
        </p:spPr>
        <p:txBody>
          <a:bodyPr wrap="square" lIns="0" tIns="0" rIns="0" bIns="0" rtlCol="0" anchor="t"/>
          <a:lstStyle/>
          <a:p>
            <a:pPr algn="ctr" indent="0" marL="0">
              <a:buNone/>
            </a:pPr>
            <a:r>
              <a:rPr lang="en-US" sz="1400" dirty="0">
                <a:solidFill>
                  <a:srgbClr val="2B2B2B"/>
                </a:solidFill>
                <a:latin typeface="Calibri" pitchFamily="34" charset="0"/>
                <a:ea typeface="Calibri" pitchFamily="34" charset="-122"/>
                <a:cs typeface="Calibri" pitchFamily="34" charset="-120"/>
              </a:rPr>
              <a:t>Écrits + Grand Oral</a:t>
            </a:r>
            <a:endParaRPr lang="en-US" sz="1400" dirty="0"/>
          </a:p>
          <a:p>
            <a:pPr algn="ctr" indent="0" marL="0">
              <a:buNone/>
            </a:pPr>
            <a:r>
              <a:rPr lang="en-US" sz="1400" dirty="0">
                <a:solidFill>
                  <a:srgbClr val="2B2B2B"/>
                </a:solidFill>
                <a:latin typeface="Calibri" pitchFamily="34" charset="0"/>
                <a:ea typeface="Calibri" pitchFamily="34" charset="-122"/>
                <a:cs typeface="Calibri" pitchFamily="34" charset="-120"/>
              </a:rPr>
              <a:t>en dix jours</a:t>
            </a:r>
            <a:endParaRPr lang="en-US" sz="1400" dirty="0"/>
          </a:p>
        </p:txBody>
      </p:sp>
      <p:sp>
        <p:nvSpPr>
          <p:cNvPr id="16" name="Shape 13"/>
          <p:cNvSpPr/>
          <p:nvPr/>
        </p:nvSpPr>
        <p:spPr>
          <a:xfrm>
            <a:off x="457200" y="3337560"/>
            <a:ext cx="7040880" cy="914400"/>
          </a:xfrm>
          <a:prstGeom prst="roundRect">
            <a:avLst>
              <a:gd name="adj" fmla="val 10000"/>
            </a:avLst>
          </a:prstGeom>
          <a:solidFill>
            <a:srgbClr val="DEEAF6"/>
          </a:solidFill>
          <a:ln/>
        </p:spPr>
      </p:sp>
      <p:sp>
        <p:nvSpPr>
          <p:cNvPr id="17" name="Text 14"/>
          <p:cNvSpPr/>
          <p:nvPr/>
        </p:nvSpPr>
        <p:spPr>
          <a:xfrm>
            <a:off x="685800" y="3337560"/>
            <a:ext cx="6583680" cy="914400"/>
          </a:xfrm>
          <a:prstGeom prst="rect">
            <a:avLst/>
          </a:prstGeom>
          <a:noFill/>
          <a:ln/>
        </p:spPr>
        <p:txBody>
          <a:bodyPr wrap="square" lIns="0" tIns="0" rIns="0" bIns="0" rtlCol="0" anchor="ctr"/>
          <a:lstStyle/>
          <a:p>
            <a:pPr indent="0" marL="0">
              <a:spcAft>
                <a:spcPts val="300"/>
              </a:spcAft>
              <a:buNone/>
            </a:pPr>
            <a:r>
              <a:rPr lang="en-US" sz="1700" b="1" dirty="0">
                <a:solidFill>
                  <a:srgbClr val="1F3864"/>
                </a:solidFill>
                <a:latin typeface="Calibri" pitchFamily="34" charset="0"/>
                <a:ea typeface="Calibri" pitchFamily="34" charset="-122"/>
                <a:cs typeface="Calibri" pitchFamily="34" charset="-120"/>
              </a:rPr>
              <a:t>En miroir : septembre–novembre et les vacances sont exploitables.</a:t>
            </a:r>
            <a:endParaRPr lang="en-US" sz="1700" dirty="0"/>
          </a:p>
          <a:p>
            <a:pPr indent="0" marL="0">
              <a:spcAft>
                <a:spcPts val="300"/>
              </a:spcAft>
              <a:buNone/>
            </a:pPr>
            <a:r>
              <a:rPr lang="en-US" sz="1700" dirty="0">
                <a:solidFill>
                  <a:srgbClr val="2B2B2B"/>
                </a:solidFill>
                <a:latin typeface="Calibri" pitchFamily="34" charset="0"/>
                <a:ea typeface="Calibri" pitchFamily="34" charset="-122"/>
                <a:cs typeface="Calibri" pitchFamily="34" charset="-120"/>
              </a:rPr>
              <a:t>Une collision de mars se désamorce en octobre, pas en mars.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La semaine type de Terminale</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Classe entière</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7 / 11</a:t>
            </a:r>
            <a:endParaRPr lang="en-US" sz="900" dirty="0"/>
          </a:p>
        </p:txBody>
      </p:sp>
      <p:sp>
        <p:nvSpPr>
          <p:cNvPr id="7" name="Text 4"/>
          <p:cNvSpPr/>
          <p:nvPr/>
        </p:nvSpPr>
        <p:spPr>
          <a:xfrm>
            <a:off x="457200" y="1024128"/>
            <a:ext cx="7040880" cy="347472"/>
          </a:xfrm>
          <a:prstGeom prst="rect">
            <a:avLst/>
          </a:prstGeom>
          <a:noFill/>
          <a:ln/>
        </p:spPr>
        <p:txBody>
          <a:bodyPr wrap="square" lIns="0" tIns="0" rIns="0" bIns="0" rtlCol="0" anchor="ctr"/>
          <a:lstStyle/>
          <a:p>
            <a:pPr indent="0" marL="0">
              <a:buNone/>
            </a:pPr>
            <a:r>
              <a:rPr lang="en-US" sz="1700" b="1" dirty="0">
                <a:solidFill>
                  <a:srgbClr val="2B2B2B"/>
                </a:solidFill>
                <a:latin typeface="Calibri" pitchFamily="34" charset="0"/>
                <a:ea typeface="Calibri" pitchFamily="34" charset="-122"/>
                <a:cs typeface="Calibri" pitchFamily="34" charset="-120"/>
              </a:rPr>
              <a:t>La réponse aux collisions se construit maintenant. Cinq règles :</a:t>
            </a:r>
            <a:endParaRPr lang="en-US" sz="1700" dirty="0"/>
          </a:p>
        </p:txBody>
      </p:sp>
      <p:sp>
        <p:nvSpPr>
          <p:cNvPr id="8" name="Shape 5"/>
          <p:cNvSpPr/>
          <p:nvPr/>
        </p:nvSpPr>
        <p:spPr>
          <a:xfrm>
            <a:off x="457200" y="1463040"/>
            <a:ext cx="7589520" cy="530352"/>
          </a:xfrm>
          <a:prstGeom prst="roundRect">
            <a:avLst>
              <a:gd name="adj" fmla="val 17241"/>
            </a:avLst>
          </a:prstGeom>
          <a:solidFill>
            <a:srgbClr val="F2F2F2"/>
          </a:solidFill>
          <a:ln/>
        </p:spPr>
      </p:sp>
      <p:sp>
        <p:nvSpPr>
          <p:cNvPr id="9" name="Shape 6"/>
          <p:cNvSpPr/>
          <p:nvPr/>
        </p:nvSpPr>
        <p:spPr>
          <a:xfrm>
            <a:off x="603504" y="1545336"/>
            <a:ext cx="365760" cy="365760"/>
          </a:xfrm>
          <a:prstGeom prst="ellipse">
            <a:avLst/>
          </a:prstGeom>
          <a:solidFill>
            <a:srgbClr val="1F3864"/>
          </a:solidFill>
          <a:ln/>
        </p:spPr>
      </p:sp>
      <p:sp>
        <p:nvSpPr>
          <p:cNvPr id="10" name="Text 7"/>
          <p:cNvSpPr/>
          <p:nvPr/>
        </p:nvSpPr>
        <p:spPr>
          <a:xfrm>
            <a:off x="603504" y="15453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Text 8"/>
          <p:cNvSpPr/>
          <p:nvPr/>
        </p:nvSpPr>
        <p:spPr>
          <a:xfrm>
            <a:off x="1097280" y="1463040"/>
            <a:ext cx="6766560" cy="530352"/>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Un volume cible par spécialité et pour la philosophie</a:t>
            </a:r>
            <a:endParaRPr lang="en-US" sz="1600" dirty="0"/>
          </a:p>
        </p:txBody>
      </p:sp>
      <p:sp>
        <p:nvSpPr>
          <p:cNvPr id="12" name="Shape 9"/>
          <p:cNvSpPr/>
          <p:nvPr/>
        </p:nvSpPr>
        <p:spPr>
          <a:xfrm>
            <a:off x="457200" y="2084832"/>
            <a:ext cx="7589520" cy="530352"/>
          </a:xfrm>
          <a:prstGeom prst="roundRect">
            <a:avLst>
              <a:gd name="adj" fmla="val 17241"/>
            </a:avLst>
          </a:prstGeom>
          <a:solidFill>
            <a:srgbClr val="DEEAF6"/>
          </a:solidFill>
          <a:ln/>
        </p:spPr>
      </p:sp>
      <p:sp>
        <p:nvSpPr>
          <p:cNvPr id="13" name="Shape 10"/>
          <p:cNvSpPr/>
          <p:nvPr/>
        </p:nvSpPr>
        <p:spPr>
          <a:xfrm>
            <a:off x="603504" y="2167128"/>
            <a:ext cx="365760" cy="365760"/>
          </a:xfrm>
          <a:prstGeom prst="ellipse">
            <a:avLst/>
          </a:prstGeom>
          <a:solidFill>
            <a:srgbClr val="1F3864"/>
          </a:solidFill>
          <a:ln/>
        </p:spPr>
      </p:sp>
      <p:sp>
        <p:nvSpPr>
          <p:cNvPr id="14" name="Text 11"/>
          <p:cNvSpPr/>
          <p:nvPr/>
        </p:nvSpPr>
        <p:spPr>
          <a:xfrm>
            <a:off x="603504" y="216712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2"/>
          <p:cNvSpPr/>
          <p:nvPr/>
        </p:nvSpPr>
        <p:spPr>
          <a:xfrm>
            <a:off x="1097280" y="2084832"/>
            <a:ext cx="6766560" cy="530352"/>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Un contenu par défaut dans chaque créneau</a:t>
            </a:r>
            <a:endParaRPr lang="en-US" sz="1600" dirty="0"/>
          </a:p>
        </p:txBody>
      </p:sp>
      <p:sp>
        <p:nvSpPr>
          <p:cNvPr id="16" name="Shape 13"/>
          <p:cNvSpPr/>
          <p:nvPr/>
        </p:nvSpPr>
        <p:spPr>
          <a:xfrm>
            <a:off x="457200" y="2706624"/>
            <a:ext cx="7589520" cy="530352"/>
          </a:xfrm>
          <a:prstGeom prst="roundRect">
            <a:avLst>
              <a:gd name="adj" fmla="val 17241"/>
            </a:avLst>
          </a:prstGeom>
          <a:solidFill>
            <a:srgbClr val="F2F2F2"/>
          </a:solidFill>
          <a:ln/>
        </p:spPr>
      </p:sp>
      <p:sp>
        <p:nvSpPr>
          <p:cNvPr id="17" name="Shape 14"/>
          <p:cNvSpPr/>
          <p:nvPr/>
        </p:nvSpPr>
        <p:spPr>
          <a:xfrm>
            <a:off x="603504" y="2788920"/>
            <a:ext cx="365760" cy="365760"/>
          </a:xfrm>
          <a:prstGeom prst="ellipse">
            <a:avLst/>
          </a:prstGeom>
          <a:solidFill>
            <a:srgbClr val="1F3864"/>
          </a:solidFill>
          <a:ln/>
        </p:spPr>
      </p:sp>
      <p:sp>
        <p:nvSpPr>
          <p:cNvPr id="18" name="Text 15"/>
          <p:cNvSpPr/>
          <p:nvPr/>
        </p:nvSpPr>
        <p:spPr>
          <a:xfrm>
            <a:off x="603504" y="2788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6"/>
          <p:cNvSpPr/>
          <p:nvPr/>
        </p:nvSpPr>
        <p:spPr>
          <a:xfrm>
            <a:off x="1097280" y="2706624"/>
            <a:ext cx="6766560" cy="530352"/>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30 minutes « dossier d’orientation » par semaine</a:t>
            </a:r>
            <a:endParaRPr lang="en-US" sz="1600" dirty="0"/>
          </a:p>
        </p:txBody>
      </p:sp>
      <p:sp>
        <p:nvSpPr>
          <p:cNvPr id="20" name="Shape 17"/>
          <p:cNvSpPr/>
          <p:nvPr/>
        </p:nvSpPr>
        <p:spPr>
          <a:xfrm>
            <a:off x="457200" y="3328416"/>
            <a:ext cx="7589520" cy="530352"/>
          </a:xfrm>
          <a:prstGeom prst="roundRect">
            <a:avLst>
              <a:gd name="adj" fmla="val 17241"/>
            </a:avLst>
          </a:prstGeom>
          <a:solidFill>
            <a:srgbClr val="DEEAF6"/>
          </a:solidFill>
          <a:ln/>
        </p:spPr>
      </p:sp>
      <p:sp>
        <p:nvSpPr>
          <p:cNvPr id="21" name="Shape 18"/>
          <p:cNvSpPr/>
          <p:nvPr/>
        </p:nvSpPr>
        <p:spPr>
          <a:xfrm>
            <a:off x="603504" y="3410712"/>
            <a:ext cx="365760" cy="365760"/>
          </a:xfrm>
          <a:prstGeom prst="ellipse">
            <a:avLst/>
          </a:prstGeom>
          <a:solidFill>
            <a:srgbClr val="1F3864"/>
          </a:solidFill>
          <a:ln/>
        </p:spPr>
      </p:sp>
      <p:sp>
        <p:nvSpPr>
          <p:cNvPr id="22" name="Text 19"/>
          <p:cNvSpPr/>
          <p:nvPr/>
        </p:nvSpPr>
        <p:spPr>
          <a:xfrm>
            <a:off x="603504" y="34107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p:nvPr/>
        </p:nvSpPr>
        <p:spPr>
          <a:xfrm>
            <a:off x="1097280" y="3328416"/>
            <a:ext cx="6766560" cy="530352"/>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Un créneau tampon, laissé vide</a:t>
            </a:r>
            <a:endParaRPr lang="en-US" sz="1600" dirty="0"/>
          </a:p>
        </p:txBody>
      </p:sp>
      <p:sp>
        <p:nvSpPr>
          <p:cNvPr id="24" name="Shape 21"/>
          <p:cNvSpPr/>
          <p:nvPr/>
        </p:nvSpPr>
        <p:spPr>
          <a:xfrm>
            <a:off x="457200" y="3950208"/>
            <a:ext cx="7589520" cy="530352"/>
          </a:xfrm>
          <a:prstGeom prst="roundRect">
            <a:avLst>
              <a:gd name="adj" fmla="val 17241"/>
            </a:avLst>
          </a:prstGeom>
          <a:solidFill>
            <a:srgbClr val="F2F2F2"/>
          </a:solidFill>
          <a:ln/>
        </p:spPr>
      </p:sp>
      <p:sp>
        <p:nvSpPr>
          <p:cNvPr id="25" name="Shape 22"/>
          <p:cNvSpPr/>
          <p:nvPr/>
        </p:nvSpPr>
        <p:spPr>
          <a:xfrm>
            <a:off x="603504" y="4032504"/>
            <a:ext cx="365760" cy="365760"/>
          </a:xfrm>
          <a:prstGeom prst="ellipse">
            <a:avLst/>
          </a:prstGeom>
          <a:solidFill>
            <a:srgbClr val="1F3864"/>
          </a:solidFill>
          <a:ln/>
        </p:spPr>
      </p:sp>
      <p:sp>
        <p:nvSpPr>
          <p:cNvPr id="26" name="Text 23"/>
          <p:cNvSpPr/>
          <p:nvPr/>
        </p:nvSpPr>
        <p:spPr>
          <a:xfrm>
            <a:off x="603504" y="40325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4"/>
          <p:cNvSpPr/>
          <p:nvPr/>
        </p:nvSpPr>
        <p:spPr>
          <a:xfrm>
            <a:off x="1097280" y="3950208"/>
            <a:ext cx="6766560" cy="530352"/>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 sommeil est protégé : il fait partie de la consolidation</a:t>
            </a:r>
            <a:endParaRPr lang="en-US" sz="1600" dirty="0"/>
          </a:p>
        </p:txBody>
      </p:sp>
      <p:sp>
        <p:nvSpPr>
          <p:cNvPr id="28" name="Text 25"/>
          <p:cNvSpPr/>
          <p:nvPr/>
        </p:nvSpPr>
        <p:spPr>
          <a:xfrm>
            <a:off x="457200" y="4617720"/>
            <a:ext cx="7040880" cy="320040"/>
          </a:xfrm>
          <a:prstGeom prst="rect">
            <a:avLst/>
          </a:prstGeom>
          <a:noFill/>
          <a:ln/>
        </p:spPr>
        <p:txBody>
          <a:bodyPr wrap="square" lIns="0" tIns="0" rIns="0" bIns="0" rtlCol="0" anchor="ctr"/>
          <a:lstStyle/>
          <a:p>
            <a:pPr indent="0" marL="0">
              <a:buNone/>
            </a:pPr>
            <a:r>
              <a:rPr lang="en-US" sz="1500" b="1" dirty="0">
                <a:solidFill>
                  <a:srgbClr val="C00000"/>
                </a:solidFill>
                <a:latin typeface="Calibri" pitchFamily="34" charset="0"/>
                <a:ea typeface="Calibri" pitchFamily="34" charset="-122"/>
                <a:cs typeface="Calibri" pitchFamily="34" charset="-120"/>
              </a:rPr>
              <a:t>« Je travaille » </a:t>
            </a:r>
            <a:pPr indent="0" marL="0">
              <a:buNone/>
            </a:pPr>
            <a:r>
              <a:rPr lang="en-US" sz="1500" dirty="0">
                <a:solidFill>
                  <a:srgbClr val="2B2B2B"/>
                </a:solidFill>
                <a:latin typeface="Calibri" pitchFamily="34" charset="0"/>
                <a:ea typeface="Calibri" pitchFamily="34" charset="-122"/>
                <a:cs typeface="Calibri" pitchFamily="34" charset="-120"/>
              </a:rPr>
              <a:t>n’est pas un contenu par défaut.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Atelier : ma semaine type</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Individuel</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8 / 11</a:t>
            </a:r>
            <a:endParaRPr lang="en-US" sz="900" dirty="0"/>
          </a:p>
        </p:txBody>
      </p:sp>
      <p:sp>
        <p:nvSpPr>
          <p:cNvPr id="7" name="Shape 4"/>
          <p:cNvSpPr/>
          <p:nvPr/>
        </p:nvSpPr>
        <p:spPr>
          <a:xfrm>
            <a:off x="457200" y="1143000"/>
            <a:ext cx="5120640" cy="1234440"/>
          </a:xfrm>
          <a:prstGeom prst="roundRect">
            <a:avLst>
              <a:gd name="adj" fmla="val 7407"/>
            </a:avLst>
          </a:prstGeom>
          <a:solidFill>
            <a:srgbClr val="F2F2F2"/>
          </a:solidFill>
          <a:ln/>
        </p:spPr>
      </p:sp>
      <p:sp>
        <p:nvSpPr>
          <p:cNvPr id="8" name="Text 5"/>
          <p:cNvSpPr/>
          <p:nvPr/>
        </p:nvSpPr>
        <p:spPr>
          <a:xfrm>
            <a:off x="658368" y="1143000"/>
            <a:ext cx="4754880" cy="1234440"/>
          </a:xfrm>
          <a:prstGeom prst="rect">
            <a:avLst/>
          </a:prstGeom>
          <a:noFill/>
          <a:ln/>
        </p:spPr>
        <p:txBody>
          <a:bodyPr wrap="square" lIns="0" tIns="0" rIns="0" bIns="0" rtlCol="0" anchor="ctr"/>
          <a:lstStyle/>
          <a:p>
            <a:pPr indent="0" marL="0">
              <a:spcAft>
                <a:spcPts val="400"/>
              </a:spcAft>
              <a:buNone/>
            </a:pPr>
            <a:r>
              <a:rPr lang="en-US" sz="1450" b="1" dirty="0">
                <a:solidFill>
                  <a:srgbClr val="1F3864"/>
                </a:solidFill>
                <a:latin typeface="Calibri" pitchFamily="34" charset="0"/>
                <a:ea typeface="Calibri" pitchFamily="34" charset="-122"/>
                <a:cs typeface="Calibri" pitchFamily="34" charset="-120"/>
              </a:rPr>
              <a:t>Repères de volume — support 3</a:t>
            </a:r>
            <a:endParaRPr lang="en-US" sz="1450" dirty="0"/>
          </a:p>
          <a:p>
            <a:pPr indent="0" marL="0">
              <a:spcAft>
                <a:spcPts val="400"/>
              </a:spcAft>
              <a:buNone/>
            </a:pPr>
            <a:r>
              <a:rPr lang="en-US" sz="1450" dirty="0">
                <a:solidFill>
                  <a:srgbClr val="2B2B2B"/>
                </a:solidFill>
                <a:latin typeface="Calibri" pitchFamily="34" charset="0"/>
                <a:ea typeface="Calibri" pitchFamily="34" charset="-122"/>
                <a:cs typeface="Calibri" pitchFamily="34" charset="-120"/>
              </a:rPr>
              <a:t>3–4 créneaux de 45–60 min par EDS · 1–2 philosophie · 1–2 autres matières · 30 min orientation · 1 tampon</a:t>
            </a:r>
            <a:endParaRPr lang="en-US" sz="1450" dirty="0"/>
          </a:p>
        </p:txBody>
      </p:sp>
      <p:sp>
        <p:nvSpPr>
          <p:cNvPr id="9" name="Shape 6"/>
          <p:cNvSpPr/>
          <p:nvPr/>
        </p:nvSpPr>
        <p:spPr>
          <a:xfrm>
            <a:off x="457200" y="2514600"/>
            <a:ext cx="5120640" cy="1371600"/>
          </a:xfrm>
          <a:prstGeom prst="roundRect">
            <a:avLst>
              <a:gd name="adj" fmla="val 6667"/>
            </a:avLst>
          </a:prstGeom>
          <a:solidFill>
            <a:srgbClr val="DEEAF6"/>
          </a:solidFill>
          <a:ln/>
        </p:spPr>
      </p:sp>
      <p:sp>
        <p:nvSpPr>
          <p:cNvPr id="10" name="Text 7"/>
          <p:cNvSpPr/>
          <p:nvPr/>
        </p:nvSpPr>
        <p:spPr>
          <a:xfrm>
            <a:off x="658368" y="2514600"/>
            <a:ext cx="4754880" cy="1371600"/>
          </a:xfrm>
          <a:prstGeom prst="rect">
            <a:avLst/>
          </a:prstGeom>
          <a:noFill/>
          <a:ln/>
        </p:spPr>
        <p:txBody>
          <a:bodyPr wrap="square" lIns="0" tIns="0" rIns="0" bIns="0" rtlCol="0" anchor="ctr"/>
          <a:lstStyle/>
          <a:p>
            <a:pPr indent="0" marL="0">
              <a:spcAft>
                <a:spcPts val="400"/>
              </a:spcAft>
              <a:buNone/>
            </a:pPr>
            <a:r>
              <a:rPr lang="en-US" sz="1450" b="1" dirty="0">
                <a:solidFill>
                  <a:srgbClr val="1F3864"/>
                </a:solidFill>
                <a:latin typeface="Calibri" pitchFamily="34" charset="0"/>
                <a:ea typeface="Calibri" pitchFamily="34" charset="-122"/>
                <a:cs typeface="Calibri" pitchFamily="34" charset="-120"/>
              </a:rPr>
              <a:t>Contenus par défaut à piocher</a:t>
            </a:r>
            <a:endParaRPr lang="en-US" sz="1450" dirty="0"/>
          </a:p>
          <a:p>
            <a:pPr indent="0" marL="0">
              <a:spcAft>
                <a:spcPts val="400"/>
              </a:spcAft>
              <a:buNone/>
            </a:pPr>
            <a:r>
              <a:rPr lang="en-US" sz="1450" dirty="0">
                <a:solidFill>
                  <a:srgbClr val="2B2B2B"/>
                </a:solidFill>
                <a:latin typeface="Calibri" pitchFamily="34" charset="0"/>
                <a:ea typeface="Calibri" pitchFamily="34" charset="-122"/>
                <a:cs typeface="Calibri" pitchFamily="34" charset="-120"/>
              </a:rPr>
              <a:t>S’interroger (B1/B2) · réactiver J+1, J+7, J+30 (B3) · séries d’exercices mélangés (D2) · dès novembre : sujet en conditions (D3)</a:t>
            </a:r>
            <a:endParaRPr lang="en-US" sz="1450" dirty="0"/>
          </a:p>
        </p:txBody>
      </p:sp>
      <p:sp>
        <p:nvSpPr>
          <p:cNvPr id="11" name="Shape 8"/>
          <p:cNvSpPr/>
          <p:nvPr/>
        </p:nvSpPr>
        <p:spPr>
          <a:xfrm>
            <a:off x="5852160" y="1920240"/>
            <a:ext cx="2651760" cy="1417320"/>
          </a:xfrm>
          <a:prstGeom prst="roundRect">
            <a:avLst>
              <a:gd name="adj" fmla="val 7742"/>
            </a:avLst>
          </a:prstGeom>
          <a:solidFill>
            <a:srgbClr val="F2F2F2"/>
          </a:solidFill>
          <a:ln/>
        </p:spPr>
      </p:sp>
      <p:pic>
        <p:nvPicPr>
          <p:cNvPr id="12" name="Image 1" descr="preencoded.png">    </p:cNvPr>
          <p:cNvPicPr>
            <a:picLocks noChangeAspect="1"/>
          </p:cNvPicPr>
          <p:nvPr/>
        </p:nvPicPr>
        <p:blipFill>
          <a:blip r:embed="rId2"/>
          <a:stretch>
            <a:fillRect/>
          </a:stretch>
        </p:blipFill>
        <p:spPr>
          <a:xfrm>
            <a:off x="6053328" y="2455164"/>
            <a:ext cx="347472" cy="347472"/>
          </a:xfrm>
          <a:prstGeom prst="rect">
            <a:avLst/>
          </a:prstGeom>
        </p:spPr>
      </p:pic>
      <p:sp>
        <p:nvSpPr>
          <p:cNvPr id="13" name="Text 9"/>
          <p:cNvSpPr/>
          <p:nvPr/>
        </p:nvSpPr>
        <p:spPr>
          <a:xfrm>
            <a:off x="6419088" y="1993392"/>
            <a:ext cx="1993392" cy="1033272"/>
          </a:xfrm>
          <a:prstGeom prst="rect">
            <a:avLst/>
          </a:prstGeom>
          <a:noFill/>
          <a:ln/>
        </p:spPr>
        <p:txBody>
          <a:bodyPr wrap="square" lIns="0" tIns="0" rIns="0" bIns="0" rtlCol="0" anchor="ctr"/>
          <a:lstStyle/>
          <a:p>
            <a:pPr algn="ctr" indent="0" marL="0">
              <a:buNone/>
            </a:pPr>
            <a:r>
              <a:rPr lang="en-US" sz="4000" b="1" dirty="0">
                <a:solidFill>
                  <a:srgbClr val="1F3864"/>
                </a:solidFill>
                <a:latin typeface="Calibri" pitchFamily="34" charset="0"/>
                <a:ea typeface="Calibri" pitchFamily="34" charset="-122"/>
                <a:cs typeface="Calibri" pitchFamily="34" charset="-120"/>
              </a:rPr>
              <a:t>15:00</a:t>
            </a:r>
            <a:endParaRPr lang="en-US" sz="4000" dirty="0"/>
          </a:p>
        </p:txBody>
      </p:sp>
      <p:sp>
        <p:nvSpPr>
          <p:cNvPr id="14" name="Text 10"/>
          <p:cNvSpPr/>
          <p:nvPr/>
        </p:nvSpPr>
        <p:spPr>
          <a:xfrm>
            <a:off x="5852160" y="3008376"/>
            <a:ext cx="2651760" cy="27432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chrono projeté</a:t>
            </a:r>
            <a:endParaRPr lang="en-US" sz="1050" dirty="0"/>
          </a:p>
        </p:txBody>
      </p:sp>
      <p:sp>
        <p:nvSpPr>
          <p:cNvPr id="15" name="Text 11"/>
          <p:cNvSpPr/>
          <p:nvPr/>
        </p:nvSpPr>
        <p:spPr>
          <a:xfrm>
            <a:off x="457200" y="4069080"/>
            <a:ext cx="69494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Régularité = pratique espacée (Cepeda et al., 2006). Les repères de volume sont une pratique de terrain, à ajuster.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Le test de réalisme</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Individuel</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9 / 11</a:t>
            </a:r>
            <a:endParaRPr lang="en-US" sz="900" dirty="0"/>
          </a:p>
        </p:txBody>
      </p:sp>
      <p:sp>
        <p:nvSpPr>
          <p:cNvPr id="7" name="Shape 4"/>
          <p:cNvSpPr/>
          <p:nvPr/>
        </p:nvSpPr>
        <p:spPr>
          <a:xfrm>
            <a:off x="457200" y="1097280"/>
            <a:ext cx="7589520" cy="777240"/>
          </a:xfrm>
          <a:prstGeom prst="roundRect">
            <a:avLst>
              <a:gd name="adj" fmla="val 11765"/>
            </a:avLst>
          </a:prstGeom>
          <a:solidFill>
            <a:srgbClr val="F2F2F2"/>
          </a:solidFill>
          <a:ln/>
        </p:spPr>
      </p:sp>
      <p:sp>
        <p:nvSpPr>
          <p:cNvPr id="8" name="Text 5"/>
          <p:cNvSpPr/>
          <p:nvPr/>
        </p:nvSpPr>
        <p:spPr>
          <a:xfrm>
            <a:off x="685800" y="1097280"/>
            <a:ext cx="7132320" cy="777240"/>
          </a:xfrm>
          <a:prstGeom prst="rect">
            <a:avLst/>
          </a:prstGeom>
          <a:noFill/>
          <a:ln/>
        </p:spPr>
        <p:txBody>
          <a:bodyPr wrap="square" lIns="0" tIns="0" rIns="0" bIns="0" rtlCol="0" anchor="ctr"/>
          <a:lstStyle/>
          <a:p>
            <a:pPr indent="0" marL="0">
              <a:buNone/>
            </a:pPr>
            <a:r>
              <a:rPr lang="en-US" sz="1700" b="1" dirty="0">
                <a:solidFill>
                  <a:srgbClr val="C00000"/>
                </a:solidFill>
                <a:latin typeface="Calibri" pitchFamily="34" charset="0"/>
                <a:ea typeface="Calibri" pitchFamily="34" charset="-122"/>
                <a:cs typeface="Calibri" pitchFamily="34" charset="-120"/>
              </a:rPr>
              <a:t>Semaine héroïque interdite. </a:t>
            </a:r>
            <a:pPr indent="0" marL="0">
              <a:buNone/>
            </a:pPr>
            <a:r>
              <a:rPr lang="en-US" sz="1700" dirty="0">
                <a:solidFill>
                  <a:srgbClr val="2B2B2B"/>
                </a:solidFill>
                <a:latin typeface="Calibri" pitchFamily="34" charset="0"/>
                <a:ea typeface="Calibri" pitchFamily="34" charset="-122"/>
                <a:cs typeface="Calibri" pitchFamily="34" charset="-120"/>
              </a:rPr>
              <a:t>Une semaine tenue à 70 % vaut mieux qu’une semaine parfaite abandonnée en novembre.</a:t>
            </a:r>
            <a:endParaRPr lang="en-US" sz="1700" dirty="0"/>
          </a:p>
        </p:txBody>
      </p:sp>
      <p:sp>
        <p:nvSpPr>
          <p:cNvPr id="9" name="Shape 6"/>
          <p:cNvSpPr/>
          <p:nvPr/>
        </p:nvSpPr>
        <p:spPr>
          <a:xfrm>
            <a:off x="548640" y="2148840"/>
            <a:ext cx="274320" cy="274320"/>
          </a:xfrm>
          <a:prstGeom prst="roundRect">
            <a:avLst>
              <a:gd name="adj" fmla="val 16667"/>
            </a:avLst>
          </a:prstGeom>
          <a:solidFill>
            <a:srgbClr val="FFFFFF"/>
          </a:solidFill>
          <a:ln w="12700">
            <a:solidFill>
              <a:srgbClr val="2E5395"/>
            </a:solidFill>
            <a:prstDash val="solid"/>
          </a:ln>
        </p:spPr>
      </p:sp>
      <p:sp>
        <p:nvSpPr>
          <p:cNvPr id="10" name="Text 7"/>
          <p:cNvSpPr/>
          <p:nvPr/>
        </p:nvSpPr>
        <p:spPr>
          <a:xfrm>
            <a:off x="960120" y="2084832"/>
            <a:ext cx="6766560" cy="402336"/>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Chaque créneau a un contenu par défaut précis</a:t>
            </a:r>
            <a:endParaRPr lang="en-US" sz="1600" dirty="0"/>
          </a:p>
        </p:txBody>
      </p:sp>
      <p:sp>
        <p:nvSpPr>
          <p:cNvPr id="11" name="Shape 8"/>
          <p:cNvSpPr/>
          <p:nvPr/>
        </p:nvSpPr>
        <p:spPr>
          <a:xfrm>
            <a:off x="548640" y="2651760"/>
            <a:ext cx="274320" cy="274320"/>
          </a:xfrm>
          <a:prstGeom prst="roundRect">
            <a:avLst>
              <a:gd name="adj" fmla="val 16667"/>
            </a:avLst>
          </a:prstGeom>
          <a:solidFill>
            <a:srgbClr val="FFFFFF"/>
          </a:solidFill>
          <a:ln w="12700">
            <a:solidFill>
              <a:srgbClr val="2E5395"/>
            </a:solidFill>
            <a:prstDash val="solid"/>
          </a:ln>
        </p:spPr>
      </p:sp>
      <p:sp>
        <p:nvSpPr>
          <p:cNvPr id="12" name="Text 9"/>
          <p:cNvSpPr/>
          <p:nvPr/>
        </p:nvSpPr>
        <p:spPr>
          <a:xfrm>
            <a:off x="960120" y="2587752"/>
            <a:ext cx="6766560" cy="402336"/>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 créneau orientation de 30 minutes existe</a:t>
            </a:r>
            <a:endParaRPr lang="en-US" sz="1600" dirty="0"/>
          </a:p>
        </p:txBody>
      </p:sp>
      <p:sp>
        <p:nvSpPr>
          <p:cNvPr id="13" name="Shape 10"/>
          <p:cNvSpPr/>
          <p:nvPr/>
        </p:nvSpPr>
        <p:spPr>
          <a:xfrm>
            <a:off x="548640" y="3154680"/>
            <a:ext cx="274320" cy="274320"/>
          </a:xfrm>
          <a:prstGeom prst="roundRect">
            <a:avLst>
              <a:gd name="adj" fmla="val 16667"/>
            </a:avLst>
          </a:prstGeom>
          <a:solidFill>
            <a:srgbClr val="FFFFFF"/>
          </a:solidFill>
          <a:ln w="12700">
            <a:solidFill>
              <a:srgbClr val="2E5395"/>
            </a:solidFill>
            <a:prstDash val="solid"/>
          </a:ln>
        </p:spPr>
      </p:sp>
      <p:sp>
        <p:nvSpPr>
          <p:cNvPr id="14" name="Text 11"/>
          <p:cNvSpPr/>
          <p:nvPr/>
        </p:nvSpPr>
        <p:spPr>
          <a:xfrm>
            <a:off x="960120" y="3090672"/>
            <a:ext cx="6766560" cy="402336"/>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 créneau tampon est vide</a:t>
            </a:r>
            <a:endParaRPr lang="en-US" sz="1600" dirty="0"/>
          </a:p>
        </p:txBody>
      </p:sp>
      <p:sp>
        <p:nvSpPr>
          <p:cNvPr id="15" name="Shape 12"/>
          <p:cNvSpPr/>
          <p:nvPr/>
        </p:nvSpPr>
        <p:spPr>
          <a:xfrm>
            <a:off x="548640" y="3657600"/>
            <a:ext cx="274320" cy="274320"/>
          </a:xfrm>
          <a:prstGeom prst="roundRect">
            <a:avLst>
              <a:gd name="adj" fmla="val 16667"/>
            </a:avLst>
          </a:prstGeom>
          <a:solidFill>
            <a:srgbClr val="FFFFFF"/>
          </a:solidFill>
          <a:ln w="12700">
            <a:solidFill>
              <a:srgbClr val="2E5395"/>
            </a:solidFill>
            <a:prstDash val="solid"/>
          </a:ln>
        </p:spPr>
      </p:sp>
      <p:sp>
        <p:nvSpPr>
          <p:cNvPr id="16" name="Text 13"/>
          <p:cNvSpPr/>
          <p:nvPr/>
        </p:nvSpPr>
        <p:spPr>
          <a:xfrm>
            <a:off x="960120" y="3593592"/>
            <a:ext cx="6766560" cy="402336"/>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Sommeil et activité personnelle sont préservés</a:t>
            </a:r>
            <a:endParaRPr lang="en-US" sz="1600" dirty="0"/>
          </a:p>
        </p:txBody>
      </p:sp>
      <p:sp>
        <p:nvSpPr>
          <p:cNvPr id="17" name="Shape 14"/>
          <p:cNvSpPr/>
          <p:nvPr/>
        </p:nvSpPr>
        <p:spPr>
          <a:xfrm>
            <a:off x="548640" y="4160520"/>
            <a:ext cx="274320" cy="274320"/>
          </a:xfrm>
          <a:prstGeom prst="roundRect">
            <a:avLst>
              <a:gd name="adj" fmla="val 16667"/>
            </a:avLst>
          </a:prstGeom>
          <a:solidFill>
            <a:srgbClr val="FFFFFF"/>
          </a:solidFill>
          <a:ln w="12700">
            <a:solidFill>
              <a:srgbClr val="2E5395"/>
            </a:solidFill>
            <a:prstDash val="solid"/>
          </a:ln>
        </p:spPr>
      </p:sp>
      <p:sp>
        <p:nvSpPr>
          <p:cNvPr id="18" name="Text 15"/>
          <p:cNvSpPr/>
          <p:nvPr/>
        </p:nvSpPr>
        <p:spPr>
          <a:xfrm>
            <a:off x="960120" y="4096512"/>
            <a:ext cx="6766560" cy="402336"/>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Cette semaine tient même une semaine chargée</a:t>
            </a:r>
            <a:endParaRPr lang="en-US" sz="1600" dirty="0"/>
          </a:p>
        </p:txBody>
      </p:sp>
      <p:sp>
        <p:nvSpPr>
          <p:cNvPr id="19" name="Text 16"/>
          <p:cNvSpPr/>
          <p:nvPr/>
        </p:nvSpPr>
        <p:spPr>
          <a:xfrm>
            <a:off x="457200" y="4617720"/>
            <a:ext cx="7040880" cy="320040"/>
          </a:xfrm>
          <a:prstGeom prst="rect">
            <a:avLst/>
          </a:prstGeom>
          <a:noFill/>
          <a:ln/>
        </p:spPr>
        <p:txBody>
          <a:bodyPr wrap="square" lIns="0" tIns="0" rIns="0" bIns="0" rtlCol="0" anchor="ctr"/>
          <a:lstStyle/>
          <a:p>
            <a:pPr indent="0" marL="0">
              <a:buNone/>
            </a:pPr>
            <a:r>
              <a:rPr lang="en-US" sz="1500" i="1" dirty="0">
                <a:solidFill>
                  <a:srgbClr val="2B2B2B"/>
                </a:solidFill>
                <a:latin typeface="Calibri" pitchFamily="34" charset="0"/>
                <a:ea typeface="Calibri" pitchFamily="34" charset="-122"/>
                <a:cs typeface="Calibri" pitchFamily="34" charset="-120"/>
              </a:rPr>
              <a:t>Heure de coucher écrite en bas de la grille.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7223760" cy="68580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Mon rendez-vous mensuel</a:t>
            </a:r>
            <a:endParaRPr lang="en-US" sz="2800" dirty="0"/>
          </a:p>
        </p:txBody>
      </p:sp>
      <p:sp>
        <p:nvSpPr>
          <p:cNvPr id="3" name="Shape 1"/>
          <p:cNvSpPr/>
          <p:nvPr/>
        </p:nvSpPr>
        <p:spPr>
          <a:xfrm>
            <a:off x="8092440" y="292608"/>
            <a:ext cx="566928" cy="566928"/>
          </a:xfrm>
          <a:prstGeom prst="ellipse">
            <a:avLst/>
          </a:prstGeom>
          <a:solidFill>
            <a:srgbClr val="1F3864"/>
          </a:solidFill>
          <a:ln/>
        </p:spPr>
      </p:sp>
      <p:pic>
        <p:nvPicPr>
          <p:cNvPr id="4" name="Image 0" descr="preencoded.png">    </p:cNvPr>
          <p:cNvPicPr>
            <a:picLocks noChangeAspect="1"/>
          </p:cNvPicPr>
          <p:nvPr/>
        </p:nvPicPr>
        <p:blipFill>
          <a:blip r:embed="rId1"/>
          <a:stretch>
            <a:fillRect/>
          </a:stretch>
        </p:blipFill>
        <p:spPr>
          <a:xfrm>
            <a:off x="8229600" y="429768"/>
            <a:ext cx="292608" cy="292608"/>
          </a:xfrm>
          <a:prstGeom prst="rect">
            <a:avLst/>
          </a:prstGeom>
        </p:spPr>
      </p:pic>
      <p:sp>
        <p:nvSpPr>
          <p:cNvPr id="5" name="Text 2"/>
          <p:cNvSpPr/>
          <p:nvPr/>
        </p:nvSpPr>
        <p:spPr>
          <a:xfrm>
            <a:off x="7635240" y="896112"/>
            <a:ext cx="1481328" cy="256032"/>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Individuel</a:t>
            </a:r>
            <a:endParaRPr lang="en-US" sz="1050" dirty="0"/>
          </a:p>
        </p:txBody>
      </p:sp>
      <p:sp>
        <p:nvSpPr>
          <p:cNvPr id="6" name="Text 3"/>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C4 · écran 10 / 11</a:t>
            </a:r>
            <a:endParaRPr lang="en-US" sz="900" dirty="0"/>
          </a:p>
        </p:txBody>
      </p:sp>
      <p:sp>
        <p:nvSpPr>
          <p:cNvPr id="7" name="Shape 4"/>
          <p:cNvSpPr/>
          <p:nvPr/>
        </p:nvSpPr>
        <p:spPr>
          <a:xfrm>
            <a:off x="457200" y="1097280"/>
            <a:ext cx="5120640" cy="777240"/>
          </a:xfrm>
          <a:prstGeom prst="roundRect">
            <a:avLst>
              <a:gd name="adj" fmla="val 11765"/>
            </a:avLst>
          </a:prstGeom>
          <a:solidFill>
            <a:srgbClr val="DEEAF6"/>
          </a:solidFill>
          <a:ln/>
        </p:spPr>
      </p:sp>
      <p:sp>
        <p:nvSpPr>
          <p:cNvPr id="8" name="Text 5"/>
          <p:cNvSpPr/>
          <p:nvPr/>
        </p:nvSpPr>
        <p:spPr>
          <a:xfrm>
            <a:off x="658368" y="1097280"/>
            <a:ext cx="4754880" cy="7772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Quand </a:t>
            </a:r>
            <a:pPr indent="0" marL="0">
              <a:buNone/>
            </a:pPr>
            <a:r>
              <a:rPr lang="en-US" sz="1600" b="1" dirty="0">
                <a:solidFill>
                  <a:srgbClr val="1F3864"/>
                </a:solidFill>
                <a:latin typeface="Calibri" pitchFamily="34" charset="0"/>
                <a:ea typeface="Calibri" pitchFamily="34" charset="-122"/>
                <a:cs typeface="Calibri" pitchFamily="34" charset="-120"/>
              </a:rPr>
              <a:t>[1er dimanche du mois, 18 h]</a:t>
            </a:r>
            <a:pPr indent="0" marL="0">
              <a:buNone/>
            </a:pPr>
            <a:r>
              <a:rPr lang="en-US" sz="1600" dirty="0">
                <a:solidFill>
                  <a:srgbClr val="2B2B2B"/>
                </a:solidFill>
                <a:latin typeface="Calibri" pitchFamily="34" charset="0"/>
                <a:ea typeface="Calibri" pitchFamily="34" charset="-122"/>
                <a:cs typeface="Calibri" pitchFamily="34" charset="-120"/>
              </a:rPr>
              <a:t>, alors </a:t>
            </a:r>
            <a:pPr indent="0" marL="0">
              <a:buNone/>
            </a:pPr>
            <a:r>
              <a:rPr lang="en-US" sz="1600" b="1" dirty="0">
                <a:solidFill>
                  <a:srgbClr val="1F3864"/>
                </a:solidFill>
                <a:latin typeface="Calibri" pitchFamily="34" charset="0"/>
                <a:ea typeface="Calibri" pitchFamily="34" charset="-122"/>
                <a:cs typeface="Calibri" pitchFamily="34" charset="-120"/>
              </a:rPr>
              <a:t>[mon point de 20 minutes]</a:t>
            </a:r>
            <a:pPr indent="0" marL="0">
              <a:buNone/>
            </a:pPr>
            <a:r>
              <a:rPr lang="en-US" sz="1600" dirty="0">
                <a:solidFill>
                  <a:srgbClr val="2B2B2B"/>
                </a:solidFill>
                <a:latin typeface="Calibri" pitchFamily="34" charset="0"/>
                <a:ea typeface="Calibri" pitchFamily="34" charset="-122"/>
                <a:cs typeface="Calibri" pitchFamily="34" charset="-120"/>
              </a:rPr>
              <a:t>.</a:t>
            </a:r>
            <a:endParaRPr lang="en-US" sz="1600" dirty="0"/>
          </a:p>
        </p:txBody>
      </p:sp>
      <p:sp>
        <p:nvSpPr>
          <p:cNvPr id="9" name="Shape 6"/>
          <p:cNvSpPr/>
          <p:nvPr/>
        </p:nvSpPr>
        <p:spPr>
          <a:xfrm>
            <a:off x="457200" y="2011680"/>
            <a:ext cx="5120640" cy="457200"/>
          </a:xfrm>
          <a:prstGeom prst="roundRect">
            <a:avLst>
              <a:gd name="adj" fmla="val 20000"/>
            </a:avLst>
          </a:prstGeom>
          <a:solidFill>
            <a:srgbClr val="F2F2F2"/>
          </a:solidFill>
          <a:ln/>
        </p:spPr>
      </p:sp>
      <p:sp>
        <p:nvSpPr>
          <p:cNvPr id="10" name="Shape 7"/>
          <p:cNvSpPr/>
          <p:nvPr/>
        </p:nvSpPr>
        <p:spPr>
          <a:xfrm>
            <a:off x="585216" y="2066544"/>
            <a:ext cx="347472" cy="347472"/>
          </a:xfrm>
          <a:prstGeom prst="ellipse">
            <a:avLst/>
          </a:prstGeom>
          <a:solidFill>
            <a:srgbClr val="1F3864"/>
          </a:solidFill>
          <a:ln/>
        </p:spPr>
      </p:sp>
      <p:sp>
        <p:nvSpPr>
          <p:cNvPr id="11" name="Text 8"/>
          <p:cNvSpPr/>
          <p:nvPr/>
        </p:nvSpPr>
        <p:spPr>
          <a:xfrm>
            <a:off x="585216" y="2066544"/>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Text 9"/>
          <p:cNvSpPr/>
          <p:nvPr/>
        </p:nvSpPr>
        <p:spPr>
          <a:xfrm>
            <a:off x="1051560" y="2011680"/>
            <a:ext cx="4434840" cy="45720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Où j’en suis, matière par matière</a:t>
            </a:r>
            <a:endParaRPr lang="en-US" sz="1500" dirty="0"/>
          </a:p>
        </p:txBody>
      </p:sp>
      <p:sp>
        <p:nvSpPr>
          <p:cNvPr id="13" name="Shape 10"/>
          <p:cNvSpPr/>
          <p:nvPr/>
        </p:nvSpPr>
        <p:spPr>
          <a:xfrm>
            <a:off x="457200" y="2560320"/>
            <a:ext cx="5120640" cy="457200"/>
          </a:xfrm>
          <a:prstGeom prst="roundRect">
            <a:avLst>
              <a:gd name="adj" fmla="val 20000"/>
            </a:avLst>
          </a:prstGeom>
          <a:solidFill>
            <a:srgbClr val="DEEAF6"/>
          </a:solidFill>
          <a:ln/>
        </p:spPr>
      </p:sp>
      <p:sp>
        <p:nvSpPr>
          <p:cNvPr id="14" name="Shape 11"/>
          <p:cNvSpPr/>
          <p:nvPr/>
        </p:nvSpPr>
        <p:spPr>
          <a:xfrm>
            <a:off x="585216" y="2615184"/>
            <a:ext cx="347472" cy="347472"/>
          </a:xfrm>
          <a:prstGeom prst="ellipse">
            <a:avLst/>
          </a:prstGeom>
          <a:solidFill>
            <a:srgbClr val="1F3864"/>
          </a:solidFill>
          <a:ln/>
        </p:spPr>
      </p:sp>
      <p:sp>
        <p:nvSpPr>
          <p:cNvPr id="15" name="Text 12"/>
          <p:cNvSpPr/>
          <p:nvPr/>
        </p:nvSpPr>
        <p:spPr>
          <a:xfrm>
            <a:off x="585216" y="2615184"/>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6" name="Text 13"/>
          <p:cNvSpPr/>
          <p:nvPr/>
        </p:nvSpPr>
        <p:spPr>
          <a:xfrm>
            <a:off x="1051560" y="2560320"/>
            <a:ext cx="4434840" cy="45720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Mon planning tient-il ?</a:t>
            </a:r>
            <a:endParaRPr lang="en-US" sz="1500" dirty="0"/>
          </a:p>
        </p:txBody>
      </p:sp>
      <p:sp>
        <p:nvSpPr>
          <p:cNvPr id="17" name="Shape 14"/>
          <p:cNvSpPr/>
          <p:nvPr/>
        </p:nvSpPr>
        <p:spPr>
          <a:xfrm>
            <a:off x="457200" y="3108960"/>
            <a:ext cx="5120640" cy="457200"/>
          </a:xfrm>
          <a:prstGeom prst="roundRect">
            <a:avLst>
              <a:gd name="adj" fmla="val 20000"/>
            </a:avLst>
          </a:prstGeom>
          <a:solidFill>
            <a:srgbClr val="F2F2F2"/>
          </a:solidFill>
          <a:ln/>
        </p:spPr>
      </p:sp>
      <p:sp>
        <p:nvSpPr>
          <p:cNvPr id="18" name="Shape 15"/>
          <p:cNvSpPr/>
          <p:nvPr/>
        </p:nvSpPr>
        <p:spPr>
          <a:xfrm>
            <a:off x="585216" y="3163824"/>
            <a:ext cx="347472" cy="347472"/>
          </a:xfrm>
          <a:prstGeom prst="ellipse">
            <a:avLst/>
          </a:prstGeom>
          <a:solidFill>
            <a:srgbClr val="1F3864"/>
          </a:solidFill>
          <a:ln/>
        </p:spPr>
      </p:sp>
      <p:sp>
        <p:nvSpPr>
          <p:cNvPr id="19" name="Text 16"/>
          <p:cNvSpPr/>
          <p:nvPr/>
        </p:nvSpPr>
        <p:spPr>
          <a:xfrm>
            <a:off x="585216" y="3163824"/>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7"/>
          <p:cNvSpPr/>
          <p:nvPr/>
        </p:nvSpPr>
        <p:spPr>
          <a:xfrm>
            <a:off x="1051560" y="3108960"/>
            <a:ext cx="4434840" cy="45720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Parcoursup : quoi ce mois-ci ?</a:t>
            </a:r>
            <a:endParaRPr lang="en-US" sz="1500" dirty="0"/>
          </a:p>
        </p:txBody>
      </p:sp>
      <p:sp>
        <p:nvSpPr>
          <p:cNvPr id="21" name="Shape 18"/>
          <p:cNvSpPr/>
          <p:nvPr/>
        </p:nvSpPr>
        <p:spPr>
          <a:xfrm>
            <a:off x="457200" y="3657600"/>
            <a:ext cx="5120640" cy="457200"/>
          </a:xfrm>
          <a:prstGeom prst="roundRect">
            <a:avLst>
              <a:gd name="adj" fmla="val 20000"/>
            </a:avLst>
          </a:prstGeom>
          <a:solidFill>
            <a:srgbClr val="DEEAF6"/>
          </a:solidFill>
          <a:ln/>
        </p:spPr>
      </p:sp>
      <p:sp>
        <p:nvSpPr>
          <p:cNvPr id="22" name="Shape 19"/>
          <p:cNvSpPr/>
          <p:nvPr/>
        </p:nvSpPr>
        <p:spPr>
          <a:xfrm>
            <a:off x="585216" y="3712464"/>
            <a:ext cx="347472" cy="347472"/>
          </a:xfrm>
          <a:prstGeom prst="ellipse">
            <a:avLst/>
          </a:prstGeom>
          <a:solidFill>
            <a:srgbClr val="1F3864"/>
          </a:solidFill>
          <a:ln/>
        </p:spPr>
      </p:sp>
      <p:sp>
        <p:nvSpPr>
          <p:cNvPr id="23" name="Text 20"/>
          <p:cNvSpPr/>
          <p:nvPr/>
        </p:nvSpPr>
        <p:spPr>
          <a:xfrm>
            <a:off x="585216" y="3712464"/>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1"/>
          <p:cNvSpPr/>
          <p:nvPr/>
        </p:nvSpPr>
        <p:spPr>
          <a:xfrm>
            <a:off x="1051560" y="3657600"/>
            <a:ext cx="4434840" cy="45720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Une décision — une seule</a:t>
            </a:r>
            <a:endParaRPr lang="en-US" sz="1500" dirty="0"/>
          </a:p>
        </p:txBody>
      </p:sp>
      <p:sp>
        <p:nvSpPr>
          <p:cNvPr id="25" name="Shape 22"/>
          <p:cNvSpPr/>
          <p:nvPr/>
        </p:nvSpPr>
        <p:spPr>
          <a:xfrm>
            <a:off x="5852160" y="2148840"/>
            <a:ext cx="2651760" cy="1417320"/>
          </a:xfrm>
          <a:prstGeom prst="roundRect">
            <a:avLst>
              <a:gd name="adj" fmla="val 7742"/>
            </a:avLst>
          </a:prstGeom>
          <a:solidFill>
            <a:srgbClr val="F2F2F2"/>
          </a:solidFill>
          <a:ln/>
        </p:spPr>
      </p:sp>
      <p:pic>
        <p:nvPicPr>
          <p:cNvPr id="26" name="Image 1" descr="preencoded.png">    </p:cNvPr>
          <p:cNvPicPr>
            <a:picLocks noChangeAspect="1"/>
          </p:cNvPicPr>
          <p:nvPr/>
        </p:nvPicPr>
        <p:blipFill>
          <a:blip r:embed="rId2"/>
          <a:stretch>
            <a:fillRect/>
          </a:stretch>
        </p:blipFill>
        <p:spPr>
          <a:xfrm>
            <a:off x="6053328" y="2683764"/>
            <a:ext cx="347472" cy="347472"/>
          </a:xfrm>
          <a:prstGeom prst="rect">
            <a:avLst/>
          </a:prstGeom>
        </p:spPr>
      </p:pic>
      <p:sp>
        <p:nvSpPr>
          <p:cNvPr id="27" name="Text 23"/>
          <p:cNvSpPr/>
          <p:nvPr/>
        </p:nvSpPr>
        <p:spPr>
          <a:xfrm>
            <a:off x="6419088" y="2221992"/>
            <a:ext cx="1993392" cy="1033272"/>
          </a:xfrm>
          <a:prstGeom prst="rect">
            <a:avLst/>
          </a:prstGeom>
          <a:noFill/>
          <a:ln/>
        </p:spPr>
        <p:txBody>
          <a:bodyPr wrap="square" lIns="0" tIns="0" rIns="0" bIns="0" rtlCol="0" anchor="ctr"/>
          <a:lstStyle/>
          <a:p>
            <a:pPr algn="ctr" indent="0" marL="0">
              <a:buNone/>
            </a:pPr>
            <a:r>
              <a:rPr lang="en-US" sz="4000" b="1" dirty="0">
                <a:solidFill>
                  <a:srgbClr val="1F3864"/>
                </a:solidFill>
                <a:latin typeface="Calibri" pitchFamily="34" charset="0"/>
                <a:ea typeface="Calibri" pitchFamily="34" charset="-122"/>
                <a:cs typeface="Calibri" pitchFamily="34" charset="-120"/>
              </a:rPr>
              <a:t>8:00</a:t>
            </a:r>
            <a:endParaRPr lang="en-US" sz="4000" dirty="0"/>
          </a:p>
        </p:txBody>
      </p:sp>
      <p:sp>
        <p:nvSpPr>
          <p:cNvPr id="28" name="Text 24"/>
          <p:cNvSpPr/>
          <p:nvPr/>
        </p:nvSpPr>
        <p:spPr>
          <a:xfrm>
            <a:off x="5852160" y="3236976"/>
            <a:ext cx="2651760" cy="27432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chrono projeté</a:t>
            </a:r>
            <a:endParaRPr lang="en-US" sz="1050" dirty="0"/>
          </a:p>
        </p:txBody>
      </p:sp>
      <p:sp>
        <p:nvSpPr>
          <p:cNvPr id="29" name="Text 25"/>
          <p:cNvSpPr/>
          <p:nvPr/>
        </p:nvSpPr>
        <p:spPr>
          <a:xfrm>
            <a:off x="457200" y="4315968"/>
            <a:ext cx="7589520" cy="365760"/>
          </a:xfrm>
          <a:prstGeom prst="rect">
            <a:avLst/>
          </a:prstGeom>
          <a:noFill/>
          <a:ln/>
        </p:spPr>
        <p:txBody>
          <a:bodyPr wrap="square" lIns="0" tIns="0" rIns="0" bIns="0" rtlCol="0" anchor="ctr"/>
          <a:lstStyle/>
          <a:p>
            <a:pPr indent="0" marL="0">
              <a:buNone/>
            </a:pPr>
            <a:r>
              <a:rPr lang="en-US" sz="1500" b="1" dirty="0">
                <a:solidFill>
                  <a:srgbClr val="C00000"/>
                </a:solidFill>
                <a:latin typeface="Calibri" pitchFamily="34" charset="0"/>
                <a:ea typeface="Calibri" pitchFamily="34" charset="-122"/>
                <a:cs typeface="Calibri" pitchFamily="34" charset="-120"/>
              </a:rPr>
              <a:t>Une date qui n’est pas dans l’agenda n’existe pas. </a:t>
            </a:r>
            <a:pPr indent="0" marL="0">
              <a:buNone/>
            </a:pPr>
            <a:r>
              <a:rPr lang="en-US" sz="1500" dirty="0">
                <a:solidFill>
                  <a:srgbClr val="2B2B2B"/>
                </a:solidFill>
                <a:latin typeface="Calibri" pitchFamily="34" charset="0"/>
                <a:ea typeface="Calibri" pitchFamily="34" charset="-122"/>
                <a:cs typeface="Calibri" pitchFamily="34" charset="-120"/>
              </a:rPr>
              <a:t>Téléphone : 3 minutes, puis rangé.</a:t>
            </a:r>
            <a:endParaRPr lang="en-US" sz="1500" dirty="0"/>
          </a:p>
        </p:txBody>
      </p:sp>
      <p:sp>
        <p:nvSpPr>
          <p:cNvPr id="30" name="Text 26"/>
          <p:cNvSpPr/>
          <p:nvPr/>
        </p:nvSpPr>
        <p:spPr>
          <a:xfrm>
            <a:off x="457200" y="4828032"/>
            <a:ext cx="69494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Fixer le « quand » à l’avance : intentions d’implémentation (Gollwitzer, 1999).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457200" y="256032"/>
            <a:ext cx="5943600" cy="4572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Ma trace écrite</a:t>
            </a:r>
            <a:endParaRPr lang="en-US" sz="2700" dirty="0"/>
          </a:p>
        </p:txBody>
      </p:sp>
      <p:sp>
        <p:nvSpPr>
          <p:cNvPr id="3" name="Text 1"/>
          <p:cNvSpPr/>
          <p:nvPr/>
        </p:nvSpPr>
        <p:spPr>
          <a:xfrm>
            <a:off x="457200" y="713232"/>
            <a:ext cx="5943600" cy="320040"/>
          </a:xfrm>
          <a:prstGeom prst="rect">
            <a:avLst/>
          </a:prstGeom>
          <a:noFill/>
          <a:ln/>
        </p:spPr>
        <p:txBody>
          <a:bodyPr wrap="square" lIns="0" tIns="0" rIns="0" bIns="0" rtlCol="0" anchor="ctr"/>
          <a:lstStyle/>
          <a:p>
            <a:pPr indent="0" marL="0">
              <a:buNone/>
            </a:pPr>
            <a:r>
              <a:rPr lang="en-US" sz="1400" i="1" dirty="0">
                <a:solidFill>
                  <a:srgbClr val="DEEAF6"/>
                </a:solidFill>
                <a:latin typeface="Calibri" pitchFamily="34" charset="0"/>
                <a:ea typeface="Calibri" pitchFamily="34" charset="-122"/>
                <a:cs typeface="Calibri" pitchFamily="34" charset="-120"/>
              </a:rPr>
              <a:t>Carnet de méthodes · page « Consolidation »</a:t>
            </a:r>
            <a:endParaRPr lang="en-US" sz="1400" dirty="0"/>
          </a:p>
        </p:txBody>
      </p:sp>
      <p:sp>
        <p:nvSpPr>
          <p:cNvPr id="4" name="Shape 2"/>
          <p:cNvSpPr/>
          <p:nvPr/>
        </p:nvSpPr>
        <p:spPr>
          <a:xfrm>
            <a:off x="457200" y="1234440"/>
            <a:ext cx="1828800" cy="658368"/>
          </a:xfrm>
          <a:prstGeom prst="roundRect">
            <a:avLst>
              <a:gd name="adj" fmla="val 19444"/>
            </a:avLst>
          </a:prstGeom>
          <a:solidFill>
            <a:srgbClr val="FFFFFF"/>
          </a:solidFill>
          <a:ln/>
        </p:spPr>
      </p:sp>
      <p:sp>
        <p:nvSpPr>
          <p:cNvPr id="5" name="Text 3"/>
          <p:cNvSpPr/>
          <p:nvPr/>
        </p:nvSpPr>
        <p:spPr>
          <a:xfrm>
            <a:off x="530352" y="1234440"/>
            <a:ext cx="1682496" cy="658368"/>
          </a:xfrm>
          <a:prstGeom prst="rect">
            <a:avLst/>
          </a:prstGeom>
          <a:noFill/>
          <a:ln/>
        </p:spPr>
        <p:txBody>
          <a:bodyPr wrap="square" lIns="0" tIns="0" rIns="0" bIns="0" rtlCol="0" anchor="ctr"/>
          <a:lstStyle/>
          <a:p>
            <a:pPr algn="ctr" indent="0" marL="0">
              <a:buNone/>
            </a:pPr>
            <a:r>
              <a:rPr lang="en-US" sz="1350" b="1" dirty="0">
                <a:solidFill>
                  <a:srgbClr val="1F3864"/>
                </a:solidFill>
                <a:latin typeface="Calibri" pitchFamily="34" charset="0"/>
                <a:ea typeface="Calibri" pitchFamily="34" charset="-122"/>
                <a:cs typeface="Calibri" pitchFamily="34" charset="-120"/>
              </a:rPr>
              <a:t>ma ligne de temps</a:t>
            </a:r>
            <a:endParaRPr lang="en-US" sz="1350" dirty="0"/>
          </a:p>
        </p:txBody>
      </p:sp>
      <p:sp>
        <p:nvSpPr>
          <p:cNvPr id="6" name="Text 4"/>
          <p:cNvSpPr/>
          <p:nvPr/>
        </p:nvSpPr>
        <p:spPr>
          <a:xfrm>
            <a:off x="2286000" y="1234440"/>
            <a:ext cx="274320" cy="658368"/>
          </a:xfrm>
          <a:prstGeom prst="rect">
            <a:avLst/>
          </a:prstGeom>
          <a:noFill/>
          <a:ln/>
        </p:spPr>
        <p:txBody>
          <a:bodyPr wrap="square" lIns="0" tIns="0" rIns="0" bIns="0" rtlCol="0" anchor="ctr"/>
          <a:lstStyle/>
          <a:p>
            <a:pPr algn="ctr" indent="0" marL="0">
              <a:buNone/>
            </a:pPr>
            <a:r>
              <a:rPr lang="en-US" sz="1800" dirty="0">
                <a:solidFill>
                  <a:srgbClr val="DEEAF6"/>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2560320" y="1234440"/>
            <a:ext cx="1828800" cy="658368"/>
          </a:xfrm>
          <a:prstGeom prst="roundRect">
            <a:avLst>
              <a:gd name="adj" fmla="val 19444"/>
            </a:avLst>
          </a:prstGeom>
          <a:solidFill>
            <a:srgbClr val="FFFFFF"/>
          </a:solidFill>
          <a:ln/>
        </p:spPr>
      </p:sp>
      <p:sp>
        <p:nvSpPr>
          <p:cNvPr id="8" name="Text 6"/>
          <p:cNvSpPr/>
          <p:nvPr/>
        </p:nvSpPr>
        <p:spPr>
          <a:xfrm>
            <a:off x="2633472" y="1234440"/>
            <a:ext cx="1682496" cy="658368"/>
          </a:xfrm>
          <a:prstGeom prst="rect">
            <a:avLst/>
          </a:prstGeom>
          <a:noFill/>
          <a:ln/>
        </p:spPr>
        <p:txBody>
          <a:bodyPr wrap="square" lIns="0" tIns="0" rIns="0" bIns="0" rtlCol="0" anchor="ctr"/>
          <a:lstStyle/>
          <a:p>
            <a:pPr algn="ctr" indent="0" marL="0">
              <a:buNone/>
            </a:pPr>
            <a:r>
              <a:rPr lang="en-US" sz="1350" b="1" dirty="0">
                <a:solidFill>
                  <a:srgbClr val="1F3864"/>
                </a:solidFill>
                <a:latin typeface="Calibri" pitchFamily="34" charset="0"/>
                <a:ea typeface="Calibri" pitchFamily="34" charset="-122"/>
                <a:cs typeface="Calibri" pitchFamily="34" charset="-120"/>
              </a:rPr>
              <a:t>mes 3 collisions</a:t>
            </a:r>
            <a:endParaRPr lang="en-US" sz="1350" dirty="0"/>
          </a:p>
        </p:txBody>
      </p:sp>
      <p:sp>
        <p:nvSpPr>
          <p:cNvPr id="9" name="Text 7"/>
          <p:cNvSpPr/>
          <p:nvPr/>
        </p:nvSpPr>
        <p:spPr>
          <a:xfrm>
            <a:off x="4389120" y="1234440"/>
            <a:ext cx="274320" cy="658368"/>
          </a:xfrm>
          <a:prstGeom prst="rect">
            <a:avLst/>
          </a:prstGeom>
          <a:noFill/>
          <a:ln/>
        </p:spPr>
        <p:txBody>
          <a:bodyPr wrap="square" lIns="0" tIns="0" rIns="0" bIns="0" rtlCol="0" anchor="ctr"/>
          <a:lstStyle/>
          <a:p>
            <a:pPr algn="ctr" indent="0" marL="0">
              <a:buNone/>
            </a:pPr>
            <a:r>
              <a:rPr lang="en-US" sz="1800" dirty="0">
                <a:solidFill>
                  <a:srgbClr val="DEEAF6"/>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4663440" y="1234440"/>
            <a:ext cx="1828800" cy="658368"/>
          </a:xfrm>
          <a:prstGeom prst="roundRect">
            <a:avLst>
              <a:gd name="adj" fmla="val 19444"/>
            </a:avLst>
          </a:prstGeom>
          <a:solidFill>
            <a:srgbClr val="FFFFFF"/>
          </a:solidFill>
          <a:ln/>
        </p:spPr>
      </p:sp>
      <p:sp>
        <p:nvSpPr>
          <p:cNvPr id="11" name="Text 9"/>
          <p:cNvSpPr/>
          <p:nvPr/>
        </p:nvSpPr>
        <p:spPr>
          <a:xfrm>
            <a:off x="4736592" y="1234440"/>
            <a:ext cx="1682496" cy="658368"/>
          </a:xfrm>
          <a:prstGeom prst="rect">
            <a:avLst/>
          </a:prstGeom>
          <a:noFill/>
          <a:ln/>
        </p:spPr>
        <p:txBody>
          <a:bodyPr wrap="square" lIns="0" tIns="0" rIns="0" bIns="0" rtlCol="0" anchor="ctr"/>
          <a:lstStyle/>
          <a:p>
            <a:pPr algn="ctr" indent="0" marL="0">
              <a:buNone/>
            </a:pPr>
            <a:r>
              <a:rPr lang="en-US" sz="1350" b="1" dirty="0">
                <a:solidFill>
                  <a:srgbClr val="1F3864"/>
                </a:solidFill>
                <a:latin typeface="Calibri" pitchFamily="34" charset="0"/>
                <a:ea typeface="Calibri" pitchFamily="34" charset="-122"/>
                <a:cs typeface="Calibri" pitchFamily="34" charset="-120"/>
              </a:rPr>
              <a:t>ma semaine type</a:t>
            </a:r>
            <a:endParaRPr lang="en-US" sz="1350" dirty="0"/>
          </a:p>
        </p:txBody>
      </p:sp>
      <p:sp>
        <p:nvSpPr>
          <p:cNvPr id="12" name="Text 10"/>
          <p:cNvSpPr/>
          <p:nvPr/>
        </p:nvSpPr>
        <p:spPr>
          <a:xfrm>
            <a:off x="6492240" y="1234440"/>
            <a:ext cx="274320" cy="658368"/>
          </a:xfrm>
          <a:prstGeom prst="rect">
            <a:avLst/>
          </a:prstGeom>
          <a:noFill/>
          <a:ln/>
        </p:spPr>
        <p:txBody>
          <a:bodyPr wrap="square" lIns="0" tIns="0" rIns="0" bIns="0" rtlCol="0" anchor="ctr"/>
          <a:lstStyle/>
          <a:p>
            <a:pPr algn="ctr" indent="0" marL="0">
              <a:buNone/>
            </a:pPr>
            <a:r>
              <a:rPr lang="en-US" sz="1800" dirty="0">
                <a:solidFill>
                  <a:srgbClr val="DEEAF6"/>
                </a:solidFill>
                <a:latin typeface="Calibri" pitchFamily="34" charset="0"/>
                <a:ea typeface="Calibri" pitchFamily="34" charset="-122"/>
                <a:cs typeface="Calibri" pitchFamily="34" charset="-120"/>
              </a:rPr>
              <a:t>→</a:t>
            </a:r>
            <a:endParaRPr lang="en-US" sz="1800" dirty="0"/>
          </a:p>
        </p:txBody>
      </p:sp>
      <p:sp>
        <p:nvSpPr>
          <p:cNvPr id="13" name="Shape 11"/>
          <p:cNvSpPr/>
          <p:nvPr/>
        </p:nvSpPr>
        <p:spPr>
          <a:xfrm>
            <a:off x="6766560" y="1234440"/>
            <a:ext cx="1828800" cy="658368"/>
          </a:xfrm>
          <a:prstGeom prst="roundRect">
            <a:avLst>
              <a:gd name="adj" fmla="val 19444"/>
            </a:avLst>
          </a:prstGeom>
          <a:solidFill>
            <a:srgbClr val="FFFFFF"/>
          </a:solidFill>
          <a:ln/>
        </p:spPr>
      </p:sp>
      <p:sp>
        <p:nvSpPr>
          <p:cNvPr id="14" name="Text 12"/>
          <p:cNvSpPr/>
          <p:nvPr/>
        </p:nvSpPr>
        <p:spPr>
          <a:xfrm>
            <a:off x="6839712" y="1234440"/>
            <a:ext cx="1682496" cy="658368"/>
          </a:xfrm>
          <a:prstGeom prst="rect">
            <a:avLst/>
          </a:prstGeom>
          <a:noFill/>
          <a:ln/>
        </p:spPr>
        <p:txBody>
          <a:bodyPr wrap="square" lIns="0" tIns="0" rIns="0" bIns="0" rtlCol="0" anchor="ctr"/>
          <a:lstStyle/>
          <a:p>
            <a:pPr algn="ctr" indent="0" marL="0">
              <a:buNone/>
            </a:pPr>
            <a:r>
              <a:rPr lang="en-US" sz="1350" b="1" dirty="0">
                <a:solidFill>
                  <a:srgbClr val="1F3864"/>
                </a:solidFill>
                <a:latin typeface="Calibri" pitchFamily="34" charset="0"/>
                <a:ea typeface="Calibri" pitchFamily="34" charset="-122"/>
                <a:cs typeface="Calibri" pitchFamily="34" charset="-120"/>
              </a:rPr>
              <a:t>mes rendez-vous mensuels</a:t>
            </a:r>
            <a:endParaRPr lang="en-US" sz="1350" dirty="0"/>
          </a:p>
        </p:txBody>
      </p:sp>
      <p:sp>
        <p:nvSpPr>
          <p:cNvPr id="15" name="Shape 13"/>
          <p:cNvSpPr/>
          <p:nvPr/>
        </p:nvSpPr>
        <p:spPr>
          <a:xfrm>
            <a:off x="457200" y="2148840"/>
            <a:ext cx="8046720" cy="1874520"/>
          </a:xfrm>
          <a:prstGeom prst="roundRect">
            <a:avLst>
              <a:gd name="adj" fmla="val 5854"/>
            </a:avLst>
          </a:prstGeom>
          <a:solidFill>
            <a:srgbClr val="2E5395"/>
          </a:solidFill>
          <a:ln/>
        </p:spPr>
      </p:sp>
      <p:sp>
        <p:nvSpPr>
          <p:cNvPr id="16" name="Text 14"/>
          <p:cNvSpPr/>
          <p:nvPr/>
        </p:nvSpPr>
        <p:spPr>
          <a:xfrm>
            <a:off x="731520" y="2286000"/>
            <a:ext cx="7498080" cy="1600200"/>
          </a:xfrm>
          <a:prstGeom prst="rect">
            <a:avLst/>
          </a:prstGeom>
          <a:noFill/>
          <a:ln/>
        </p:spPr>
        <p:txBody>
          <a:bodyPr wrap="square" lIns="0" tIns="0" rIns="0" bIns="0" rtlCol="0" anchor="ctr"/>
          <a:lstStyle/>
          <a:p>
            <a:pPr indent="0" marL="0">
              <a:spcAft>
                <a:spcPts val="700"/>
              </a:spcAft>
              <a:buNone/>
            </a:pPr>
            <a:r>
              <a:rPr lang="en-US" sz="1400" b="1" spc="150" kern="0" dirty="0">
                <a:solidFill>
                  <a:srgbClr val="FFFFFF"/>
                </a:solidFill>
                <a:latin typeface="Calibri" pitchFamily="34" charset="0"/>
                <a:ea typeface="Calibri" pitchFamily="34" charset="-122"/>
                <a:cs typeface="Calibri" pitchFamily="34" charset="-120"/>
              </a:rPr>
              <a:t>MON ENGAGEMENT 14 JOURS</a:t>
            </a:r>
            <a:endParaRPr lang="en-US" sz="1400" dirty="0"/>
          </a:p>
          <a:p>
            <a:pPr indent="0" marL="0">
              <a:spcAft>
                <a:spcPts val="700"/>
              </a:spcAft>
              <a:buNone/>
            </a:pPr>
            <a:r>
              <a:rPr lang="en-US" sz="1900" dirty="0">
                <a:solidFill>
                  <a:srgbClr val="FFFFFF"/>
                </a:solidFill>
                <a:latin typeface="Calibri" pitchFamily="34" charset="0"/>
                <a:ea typeface="Calibri" pitchFamily="34" charset="-122"/>
                <a:cs typeface="Calibri" pitchFamily="34" charset="-120"/>
              </a:rPr>
              <a:t>Je tiens ma semaine type quatorze jours.</a:t>
            </a:r>
            <a:endParaRPr lang="en-US" sz="1400" dirty="0"/>
          </a:p>
          <a:p>
            <a:pPr indent="0" marL="0">
              <a:spcAft>
                <a:spcPts val="700"/>
              </a:spcAft>
              <a:buNone/>
            </a:pPr>
            <a:r>
              <a:rPr lang="en-US" sz="1900" dirty="0">
                <a:solidFill>
                  <a:srgbClr val="FFFFFF"/>
                </a:solidFill>
                <a:latin typeface="Calibri" pitchFamily="34" charset="0"/>
                <a:ea typeface="Calibri" pitchFamily="34" charset="-122"/>
                <a:cs typeface="Calibri" pitchFamily="34" charset="-120"/>
              </a:rPr>
              <a:t>J’entoure chaque jour où mes créneaux ont été honorés.</a:t>
            </a:r>
            <a:endParaRPr lang="en-US" sz="1400" dirty="0"/>
          </a:p>
          <a:p>
            <a:pPr indent="0" marL="0">
              <a:spcAft>
                <a:spcPts val="700"/>
              </a:spcAft>
              <a:buNone/>
            </a:pPr>
            <a:r>
              <a:rPr lang="en-US" sz="1400" i="1" dirty="0">
                <a:solidFill>
                  <a:srgbClr val="DEEAF6"/>
                </a:solidFill>
                <a:latin typeface="Calibri" pitchFamily="34" charset="0"/>
                <a:ea typeface="Calibri" pitchFamily="34" charset="-122"/>
                <a:cs typeface="Calibri" pitchFamily="34" charset="-120"/>
              </a:rPr>
              <a:t>Je coche la grille chaque jour — bilan à la vie de classe dans deux semaines.</a:t>
            </a:r>
            <a:endParaRPr lang="en-US" sz="1400" dirty="0"/>
          </a:p>
        </p:txBody>
      </p:sp>
      <p:sp>
        <p:nvSpPr>
          <p:cNvPr id="17" name="Text 15"/>
          <p:cNvSpPr/>
          <p:nvPr/>
        </p:nvSpPr>
        <p:spPr>
          <a:xfrm>
            <a:off x="457200" y="4206240"/>
            <a:ext cx="8046720" cy="320040"/>
          </a:xfrm>
          <a:prstGeom prst="rect">
            <a:avLst/>
          </a:prstGeom>
          <a:noFill/>
          <a:ln/>
        </p:spPr>
        <p:txBody>
          <a:bodyPr wrap="square" lIns="0" tIns="0" rIns="0" bIns="0" rtlCol="0" anchor="ctr"/>
          <a:lstStyle/>
          <a:p>
            <a:pPr algn="ctr" indent="0" marL="0">
              <a:buNone/>
            </a:pPr>
            <a:r>
              <a:rPr lang="en-US" sz="1300" i="1" dirty="0">
                <a:solidFill>
                  <a:srgbClr val="DEEAF6"/>
                </a:solidFill>
                <a:latin typeface="Calibri" pitchFamily="34" charset="0"/>
                <a:ea typeface="Calibri" pitchFamily="34" charset="-122"/>
                <a:cs typeface="Calibri" pitchFamily="34" charset="-120"/>
              </a:rPr>
              <a:t>Point mensuel toute l’année · prochaine séance : B4, la matrice de maîtrise</a:t>
            </a:r>
            <a:endParaRPr lang="en-US" sz="1300" dirty="0"/>
          </a:p>
        </p:txBody>
      </p:sp>
      <p:sp>
        <p:nvSpPr>
          <p:cNvPr id="18" name="Text 16"/>
          <p:cNvSpPr/>
          <p:nvPr/>
        </p:nvSpPr>
        <p:spPr>
          <a:xfrm>
            <a:off x="7635240" y="4828032"/>
            <a:ext cx="1417320" cy="237744"/>
          </a:xfrm>
          <a:prstGeom prst="rect">
            <a:avLst/>
          </a:prstGeom>
          <a:noFill/>
          <a:ln/>
        </p:spPr>
        <p:txBody>
          <a:bodyPr wrap="square" lIns="0" tIns="0" rIns="0" bIns="0" rtlCol="0" anchor="ctr"/>
          <a:lstStyle/>
          <a:p>
            <a:pPr algn="r" indent="0" marL="0">
              <a:buNone/>
            </a:pPr>
            <a:r>
              <a:rPr lang="en-US" sz="900" dirty="0">
                <a:solidFill>
                  <a:srgbClr val="DEEAF6"/>
                </a:solidFill>
                <a:latin typeface="Calibri" pitchFamily="34" charset="0"/>
                <a:ea typeface="Calibri" pitchFamily="34" charset="-122"/>
                <a:cs typeface="Calibri" pitchFamily="34" charset="-120"/>
              </a:rPr>
              <a:t>C4 · écran 11 / 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C4 · Piloter l’année de Terminale</dc:title>
  <dc:subject>PptxGenJS Presentation</dc:subject>
  <dc:creator>Institut Stanislas de Cannes</dc:creator>
  <cp:lastModifiedBy>Institut Stanislas de Cannes</cp:lastModifiedBy>
  <cp:revision>1</cp:revision>
  <dcterms:created xsi:type="dcterms:W3CDTF">2026-07-18T09:32:25Z</dcterms:created>
  <dcterms:modified xsi:type="dcterms:W3CDTF">2026-07-18T09:32:25Z</dcterms:modified>
</cp:coreProperties>
</file>