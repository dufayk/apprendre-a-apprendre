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Collectif. Cadrage bref (2 min). Cette séance ouvre l'année de Terminale sur le pilotage — anticiper le calendrier, pas orienter les élèves. Rappeler le pilier 4 : consolidation par répétition dans le temps et sommeil.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Collectif, environ 2 minutes. Poser le cadrage sans débat. Insister sur la limite du jour : on planifie le calendrier, on n'oriente pas les vœux.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Collectif. Projeter le calendrier consolidé de l'établissement à côté. Message clé : tout ce qui est daté entre sur la ligne, y compris le Grand Oral dès septembre.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Individuel, 6 minutes, chronométré. Support 1. Chaque élève recopie la ligne de l'année et ajoute ses échéances personnelles ; les champs à confirmer se compléteront au fil de l'année. Lancer le minuteur.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Binômes, 6 minutes, chronométré. Support 2. Échanger les lignes, répondre à trois questions : quoi en même temps ? quelles périodes calmes ? que déplacer vers sept.–nov. ? Entourer les collisions.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Collectif. Présenter les trois collisions structurelles de l'année, puis souligner que septembre-novembre et les vacances restent des périodes exploitables — c'est le levier de la séance suivante (semaine type).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Collectif. Introduire les cinq règles qui structurent la semaine type, avant l'atelier de construction individuelle.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Individuel, 15 minutes, chronométré. Support 3. Repères de volume : 3-4 créneaux par EDS, 1-2 pour la philosophie, 1-2 pour les autres matières, 30 min d'orientation, 1 tampon. Contenus par défaut : s'interroger (B1/B2), réactiver (B3), séries mélangées (D2). Rappeler en petit corps : régularité = pratique espacée (Cepeda et al., 2006) ; repères de volume = pratique de terrain, non une norme scientifique stricte.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Individuel, fin d'atelier. Message central : une semaine héroïque et abandonnée coûte plus qu'une semaine tenue à 70 %. Faire cocher les 5 cases du support et écrire l'heure de coucher.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Individuel, 8 minutes, chronométré. Formule : quand [1er dimanche du mois, 18h], alors [point de 20 min]. Au menu : où j'en suis, le planning tient-il, Parcoursup ce mois-ci, une décision. 9-10 dates dans l'agenda, pas sur la feuille. Téléphone : 3 minutes puis rangé. Référence : Gollwitzer, 1999 (intentions de mise en œuvre).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Individuel, 5 minutes. Trace dans le carnet de méthodes, page Consolidation. Engagement : tenir la semaine type pendant 14 jours. Météo du transfert dans deux semaines ; point mensuel toute l'année.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gradFill rotWithShape="1">
            <a:gsLst>
              <a:gs pos="0">
                <a:srgbClr val="0076B7">
                  <a:alpha val="100000"/>
                </a:srgbClr>
              </a:gs>
              <a:gs pos="100000">
                <a:srgbClr val="00569B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3765649"/>
            <a:ext cx="178117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007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TERMINALE · PILIER 4 — CONSOLIDATION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4260949"/>
            <a:ext cx="16240125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564"/>
              </a:lnSpc>
              <a:buNone/>
            </a:pPr>
            <a:r>
              <a:rPr lang="en-US" sz="540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Piloter l'année de Terminale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47750" y="5330726"/>
            <a:ext cx="136207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Répéter dans le temps, et dormir, gravent ce que j'ai appris »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047750" y="9372600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9382125"/>
            <a:ext cx="18288000" cy="904875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7346" y="9463088"/>
            <a:ext cx="609154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gradFill rotWithShape="1">
            <a:gsLst>
              <a:gs pos="0">
                <a:srgbClr val="0076B7">
                  <a:alpha val="100000"/>
                </a:srgbClr>
              </a:gs>
              <a:gs pos="100000">
                <a:srgbClr val="00569B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895350"/>
            <a:ext cx="178117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07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178117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L'année en un mot : </a:t>
            </a:r>
            <a:pPr algn="l" indent="0" marL="0">
              <a:buNone/>
            </a:pPr>
            <a:r>
              <a:rPr lang="en-US" sz="4500" b="1" dirty="0">
                <a:solidFill>
                  <a:srgbClr val="8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anticiper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409825"/>
            <a:ext cx="5041850" cy="28575"/>
          </a:xfrm>
          <a:prstGeom prst="rect">
            <a:avLst/>
          </a:prstGeom>
          <a:solidFill>
            <a:srgbClr val="00569B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2686050"/>
            <a:ext cx="519310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Écrits + Grand Oral en juin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6623000" y="2409825"/>
            <a:ext cx="5041999" cy="28575"/>
          </a:xfrm>
          <a:prstGeom prst="rect">
            <a:avLst/>
          </a:prstGeom>
          <a:solidFill>
            <a:srgbClr val="00569B"/>
          </a:solidFill>
          <a:ln/>
        </p:spPr>
      </p:sp>
      <p:sp>
        <p:nvSpPr>
          <p:cNvPr id="8" name="Text 6"/>
          <p:cNvSpPr/>
          <p:nvPr/>
        </p:nvSpPr>
        <p:spPr>
          <a:xfrm>
            <a:off x="6623000" y="2686050"/>
            <a:ext cx="5193259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Parcoursup en parallèle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12198400" y="2409825"/>
            <a:ext cx="5041850" cy="28575"/>
          </a:xfrm>
          <a:prstGeom prst="rect">
            <a:avLst/>
          </a:prstGeom>
          <a:solidFill>
            <a:srgbClr val="00569B"/>
          </a:solidFill>
          <a:ln/>
        </p:spPr>
      </p:sp>
      <p:sp>
        <p:nvSpPr>
          <p:cNvPr id="10" name="Text 8"/>
          <p:cNvSpPr/>
          <p:nvPr/>
        </p:nvSpPr>
        <p:spPr>
          <a:xfrm>
            <a:off x="12198400" y="2686050"/>
            <a:ext cx="519310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moyenne compte déjà</a:t>
            </a:r>
            <a:endParaRPr lang="en-US" sz="2325" dirty="0"/>
          </a:p>
        </p:txBody>
      </p:sp>
      <p:sp>
        <p:nvSpPr>
          <p:cNvPr id="11" name="Shape 9"/>
          <p:cNvSpPr/>
          <p:nvPr/>
        </p:nvSpPr>
        <p:spPr>
          <a:xfrm>
            <a:off x="1047750" y="7896225"/>
            <a:ext cx="16192500" cy="1057275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7750" y="7896225"/>
            <a:ext cx="57150" cy="1057275"/>
          </a:xfrm>
          <a:prstGeom prst="rect">
            <a:avLst/>
          </a:prstGeom>
          <a:solidFill>
            <a:srgbClr val="00569B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8201025"/>
            <a:ext cx="1570672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du jour : on planifie, on n'oriente pas.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1047750" y="9372600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9382125"/>
            <a:ext cx="18288000" cy="904875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7346" y="9463088"/>
            <a:ext cx="609154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gradFill rotWithShape="1">
            <a:gsLst>
              <a:gs pos="0">
                <a:srgbClr val="0076B7">
                  <a:alpha val="100000"/>
                </a:srgbClr>
              </a:gs>
              <a:gs pos="100000">
                <a:srgbClr val="00569B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895350"/>
            <a:ext cx="178117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07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178117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ligne de l'année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238375"/>
            <a:ext cx="146685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ce qui est daté entre sur la ligne.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047750" y="3533775"/>
            <a:ext cx="16192500" cy="2857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7" name="Shape 5"/>
          <p:cNvSpPr/>
          <p:nvPr/>
        </p:nvSpPr>
        <p:spPr>
          <a:xfrm>
            <a:off x="1943100" y="3324225"/>
            <a:ext cx="304800" cy="304800"/>
          </a:xfrm>
          <a:prstGeom prst="ellipse">
            <a:avLst/>
          </a:prstGeom>
          <a:solidFill>
            <a:srgbClr val="00569B"/>
          </a:solidFill>
          <a:ln w="476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569B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95780" y="3819525"/>
            <a:ext cx="15992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Bacs blancs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372100" y="3324225"/>
            <a:ext cx="304800" cy="304800"/>
          </a:xfrm>
          <a:prstGeom prst="ellipse">
            <a:avLst/>
          </a:prstGeom>
          <a:solidFill>
            <a:srgbClr val="00569B"/>
          </a:solidFill>
          <a:ln w="476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569B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8650" y="3819525"/>
            <a:ext cx="2171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Jalons Parcoursup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801100" y="3324225"/>
            <a:ext cx="304800" cy="304800"/>
          </a:xfrm>
          <a:prstGeom prst="ellipse">
            <a:avLst/>
          </a:prstGeom>
          <a:solidFill>
            <a:srgbClr val="00569B"/>
          </a:solidFill>
          <a:ln w="476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569B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57701" y="3819525"/>
            <a:ext cx="15915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Philosophie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230100" y="3324225"/>
            <a:ext cx="304800" cy="304800"/>
          </a:xfrm>
          <a:prstGeom prst="ellipse">
            <a:avLst/>
          </a:prstGeom>
          <a:solidFill>
            <a:srgbClr val="00569B"/>
          </a:solidFill>
          <a:ln w="476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569B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689675" y="3819525"/>
            <a:ext cx="13856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Écrits EDS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5849600" y="3324225"/>
            <a:ext cx="304800" cy="304800"/>
          </a:xfrm>
          <a:prstGeom prst="ellipse">
            <a:avLst/>
          </a:prstGeom>
          <a:solidFill>
            <a:srgbClr val="8F0000"/>
          </a:solidFill>
          <a:ln w="476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8F0000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278896" y="3819525"/>
            <a:ext cx="14460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Oral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5371862" y="4295775"/>
            <a:ext cx="13861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dès septembre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47750" y="9372600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9382125"/>
            <a:ext cx="18288000" cy="904875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7346" y="9463088"/>
            <a:ext cx="609154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gradFill rotWithShape="1">
            <a:gsLst>
              <a:gs pos="0">
                <a:srgbClr val="0076B7">
                  <a:alpha val="100000"/>
                </a:srgbClr>
              </a:gs>
              <a:gs pos="100000">
                <a:srgbClr val="00569B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895350"/>
            <a:ext cx="103308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07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1033081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ligne à moi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409825"/>
            <a:ext cx="103308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1 : je recopie la ligne, j'ajoute mes échéances personnelles.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1047750" y="3100388"/>
            <a:ext cx="103308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champs </a:t>
            </a:r>
            <a:pPr algn="l" indent="0" marL="0">
              <a:lnSpc>
                <a:spcPct val="129167"/>
              </a:lnSpc>
              <a:buNone/>
            </a:pPr>
            <a:r>
              <a:rPr lang="en-US" sz="2325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[à confirmer] </a:t>
            </a:r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rempliront dans l'année.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11296650" y="895350"/>
            <a:ext cx="5943600" cy="3724275"/>
          </a:xfrm>
          <a:prstGeom prst="roundRect">
            <a:avLst>
              <a:gd name="adj" fmla="val 1023"/>
            </a:avLst>
          </a:prstGeom>
          <a:solidFill>
            <a:srgbClr val="F0F0F0"/>
          </a:solidFill>
          <a:ln/>
        </p:spPr>
      </p:sp>
      <p:sp>
        <p:nvSpPr>
          <p:cNvPr id="8" name="Shape 6"/>
          <p:cNvSpPr/>
          <p:nvPr/>
        </p:nvSpPr>
        <p:spPr>
          <a:xfrm>
            <a:off x="11296650" y="895350"/>
            <a:ext cx="5943600" cy="57150"/>
          </a:xfrm>
          <a:prstGeom prst="rect">
            <a:avLst/>
          </a:prstGeom>
          <a:solidFill>
            <a:srgbClr val="00569B"/>
          </a:solidFill>
          <a:ln/>
        </p:spPr>
      </p:sp>
      <p:sp>
        <p:nvSpPr>
          <p:cNvPr id="9" name="Text 7"/>
          <p:cNvSpPr/>
          <p:nvPr/>
        </p:nvSpPr>
        <p:spPr>
          <a:xfrm>
            <a:off x="13638609" y="1447800"/>
            <a:ext cx="13856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599938" y="1933575"/>
            <a:ext cx="3670727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20"/>
              </a:lnSpc>
              <a:buNone/>
            </a:pPr>
            <a:r>
              <a:rPr lang="en-US" sz="10500" b="1" dirty="0">
                <a:solidFill>
                  <a:srgbClr val="8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</a:t>
            </a:r>
            <a:endParaRPr lang="en-US" sz="10500" dirty="0"/>
          </a:p>
        </p:txBody>
      </p:sp>
      <p:sp>
        <p:nvSpPr>
          <p:cNvPr id="11" name="Shape 9"/>
          <p:cNvSpPr/>
          <p:nvPr/>
        </p:nvSpPr>
        <p:spPr>
          <a:xfrm>
            <a:off x="12484298" y="3533775"/>
            <a:ext cx="1570732" cy="590550"/>
          </a:xfrm>
          <a:prstGeom prst="roundRect">
            <a:avLst>
              <a:gd name="adj" fmla="val 6452"/>
            </a:avLst>
          </a:prstGeom>
          <a:solidFill>
            <a:srgbClr val="00569B"/>
          </a:solidFill>
          <a:ln/>
        </p:spPr>
      </p:sp>
      <p:sp>
        <p:nvSpPr>
          <p:cNvPr id="12" name="Text 10"/>
          <p:cNvSpPr/>
          <p:nvPr/>
        </p:nvSpPr>
        <p:spPr>
          <a:xfrm>
            <a:off x="12789098" y="3686175"/>
            <a:ext cx="9611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Démarrer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4245530" y="3533775"/>
            <a:ext cx="1807071" cy="590550"/>
          </a:xfrm>
          <a:prstGeom prst="roundRect">
            <a:avLst>
              <a:gd name="adj" fmla="val 6452"/>
            </a:avLst>
          </a:prstGeom>
          <a:ln w="19050">
            <a:solidFill>
              <a:srgbClr val="0056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569380" y="3705225"/>
            <a:ext cx="11593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Réinitialiser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47750" y="9372600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382125"/>
            <a:ext cx="18288000" cy="904875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7346" y="9463088"/>
            <a:ext cx="609154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gradFill rotWithShape="1">
            <a:gsLst>
              <a:gs pos="0">
                <a:srgbClr val="0076B7">
                  <a:alpha val="100000"/>
                </a:srgbClr>
              </a:gs>
              <a:gs pos="100000">
                <a:srgbClr val="00569B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895350"/>
            <a:ext cx="103308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07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1033081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ça frotte ?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409825"/>
            <a:ext cx="103308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Échangez vos lignes (support 2). Trois questions :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1047750" y="3100388"/>
            <a:ext cx="967340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285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Quoi en même temps ? Quelles périodes calmes ? Que déplacer vers sept.–nov. ?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047750" y="4433888"/>
            <a:ext cx="1033081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Entourez les collisions.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11296650" y="895350"/>
            <a:ext cx="5943600" cy="3724275"/>
          </a:xfrm>
          <a:prstGeom prst="roundRect">
            <a:avLst>
              <a:gd name="adj" fmla="val 1023"/>
            </a:avLst>
          </a:prstGeom>
          <a:solidFill>
            <a:srgbClr val="F0F0F0"/>
          </a:solidFill>
          <a:ln/>
        </p:spPr>
      </p:sp>
      <p:sp>
        <p:nvSpPr>
          <p:cNvPr id="9" name="Shape 7"/>
          <p:cNvSpPr/>
          <p:nvPr/>
        </p:nvSpPr>
        <p:spPr>
          <a:xfrm>
            <a:off x="11296650" y="895350"/>
            <a:ext cx="5943600" cy="57150"/>
          </a:xfrm>
          <a:prstGeom prst="rect">
            <a:avLst/>
          </a:prstGeom>
          <a:solidFill>
            <a:srgbClr val="00569B"/>
          </a:solidFill>
          <a:ln/>
        </p:spPr>
      </p:sp>
      <p:sp>
        <p:nvSpPr>
          <p:cNvPr id="10" name="Text 8"/>
          <p:cNvSpPr/>
          <p:nvPr/>
        </p:nvSpPr>
        <p:spPr>
          <a:xfrm>
            <a:off x="13835509" y="1447800"/>
            <a:ext cx="9420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BINÔME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599938" y="1933575"/>
            <a:ext cx="3670727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20"/>
              </a:lnSpc>
              <a:buNone/>
            </a:pPr>
            <a:r>
              <a:rPr lang="en-US" sz="10500" b="1" dirty="0">
                <a:solidFill>
                  <a:srgbClr val="8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</a:t>
            </a:r>
            <a:endParaRPr lang="en-US" sz="10500" dirty="0"/>
          </a:p>
        </p:txBody>
      </p:sp>
      <p:sp>
        <p:nvSpPr>
          <p:cNvPr id="12" name="Shape 10"/>
          <p:cNvSpPr/>
          <p:nvPr/>
        </p:nvSpPr>
        <p:spPr>
          <a:xfrm>
            <a:off x="12484298" y="3533775"/>
            <a:ext cx="1570732" cy="590550"/>
          </a:xfrm>
          <a:prstGeom prst="roundRect">
            <a:avLst>
              <a:gd name="adj" fmla="val 6452"/>
            </a:avLst>
          </a:prstGeom>
          <a:solidFill>
            <a:srgbClr val="00569B"/>
          </a:solidFill>
          <a:ln/>
        </p:spPr>
      </p:sp>
      <p:sp>
        <p:nvSpPr>
          <p:cNvPr id="13" name="Text 11"/>
          <p:cNvSpPr/>
          <p:nvPr/>
        </p:nvSpPr>
        <p:spPr>
          <a:xfrm>
            <a:off x="12789098" y="3686175"/>
            <a:ext cx="9611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Démarrer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4245530" y="3533775"/>
            <a:ext cx="1807071" cy="590550"/>
          </a:xfrm>
          <a:prstGeom prst="roundRect">
            <a:avLst>
              <a:gd name="adj" fmla="val 6452"/>
            </a:avLst>
          </a:prstGeom>
          <a:ln w="19050">
            <a:solidFill>
              <a:srgbClr val="0056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569380" y="3705225"/>
            <a:ext cx="11593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Réinitialiser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9372600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9382125"/>
            <a:ext cx="18288000" cy="904875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7346" y="9463088"/>
            <a:ext cx="609154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gradFill rotWithShape="1">
            <a:gsLst>
              <a:gs pos="0">
                <a:srgbClr val="0076B7">
                  <a:alpha val="100000"/>
                </a:srgbClr>
              </a:gs>
              <a:gs pos="100000">
                <a:srgbClr val="00569B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895350"/>
            <a:ext cx="178117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07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178117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3 collisions de l'année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409825"/>
            <a:ext cx="5118050" cy="2152650"/>
          </a:xfrm>
          <a:prstGeom prst="roundRect">
            <a:avLst>
              <a:gd name="adj" fmla="val 1770"/>
            </a:avLst>
          </a:prstGeom>
          <a:solidFill>
            <a:srgbClr val="F0F0F0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409825"/>
            <a:ext cx="5118050" cy="57150"/>
          </a:xfrm>
          <a:prstGeom prst="rect">
            <a:avLst/>
          </a:prstGeom>
          <a:solidFill>
            <a:srgbClr val="8F0000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2847975"/>
            <a:ext cx="47916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Hiver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428750" y="3467100"/>
            <a:ext cx="479165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 blanc n°1 × formulation des vœux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584900" y="2409825"/>
            <a:ext cx="5118199" cy="2152650"/>
          </a:xfrm>
          <a:prstGeom prst="roundRect">
            <a:avLst>
              <a:gd name="adj" fmla="val 1770"/>
            </a:avLst>
          </a:prstGeom>
          <a:solidFill>
            <a:srgbClr val="F0F0F0"/>
          </a:solidFill>
          <a:ln/>
        </p:spPr>
      </p:sp>
      <p:sp>
        <p:nvSpPr>
          <p:cNvPr id="10" name="Shape 8"/>
          <p:cNvSpPr/>
          <p:nvPr/>
        </p:nvSpPr>
        <p:spPr>
          <a:xfrm>
            <a:off x="6584900" y="2409825"/>
            <a:ext cx="5118199" cy="57150"/>
          </a:xfrm>
          <a:prstGeom prst="rect">
            <a:avLst/>
          </a:prstGeom>
          <a:solidFill>
            <a:srgbClr val="8F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965900" y="2847975"/>
            <a:ext cx="479181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– avril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965900" y="3467100"/>
            <a:ext cx="448688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Vœux à clore et confirmer × bac blanc n°2 × montée vers les écrits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122200" y="2409825"/>
            <a:ext cx="5118050" cy="2152650"/>
          </a:xfrm>
          <a:prstGeom prst="roundRect">
            <a:avLst>
              <a:gd name="adj" fmla="val 1770"/>
            </a:avLst>
          </a:prstGeom>
          <a:solidFill>
            <a:srgbClr val="F0F0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22200" y="2409825"/>
            <a:ext cx="5118050" cy="57150"/>
          </a:xfrm>
          <a:prstGeom prst="rect">
            <a:avLst/>
          </a:prstGeom>
          <a:solidFill>
            <a:srgbClr val="8F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503200" y="2847975"/>
            <a:ext cx="47916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Juin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503200" y="3467100"/>
            <a:ext cx="479165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Écrits + Grand Oral en dix jours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47750" y="8534400"/>
            <a:ext cx="178117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miroir : sept.–nov. et les vacances sont </a:t>
            </a:r>
            <a:pPr algn="l" indent="0" marL="0">
              <a:buNone/>
            </a:pPr>
            <a:r>
              <a:rPr lang="en-US" sz="2325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exploitables</a:t>
            </a:r>
            <a:pPr algn="l" indent="0" marL="0">
              <a:buNone/>
            </a:pPr>
            <a:r>
              <a:rPr lang="en-US" sz="2325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18" name="Shape 16"/>
          <p:cNvSpPr/>
          <p:nvPr/>
        </p:nvSpPr>
        <p:spPr>
          <a:xfrm>
            <a:off x="1047750" y="9372600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9382125"/>
            <a:ext cx="18288000" cy="904875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7346" y="9463088"/>
            <a:ext cx="609154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gradFill rotWithShape="1">
            <a:gsLst>
              <a:gs pos="0">
                <a:srgbClr val="0076B7">
                  <a:alpha val="100000"/>
                </a:srgbClr>
              </a:gs>
              <a:gs pos="100000">
                <a:srgbClr val="00569B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895350"/>
            <a:ext cx="178117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07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178117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semaine type de Terminale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238375"/>
            <a:ext cx="157162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réponse aux collisions se construit maintenant. Cinq règles :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047750" y="3190875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3409950"/>
            <a:ext cx="6477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8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2000250" y="3429000"/>
            <a:ext cx="396540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cible par EDS et philo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1047750" y="4057650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4276725"/>
            <a:ext cx="6477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8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2000250" y="4295775"/>
            <a:ext cx="370641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par défaut partout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1047750" y="4924425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5143500"/>
            <a:ext cx="6477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8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000250" y="5162550"/>
            <a:ext cx="274526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 d'orientation</a:t>
            </a:r>
            <a:endParaRPr lang="en-US" sz="2325" dirty="0"/>
          </a:p>
        </p:txBody>
      </p:sp>
      <p:sp>
        <p:nvSpPr>
          <p:cNvPr id="15" name="Shape 13"/>
          <p:cNvSpPr/>
          <p:nvPr/>
        </p:nvSpPr>
        <p:spPr>
          <a:xfrm>
            <a:off x="1047750" y="5791200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" y="6010275"/>
            <a:ext cx="6477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8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2000250" y="6029325"/>
            <a:ext cx="193457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tampon vide</a:t>
            </a:r>
            <a:endParaRPr lang="en-US" sz="2325" dirty="0"/>
          </a:p>
        </p:txBody>
      </p:sp>
      <p:sp>
        <p:nvSpPr>
          <p:cNvPr id="18" name="Shape 16"/>
          <p:cNvSpPr/>
          <p:nvPr/>
        </p:nvSpPr>
        <p:spPr>
          <a:xfrm>
            <a:off x="1047750" y="7524750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7750" y="6657975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6877050"/>
            <a:ext cx="6477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8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2000250" y="6896100"/>
            <a:ext cx="23209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Sommeil protégé</a:t>
            </a:r>
            <a:endParaRPr lang="en-US" sz="2325" dirty="0"/>
          </a:p>
        </p:txBody>
      </p:sp>
      <p:sp>
        <p:nvSpPr>
          <p:cNvPr id="22" name="Shape 20"/>
          <p:cNvSpPr/>
          <p:nvPr/>
        </p:nvSpPr>
        <p:spPr>
          <a:xfrm>
            <a:off x="1047750" y="9372600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9382125"/>
            <a:ext cx="18288000" cy="904875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7346" y="9463088"/>
            <a:ext cx="609154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gradFill rotWithShape="1">
            <a:gsLst>
              <a:gs pos="0">
                <a:srgbClr val="0076B7">
                  <a:alpha val="100000"/>
                </a:srgbClr>
              </a:gs>
              <a:gs pos="100000">
                <a:srgbClr val="00569B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895350"/>
            <a:ext cx="109385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07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1093851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: ma semaine type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238375"/>
            <a:ext cx="109385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3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047750" y="2828925"/>
            <a:ext cx="10242423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Repères : 3–4 créneaux / EDS · 1–2 philo · 1–2 autres matières · 30 min orientation · 1 tampon.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047750" y="4021336"/>
            <a:ext cx="10242423" cy="992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Contenus par défaut : </a:t>
            </a:r>
            <a:pPr algn="l" indent="0" marL="0">
              <a:lnSpc>
                <a:spcPct val="137778"/>
              </a:lnSpc>
              <a:buNone/>
            </a:pPr>
            <a:r>
              <a:rPr lang="en-US" sz="2325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s'interroger </a:t>
            </a:r>
            <a:pPr algn="l" indent="0" marL="0">
              <a:lnSpc>
                <a:spcPct val="137778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(B1/B2) · </a:t>
            </a:r>
            <a:pPr algn="l" indent="0" marL="0">
              <a:lnSpc>
                <a:spcPct val="137778"/>
              </a:lnSpc>
              <a:buNone/>
            </a:pPr>
            <a:r>
              <a:rPr lang="en-US" sz="2325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réactiver </a:t>
            </a:r>
            <a:pPr algn="l" indent="0" marL="0">
              <a:lnSpc>
                <a:spcPct val="137778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(B3) · </a:t>
            </a:r>
            <a:pPr algn="l" indent="0" marL="0">
              <a:lnSpc>
                <a:spcPct val="137778"/>
              </a:lnSpc>
              <a:buNone/>
            </a:pPr>
            <a:r>
              <a:rPr lang="en-US" sz="2325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séries mélangées </a:t>
            </a:r>
            <a:pPr algn="l" indent="0" marL="0">
              <a:lnSpc>
                <a:spcPct val="137778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(D2).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047750" y="8610600"/>
            <a:ext cx="109385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Régularité = pratique espacée (Cepeda et al., 2006) ; repères de volume = pratique de terrain.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1753850" y="895350"/>
            <a:ext cx="5486400" cy="3352800"/>
          </a:xfrm>
          <a:prstGeom prst="roundRect">
            <a:avLst>
              <a:gd name="adj" fmla="val 1136"/>
            </a:avLst>
          </a:prstGeom>
          <a:solidFill>
            <a:srgbClr val="F0F0F0"/>
          </a:solidFill>
          <a:ln/>
        </p:spPr>
      </p:sp>
      <p:sp>
        <p:nvSpPr>
          <p:cNvPr id="10" name="Shape 8"/>
          <p:cNvSpPr/>
          <p:nvPr/>
        </p:nvSpPr>
        <p:spPr>
          <a:xfrm>
            <a:off x="11753850" y="895350"/>
            <a:ext cx="5486400" cy="57150"/>
          </a:xfrm>
          <a:prstGeom prst="rect">
            <a:avLst/>
          </a:prstGeom>
          <a:solidFill>
            <a:srgbClr val="00569B"/>
          </a:solidFill>
          <a:ln/>
        </p:spPr>
      </p:sp>
      <p:sp>
        <p:nvSpPr>
          <p:cNvPr id="11" name="Text 9"/>
          <p:cNvSpPr/>
          <p:nvPr/>
        </p:nvSpPr>
        <p:spPr>
          <a:xfrm>
            <a:off x="13867209" y="1409700"/>
            <a:ext cx="13856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066812" y="1876425"/>
            <a:ext cx="314636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8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</a:t>
            </a:r>
            <a:endParaRPr lang="en-US" sz="9000" dirty="0"/>
          </a:p>
        </p:txBody>
      </p:sp>
      <p:sp>
        <p:nvSpPr>
          <p:cNvPr id="13" name="Shape 11"/>
          <p:cNvSpPr/>
          <p:nvPr/>
        </p:nvSpPr>
        <p:spPr>
          <a:xfrm>
            <a:off x="12878544" y="3267075"/>
            <a:ext cx="1414016" cy="523875"/>
          </a:xfrm>
          <a:prstGeom prst="roundRect">
            <a:avLst>
              <a:gd name="adj" fmla="val 7273"/>
            </a:avLst>
          </a:prstGeom>
          <a:solidFill>
            <a:srgbClr val="00569B"/>
          </a:solidFill>
          <a:ln/>
        </p:spPr>
      </p:sp>
      <p:sp>
        <p:nvSpPr>
          <p:cNvPr id="14" name="Text 12"/>
          <p:cNvSpPr/>
          <p:nvPr/>
        </p:nvSpPr>
        <p:spPr>
          <a:xfrm>
            <a:off x="13145244" y="3400425"/>
            <a:ext cx="88061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4483060" y="3267075"/>
            <a:ext cx="1632347" cy="523875"/>
          </a:xfrm>
          <a:prstGeom prst="roundRect">
            <a:avLst>
              <a:gd name="adj" fmla="val 7273"/>
            </a:avLst>
          </a:prstGeom>
          <a:ln w="19050">
            <a:solidFill>
              <a:srgbClr val="0056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768810" y="3419475"/>
            <a:ext cx="106084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Réinitialiser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47750" y="9372600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9382125"/>
            <a:ext cx="18288000" cy="904875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7346" y="9463088"/>
            <a:ext cx="609154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gradFill rotWithShape="1">
            <a:gsLst>
              <a:gs pos="0">
                <a:srgbClr val="0076B7">
                  <a:alpha val="100000"/>
                </a:srgbClr>
              </a:gs>
              <a:gs pos="100000">
                <a:srgbClr val="00569B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2943225"/>
            <a:ext cx="178117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07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3438525"/>
            <a:ext cx="146685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test de réalisme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4514850"/>
            <a:ext cx="2627069" cy="124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0" b="1" dirty="0">
                <a:solidFill>
                  <a:srgbClr val="8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70 %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3778895" y="5114925"/>
            <a:ext cx="714532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tenue &gt; parfaite abandonnée en novembre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047750" y="6143625"/>
            <a:ext cx="136207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 héroïque interdite. Cocher les 5 cases du support · heure de coucher écrite.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1047750" y="9372600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382125"/>
            <a:ext cx="18288000" cy="904875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7346" y="9463088"/>
            <a:ext cx="609154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gradFill rotWithShape="1">
            <a:gsLst>
              <a:gs pos="0">
                <a:srgbClr val="0076B7">
                  <a:alpha val="100000"/>
                </a:srgbClr>
              </a:gs>
              <a:gs pos="100000">
                <a:srgbClr val="00569B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895350"/>
            <a:ext cx="103308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07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967340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rendez-vous mensuel avec moi-même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895600"/>
            <a:ext cx="967340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285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[1ᵉʳ dimanche du mois, 18 h], alors [point de 20 min].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047750" y="4229100"/>
            <a:ext cx="967340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menu : où j'en suis · le planning tient-il · Parcoursup ce mois-ci · une décision.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047750" y="5421511"/>
            <a:ext cx="1033081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9–10 dates dans l'agenda — pas sur la feuille. Téléphone : 3 min, puis rangé.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11296650" y="895350"/>
            <a:ext cx="5943600" cy="3724275"/>
          </a:xfrm>
          <a:prstGeom prst="roundRect">
            <a:avLst>
              <a:gd name="adj" fmla="val 1023"/>
            </a:avLst>
          </a:prstGeom>
          <a:solidFill>
            <a:srgbClr val="F0F0F0"/>
          </a:solidFill>
          <a:ln/>
        </p:spPr>
      </p:sp>
      <p:sp>
        <p:nvSpPr>
          <p:cNvPr id="9" name="Shape 7"/>
          <p:cNvSpPr/>
          <p:nvPr/>
        </p:nvSpPr>
        <p:spPr>
          <a:xfrm>
            <a:off x="11296650" y="895350"/>
            <a:ext cx="5943600" cy="57150"/>
          </a:xfrm>
          <a:prstGeom prst="rect">
            <a:avLst/>
          </a:prstGeom>
          <a:solidFill>
            <a:srgbClr val="00569B"/>
          </a:solidFill>
          <a:ln/>
        </p:spPr>
      </p:sp>
      <p:sp>
        <p:nvSpPr>
          <p:cNvPr id="10" name="Text 8"/>
          <p:cNvSpPr/>
          <p:nvPr/>
        </p:nvSpPr>
        <p:spPr>
          <a:xfrm>
            <a:off x="13638609" y="1447800"/>
            <a:ext cx="13856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599938" y="1933575"/>
            <a:ext cx="3670727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20"/>
              </a:lnSpc>
              <a:buNone/>
            </a:pPr>
            <a:r>
              <a:rPr lang="en-US" sz="10500" b="1" dirty="0">
                <a:solidFill>
                  <a:srgbClr val="8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</a:t>
            </a:r>
            <a:endParaRPr lang="en-US" sz="10500" dirty="0"/>
          </a:p>
        </p:txBody>
      </p:sp>
      <p:sp>
        <p:nvSpPr>
          <p:cNvPr id="12" name="Shape 10"/>
          <p:cNvSpPr/>
          <p:nvPr/>
        </p:nvSpPr>
        <p:spPr>
          <a:xfrm>
            <a:off x="12484298" y="3533775"/>
            <a:ext cx="1570732" cy="590550"/>
          </a:xfrm>
          <a:prstGeom prst="roundRect">
            <a:avLst>
              <a:gd name="adj" fmla="val 6452"/>
            </a:avLst>
          </a:prstGeom>
          <a:solidFill>
            <a:srgbClr val="00569B"/>
          </a:solidFill>
          <a:ln/>
        </p:spPr>
      </p:sp>
      <p:sp>
        <p:nvSpPr>
          <p:cNvPr id="13" name="Text 11"/>
          <p:cNvSpPr/>
          <p:nvPr/>
        </p:nvSpPr>
        <p:spPr>
          <a:xfrm>
            <a:off x="12789098" y="3686175"/>
            <a:ext cx="9611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Démarrer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4245530" y="3533775"/>
            <a:ext cx="1807071" cy="590550"/>
          </a:xfrm>
          <a:prstGeom prst="roundRect">
            <a:avLst>
              <a:gd name="adj" fmla="val 6452"/>
            </a:avLst>
          </a:prstGeom>
          <a:ln w="19050">
            <a:solidFill>
              <a:srgbClr val="0056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569380" y="3705225"/>
            <a:ext cx="11593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Réinitialiser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9372600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9382125"/>
            <a:ext cx="18288000" cy="904875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7346" y="9463088"/>
            <a:ext cx="609154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gradFill rotWithShape="1">
            <a:gsLst>
              <a:gs pos="0">
                <a:srgbClr val="0076B7">
                  <a:alpha val="100000"/>
                </a:srgbClr>
              </a:gs>
              <a:gs pos="100000">
                <a:srgbClr val="00569B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895350"/>
            <a:ext cx="178117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07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178117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5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écrite et engagement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409825"/>
            <a:ext cx="84867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150" kern="0" dirty="0">
                <a:solidFill>
                  <a:srgbClr val="007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CARNET · PAGE CONSOLIDATION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047750" y="2895600"/>
            <a:ext cx="7946708" cy="1041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389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 de temps · 3 collisions · semaine type · dates de rendez-vous.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9525000" y="2409825"/>
            <a:ext cx="84867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150" kern="0" dirty="0">
                <a:solidFill>
                  <a:srgbClr val="007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525000" y="2895600"/>
            <a:ext cx="7946708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389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Tenir la semaine type </a:t>
            </a:r>
            <a:pPr algn="l" indent="0" marL="0">
              <a:lnSpc>
                <a:spcPct val="146389"/>
              </a:lnSpc>
              <a:buNone/>
            </a:pPr>
            <a:r>
              <a:rPr lang="en-US" sz="2325" b="1" dirty="0">
                <a:solidFill>
                  <a:srgbClr val="8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jours</a:t>
            </a:r>
            <a:pPr algn="l" indent="0" marL="0">
              <a:lnSpc>
                <a:spcPct val="146389"/>
              </a:lnSpc>
              <a:buNone/>
            </a:pPr>
            <a:r>
              <a:rPr lang="en-US" sz="23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047750" y="8610600"/>
            <a:ext cx="17811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Météo du transfert dans deux semaines · point mensuel toute l'année.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047750" y="9372600"/>
            <a:ext cx="16192500" cy="9525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9382125"/>
            <a:ext cx="18288000" cy="904875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7346" y="9463088"/>
            <a:ext cx="609154" cy="742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2026-07-17T08:14:59Z</dcterms:created>
  <dcterms:modified xsi:type="dcterms:W3CDTF">2026-07-17T08:14:59Z</dcterms:modified>
</cp:coreProperties>
</file>