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Lancement (0-1 min) : « Levez la main si, cette semaine, vous avez repoussé au moins une fois un travail que vous auriez pu commencer. » Quasi-totalité des mains attendue. Normaliser : « Moi aussi. Tout le monde procrastine, les adultes compris. Aujourd’hui on ne se fait pas la morale : on comprend la mécanique, et on la déjoue. » Vigilance : aucune moralisation, de la première à la dernière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(0-8 min), partie individuelle : distribuer le bulletin (support 1). 3 minutes d’écriture individuelle et silencieuse, sans nom. Collecte pliée dans la boîte. Verbatim : « Sur le bulletin que je distribue, sans écrire votre nom, répondez aux deux questions. 3 minutes.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(0-8 min), mise en commun : piocher et lire 4 à 5 bulletins à voix haute, remplir les 3 colonnes au tableau ou à l’oral. Normaliser à chaque lecture (« classique », « très répandu »), jamais d’ironie. Résultat attendu : les scénarios se ressemblent tous — on repousse toujours le même type de tâche. Plan B : lire 2 bulletins au lieu de 5 (gain 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(8-16 min), 1er temps : appuyer la formule sur 2 scénarios lus à l’écran précédent — tâche lointaine (à rendre dans dix jours), floue (« avancer l’exposé » : ça veut dire quoi ?), grosse (deux heures au moins). Verbatim clé : « Ce n’est pas un problème de volonté, c’est un problème de conception de la tâche. Et une tâche, ça se reconfigure. » Exposé : 8 minutes maximum pour les écrans 4 et 5 ensemble.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(8-16 min), 2e temps : les trois leviers reconfigurent la tâche ; la phrase « quand… alors… » les combine. Source à dire en une phrase : « ce format de phrase a été testé sur des dizaines de milliers de personnes, il augmente nettement les chances de passage à l’acte » (Gollwitzer &amp; Sheeran, 2006). Faire le lien avec le protocole écrans de A2 : même forme. Résultat attendu : « je manque de volonté » devient « ma tâche est mal conçue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(16-30 min) : distribuer la fiche « 3 intentions » (support 2). Verbatim : « Sortez votre agenda. Listez 3 tâches scolaires réelles en attente. Pour chacune, une phrase complète. 14 minutes. » Circuler avec les critères : déclencheur daté et situé, première action visible et finissable en 10 minutes. Relances : « À quoi verra-t-on que tu l’as fait ? » · « Ce déclencheur, il arrive quand exactement ? » · « C’est la première action, ou déjà la troisième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3, pendant l’atelier : faire réécrire toute intention vague sur place, agenda ouvert. Repère plan B : si à la minute 28 l’atelier n’est pas fini, arrêter à 2 intentions et lancer le test à la minute 30 impérativement — la 3e intention sera écrite en trace écrite.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3, appui pendant l’atelier : laisser cet écran affiché en alternance avec le chrono si besoin. Le contre-exemple sert de test : chaque élève compare ses phrases aux deux modèles. Auto-contrôle de la fiche : déclencheur montrable dans l’agenda · action finissable en 10 min · première action, pas la tâche entière.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(30-42 min) — expérience clé de la séance, incompressible. Protocole : 1 min d’installation (matériel sorti, téléphone rangé — rappeler le protocole écrans A2) ; 10 min chrono, silence absolu ; le PP ne circule pas et travaille lui aussi (effet d’entraînement). À la 11e minute, stop net : chacun note en un mot sur sa fiche où il en est et ce qu’il ferait ensuite. Ne pas laisser déborder : la frustration de s’arrêter sert la reprise à la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(42-50 min) : 3 min de binôme, puis 5 min de mise en commun. Question unique : « que s’est-il passé après la minute 3 ? » Réponse à faire verbaliser par la classe : la résistance était avant le démarrage, pas dedans — une fois lancé, continuer est facile, souvent on aurait voulu continuer. Plan B : remplacer le binôme par la seule mise en commun classe (gain 3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5, fin (2 min) : introduire le minutage comme béquille de démarrage — « se donner 10 minutes au chrono, avec le droit de s’arrêter après ». Statut à dire honnêtement : pratique de terrain type Pomodoro, plausible mais non validée scientifiquement en tant que telle — à la différence de la phrase « quand… alors… ». Chacun garde ce qui fonctionne pour lui. Ne jamais présenter Pomodoro comme prouvé.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6 (50-55 min) : distribuer la trace écrite (support 3), à coller au carnet de méthodes, page du pilier « Engagement actif ». Verbatim : « Recopiez vos 3 intentions datées. Votre engagement : les exécuter cette semaine et cocher la grille. On fait le point à la prochaine vie de classe. » Météo du transfert à J+7 : (1) main levée « qui a exécuté au moins 2 intentions sur 3 ? » ; (2) deux témoignages : un obstacle, une astuce ; (3) relance + capitalisation des déclencheurs qui fonctionnent (affichage classe). Trace écrite et engagement : incompressibles.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F1 · 2de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Vaincre la procrastination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le démarrage facile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ENGAGEMENT ACTIF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n’apprends que si je fais l’effort de chercher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anonyme — sans nom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2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Quand je repousse, je fais quoi à la place ?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Qu’est-ce que je repousse le plus ?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Ça se joue à quel moment ?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Répondez honnêtement, pliez en quatre, déposez dans la boîte.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scénarios de report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3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600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qu’on fait à la place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24688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2971800" y="14630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DEEAF6"/>
          </a:solidFill>
          <a:ln/>
        </p:spPr>
      </p:sp>
      <p:sp>
        <p:nvSpPr>
          <p:cNvPr id="11" name="Text 8"/>
          <p:cNvSpPr/>
          <p:nvPr/>
        </p:nvSpPr>
        <p:spPr>
          <a:xfrm>
            <a:off x="3108960" y="1600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qu’on repousse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08960" y="24688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5486400" y="14630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5623560" y="1600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moment où ça bascule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623560" y="24688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5720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lit quelques bulletins au hasard. Personne n’est nommé.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on repousse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4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14400" y="1554480"/>
            <a:ext cx="731520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6459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 + flou + gros = repoussé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n’est pas la volonté : c’est la conception de la tâche.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572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TMT — Steel, 2007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leviers, un outil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5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331720" cy="132588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463040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RAPPROCHER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dater le moment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971800" y="1371600"/>
            <a:ext cx="2331720" cy="1325880"/>
          </a:xfrm>
          <a:prstGeom prst="roundRect">
            <a:avLst>
              <a:gd name="adj" fmla="val 6897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3081528" y="1463040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PRÉCISER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la première action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0" y="1371600"/>
            <a:ext cx="2331720" cy="132588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5596128" y="1463040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viser 10 minutes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7200" y="2971800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063240"/>
            <a:ext cx="6995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</a:t>
            </a:r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[déclencheur précis]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alors </a:t>
            </a:r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[première action de 10 minutes]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Gollwitzer, 1999 · Gollwitzer &amp; Sheeran, 2006 — même format que le protocole écrans (A2)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 : 3 intentions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6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5448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tâches réelles en attente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phrases complètes sur la fiche :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[jour + heure + lieu],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alors [première action, 10 min max]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ouvert : le déclencheur doit tenir dans votre semaine réelle.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en cours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7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0" y="1417320"/>
            <a:ext cx="3657600" cy="1737360"/>
          </a:xfrm>
          <a:prstGeom prst="roundRect">
            <a:avLst>
              <a:gd name="adj" fmla="val 6316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11226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10128" y="1490472"/>
            <a:ext cx="29992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2743200" y="2825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417320" y="3474720"/>
            <a:ext cx="630936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12" name="Text 8"/>
          <p:cNvSpPr/>
          <p:nvPr/>
        </p:nvSpPr>
        <p:spPr>
          <a:xfrm>
            <a:off x="1600200" y="35661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Interdits : </a:t>
            </a:r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bientôt » · « ce week-end » · « avancer… » · « travailler sur… »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intention qui marche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8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736092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81328"/>
            <a:ext cx="6903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Quand je rentre lundi à 17 h 30 et que je pose mon sac, alors j’ouvre le classeur et je relis la consigne du DM — 10 minutes. »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7360920" cy="100584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108960"/>
            <a:ext cx="690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 Ce week-end, j’avance mon exposé. »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quand, exactement ? quelle première action ?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Maintenant, on démarre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9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5448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la tâche que vous repoussez le plus.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pour vous installer,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10 minutes de travail réel.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complet.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perfection demandée : on démarre, c’est tout.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s’est-il passé 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10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5448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Racontez-vous, dans l’ordre :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commencer → minute 1 → après la minute 3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moment la résistance a-t-elle disparu 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béquille du minuteur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11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7360920" cy="1234440"/>
          </a:xfrm>
          <a:prstGeom prst="roundRect">
            <a:avLst>
              <a:gd name="adj" fmla="val 740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508760"/>
            <a:ext cx="6903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au chrono, avec le droit de s’arrêter après.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736092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90088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de terrain plausible — pas un résultat scientifique validé.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garder si ça vous aide.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différence du « quand… alors… », étayé par la recherche (Gollwitzer &amp; Sheeran, 2006)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écrite + mon engagement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 Engagement actif 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écran 12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60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27048"/>
            <a:ext cx="6903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recopie mes 3 intentions datées :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[déclencheur précis], alors [première action de 10 minutes]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7360920" cy="1463040"/>
          </a:xfrm>
          <a:prstGeom prst="roundRect">
            <a:avLst>
              <a:gd name="adj" fmla="val 6250"/>
            </a:avLst>
          </a:prstGeom>
          <a:solidFill>
            <a:srgbClr val="2E539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90088"/>
            <a:ext cx="6903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7 JOURS</a:t>
            </a:r>
            <a:endParaRPr lang="en-US" sz="13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J’exécute mes 3 intentions cette semaine, je coche chaque exécution.</a:t>
            </a:r>
            <a:endParaRPr lang="en-US" sz="13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chaque jour — bilan à la prochaine vie de classe.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Institut Stanislas de Cannes</dc:creator>
  <cp:lastModifiedBy>Institut Stanislas de Cannes</cp:lastModifiedBy>
  <cp:revision>1</cp:revision>
  <dcterms:created xsi:type="dcterms:W3CDTF">2026-07-18T07:21:47Z</dcterms:created>
  <dcterms:modified xsi:type="dcterms:W3CDTF">2026-07-18T07:21:47Z</dcterms:modified>
</cp:coreProperties>
</file>