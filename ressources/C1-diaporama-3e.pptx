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(0-8 min). Lancement : « Aujourd'hui, on ne va pas décider de travailler plus : on va décider quand et quoi — sans toucher ni au sommeil ni à vos activités. » Faire sortir emploi du temps, liste des activités, carnet de méthodes. Distribuer les petits papiers.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0-8 min. 1 min d'écriture, papiers pliés ramassés. Dépouiller à voix haute en 4 tranches notées au tableau pendant que les élèves sortent leur emploi du temps. Ne commenter aucun papier en particulier. Verbatim de clôture : « L'écart avec vos papiers n'est pas une faute, c'est notre point de départ.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(8-15 min). Lancement : « Louna n'est ni paresseuse ni mauvaise élève : tout ce qu'elle fait, elle le fait la veille au soir. » 4 min de binôme chrono. Si un binôme attaque la personne, relancer avec la question test. Corrigé complet en section 7 du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8-15 min, mise en commun (3 min). Noter les failles au tableau au fur et à mesure. Reformuler systématiquement les réponses qui visent la personne (« elle est sur son téléphone ») en faille de plan : « qu'est-ce qui, dans sa semaine, rend ça possible ?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3, étape 1 (15-22 min). Support 2. Vérifier que sommeil et activités sont hachurés AVANT tout créneau de travail. Élève sans emploi du temps : faire reconstituer de mémoire, la demi-heure près suffit.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3, étape 2 (22-25 min). Circuler vite : l'objectif est le repérage, pas encore le choix. Un élève qui ne trouve que trois créneaux : élargir au week-end avant de réduire l'ambition.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3, étape 3 (25-38 min). Support 3. Format « quand… alors… » : le même que le protocole écrans de la séance A1 (Gollwitzer, 1999). Refuser tout créneau sans contenu : « tu feras quoi, concrètement ?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(25-38 min), écran maintenu pendant tout l'atelier. Circuler : refuser les semaines héroïques (« tu tiendras ça dès cette semaine ? montre-moi le soir où ça casse »). Vérifier qu'un tampon reste vide.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(38-48 min). Arbitrages types : créneau après 21 h 30 un soir d'entraînement → déplacer, pas héroïser ; zéro créneau le week-end chez un élève très chargé → en imposer un ; six créneaux ou plus → ramener à cinq, le tampon n'est pas un créneau de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 (48-55 min). Incompressible : ne jamais couper la trace écrite ni l'engagement, même si le contrôle croisé a sauté. Support 4. Rappeler la météo du transfert à la prochaine vie de classe : « qui a honoré au moins 4 créneaux sur 5 ? », deux témoignages, puis relance.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de séance (dernière minute). Annonce brève, sans développer : le rappel C1 + D1 est prévu en avril. Ramasser les petits papiers de l'accroche s'ils traînent ; vérifier que chacun repart avec sa grille.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C1 · 3e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semaine de travail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 quand et quoi, une fois pour toutes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17320" y="288036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2E5395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971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4 · CONSOLIDATION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Répéter dans le temps, et dormir, gravent ce que j’ai appris 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 Apprendre à apprendre » · Institut Stanislas de Cannes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Combien, vraiment 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écran 2 / 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2412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papier, sans nom : </a:t>
            </a:r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d’heures de travail réel la semaine dernière, hors cours 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16642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ce que vous auriez dû faire — ce que vous avez fait.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2 h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78608" y="214884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2578608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à 4 h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700016" y="214884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DEEAF6"/>
          </a:solidFill>
          <a:ln/>
        </p:spPr>
      </p:sp>
      <p:sp>
        <p:nvSpPr>
          <p:cNvPr id="14" name="Text 11"/>
          <p:cNvSpPr/>
          <p:nvPr/>
        </p:nvSpPr>
        <p:spPr>
          <a:xfrm>
            <a:off x="4700016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à 7 h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821424" y="214884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6821424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7 h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Comptage à main levée, personne n’est nommé.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DEEAF6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367588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 d’usage en 3e : 45 min à 1 h 15 par jour de semaine, soit 4 à 7 h.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 d’expérience des équipes, pas un chiffre scientifique.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semaine de Louna, 3e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écran 3 / 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se fait la veille au soir.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691640"/>
            <a:ext cx="4809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1. À deux : trouvez trois failles de pilotage — des défauts de sa semaine, pas de sa personne.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035040" y="16002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1122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01968" y="1673352"/>
            <a:ext cx="19933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6035040" y="2642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DEEAF6"/>
          </a:solidFill>
          <a:ln/>
        </p:spPr>
      </p:sp>
      <p:sp>
        <p:nvSpPr>
          <p:cNvPr id="15" name="Text 11"/>
          <p:cNvSpPr/>
          <p:nvPr/>
        </p:nvSpPr>
        <p:spPr>
          <a:xfrm>
            <a:off x="685800" y="3291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: si Louna était très courageuse, le problème disparaîtrait-il ? Si oui, ce n’est pas une faille de pilotage.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failles, pas quatre défauts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écran 4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36245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70432" y="12801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massé la veille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n’est repris, donc rien n’est consolidé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663440" y="114300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DEEAF6"/>
          </a:solidFill>
          <a:ln/>
        </p:spPr>
      </p:sp>
      <p:sp>
        <p:nvSpPr>
          <p:cNvPr id="12" name="Shape 9"/>
          <p:cNvSpPr/>
          <p:nvPr/>
        </p:nvSpPr>
        <p:spPr>
          <a:xfrm>
            <a:off x="4864608" y="136245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0"/>
          <p:cNvSpPr/>
          <p:nvPr/>
        </p:nvSpPr>
        <p:spPr>
          <a:xfrm>
            <a:off x="4864608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376672" y="12801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créneau décidé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soir, la négociation avec soi-même est perdue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57200" y="265176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287121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70432" y="27889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Sommeil sacrifié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mémoire est atteinte deux fois : la veille et le jour même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4663440" y="265176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DEEAF6"/>
          </a:solidFill>
          <a:ln/>
        </p:spPr>
      </p:sp>
      <p:sp>
        <p:nvSpPr>
          <p:cNvPr id="20" name="Shape 17"/>
          <p:cNvSpPr/>
          <p:nvPr/>
        </p:nvSpPr>
        <p:spPr>
          <a:xfrm>
            <a:off x="4864608" y="287121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Text 18"/>
          <p:cNvSpPr/>
          <p:nvPr/>
        </p:nvSpPr>
        <p:spPr>
          <a:xfrm>
            <a:off x="4864608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376672" y="27889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 libre disparu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grand créneau part sans décision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est dans le plan, pas dans la volonté.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· Ce qui est fixe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écran 5 / 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Hachurez le non négociable : cours, trajets, repas, activités — et le sommeil.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DEEAF6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8745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Coucher cible = heure de lever − 9 h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de santé publique pour votre âge : 8 à 10 h de sommeil.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035040" y="17830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2951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01968" y="1856232"/>
            <a:ext cx="19933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6035040" y="2825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sommeil se hachure en premier : c’est lui qui grave ce que vous apprenez.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7200" y="3794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Dehaene, 2018 · pilier 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· Ce qui reste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écran 6 / 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Entourez les créneaux libres de 30 à 45 minutes.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7830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les quarts d’heure entre deux portes : de vrais créneaux où un travail est possible.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en trouver au moins six.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035040" y="16916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2037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01968" y="1764792"/>
            <a:ext cx="19933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6035040" y="2734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en faudra 4 ou 5, plus un de secours.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· Placer et nommer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écran 7 / 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à 5 créneaux T, plus un créneau tampon B laissé vide.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DEEAF6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1664208"/>
            <a:ext cx="7717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 reçoit un contenu par défaut : « Quand mardi 18 h, alors auto-interrogation sur les cours du jour. »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2926080"/>
            <a:ext cx="3621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travaillerai » est interdit.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créneau sans contenu ne déclenche rien.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663440" y="283464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/>
          <p:nvPr/>
        </p:nvSpPr>
        <p:spPr>
          <a:xfrm>
            <a:off x="4864608" y="2926080"/>
            <a:ext cx="3621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tampon B reste vide.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absorbera les imprévus de la semaine.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contenus par défaut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écran 8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5486400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0972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17 h 30  → 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devoirs du lendemain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856232"/>
            <a:ext cx="5486400" cy="658368"/>
          </a:xfrm>
          <a:prstGeom prst="roundRect">
            <a:avLst>
              <a:gd name="adj" fmla="val 13889"/>
            </a:avLst>
          </a:prstGeom>
          <a:solidFill>
            <a:srgbClr val="DEEAF6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18562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mardi 18 h  → 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auto-interrogation sur les cours du jour (cycle B1)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615184"/>
            <a:ext cx="5486400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261518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 14 h  → 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long ou en retard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3374136"/>
            <a:ext cx="5486400" cy="658368"/>
          </a:xfrm>
          <a:prstGeom prst="roundRect">
            <a:avLst>
              <a:gd name="adj" fmla="val 13889"/>
            </a:avLst>
          </a:prstGeom>
          <a:solidFill>
            <a:srgbClr val="DEEAF6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" y="337413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10 h  → 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leçons de la semaine, cahier fermé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309360" y="18288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34086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76288" y="1901952"/>
            <a:ext cx="17190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4000" dirty="0"/>
          </a:p>
        </p:txBody>
      </p:sp>
      <p:sp>
        <p:nvSpPr>
          <p:cNvPr id="18" name="Text 14"/>
          <p:cNvSpPr/>
          <p:nvPr/>
        </p:nvSpPr>
        <p:spPr>
          <a:xfrm>
            <a:off x="6309360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30936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3 à remplir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croisé : trois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écran 9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70432" y="11430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réaliste — tenable dès cette semaine, pas dans une vie idéale ?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192024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DEEAF6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" y="2057400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70432" y="192024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sommeil est-il protégé chaque nuit ?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269748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" y="2834640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70432" y="26974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Reste-t-il un créneau tampon vide 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217920" y="14173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929384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784848" y="1490472"/>
            <a:ext cx="18105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4000" dirty="0"/>
          </a:p>
        </p:txBody>
      </p:sp>
      <p:sp>
        <p:nvSpPr>
          <p:cNvPr id="22" name="Text 18"/>
          <p:cNvSpPr/>
          <p:nvPr/>
        </p:nvSpPr>
        <p:spPr>
          <a:xfrm>
            <a:off x="6217920" y="2459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« non » : on corrige, puis chacun signe la grille de l’autre.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trace écrite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méthodes · page « Consolidation 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2E539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1298448"/>
            <a:ext cx="2606040" cy="68580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2984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 ou 5 créneaux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319272" y="1298448"/>
            <a:ext cx="2606040" cy="68580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3319272" y="12984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leur contenu par défaut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81344" y="1298448"/>
            <a:ext cx="2606040" cy="68580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6181344" y="12984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grille de suivi 7 jours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57200" y="2121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grande grille rentre à la maison : affichez-la au-dessus du bureau.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2606040"/>
            <a:ext cx="8229600" cy="1691640"/>
          </a:xfrm>
          <a:prstGeom prst="roundRect">
            <a:avLst>
              <a:gd name="adj" fmla="val 5405"/>
            </a:avLst>
          </a:prstGeom>
          <a:solidFill>
            <a:srgbClr val="2E5395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697480"/>
            <a:ext cx="7680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ENGAGEMENT 7 JOURS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 ma semaine type pendant sept jours.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Cocher chaque créneau honoré — objectif : au moins 4 sur 5.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créneau déplacé puis replacé compte comme tenu.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coche la grille chaque jour — bilan à la prochaine vie de classe.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écran 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en avril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88720" y="2148840"/>
            <a:ext cx="6766560" cy="1371600"/>
          </a:xfrm>
          <a:prstGeom prst="roundRect">
            <a:avLst>
              <a:gd name="adj" fmla="val 6667"/>
            </a:avLst>
          </a:prstGeom>
          <a:solidFill>
            <a:srgbClr val="2E5395"/>
          </a:solidFill>
          <a:ln/>
        </p:spPr>
      </p:sp>
      <p:sp>
        <p:nvSpPr>
          <p:cNvPr id="4" name="Text 2"/>
          <p:cNvSpPr/>
          <p:nvPr/>
        </p:nvSpPr>
        <p:spPr>
          <a:xfrm>
            <a:off x="1417320" y="224028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semaine type deviendra votre compte à rebours brevet,</a:t>
            </a:r>
            <a:endParaRPr lang="en-US" sz="18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la séance sur l’entraînement.</a:t>
            </a:r>
            <a:endParaRPr lang="en-US" sz="18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8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Gardez-la vivante d’ici là.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 Apprendre à apprendre » · Institut Stanislas de Cannes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écran 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 · Ma semaine de travail — 3e</dc:title>
  <dc:subject>PptxGenJS Presentation</dc:subject>
  <dc:creator>Institut Stanislas de Cannes</dc:creator>
  <cp:lastModifiedBy>Institut Stanislas de Cannes</cp:lastModifiedBy>
  <cp:revision>1</cp:revision>
  <dcterms:created xsi:type="dcterms:W3CDTF">2026-07-18T11:16:39Z</dcterms:created>
  <dcterms:modified xsi:type="dcterms:W3CDTF">2026-07-18T11:16:39Z</dcterms:modified>
</cp:coreProperties>
</file>