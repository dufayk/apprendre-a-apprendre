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Écran 1 — accueil (0 min). Les binômes par spécialité commune sont affichés à l'entrée : les élèves s'installent directement. Ne pas dévoiler l'objet de l'expérience : la comparaison septembre / chapitre en cours doit rester invisible jusqu'au relevé des scores. Matériel sur la table : classeur d'une EDS (chapitre de septembre ET chapitre en cours), agenda à jour, carnet de méthodes.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1 (0–4 min) — verbatim : « Sortez le classeur de la spécialité que vous partagez avec votre binôme et la fiche blanche. Vous écrivez dix questions courtes sur vos cours — cinq sur le tout premier chapitre de l'année, cinq sur le chapitre en cours — avec la réponse en un mot ou une ligne à droite. Classeur ouvert, 4 minutes. » Circuler : exiger des réponses écrites courtes et vérifiables. Élève sans le premier chapitre : questions écrites à partir du sommaire ou de mémoire, elles doivent exister même imparfaites. Ne pas révéler l'objet de la comparaison.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1 (4–8,5 min) — verbatim : « Stop. Échangez vos fiches avec votre binôme. Classeurs fermés, tous. Vous répondez par écrit aux dix questions de l'autre. 4 minutes. » Point de vigilance : veiller strictement aux classeurs fermés — c'est la condition de validité de la mesure. Circuler sans commenter les difficultés visibles sur le chapitre de septembre.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1 (8,5–12 min) — verbatim : « Rendez la fiche à son auteur. Chacun corrige les réponses de l'autre avec sa colonne réponses : un point par réponse juste, pas de demi-point. Puis calculez deux scores séparés. » Relevé : deux questions à main levée, comptage rapide noté EN GROS au tableau (ex. 24 élèves / 9 élèves). On compte des mains, pas des noms. Résultat attendu : écart net en défaveur du chapitre ancien. Si l'écart est faible (rentrée récente), le dire honnêtement et projeter : « cet écart à six semaines, imaginez-le en juin 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2 (12–15 min) — verbatim : « Ce que vous venez de mesurer n'est pas un défaut de travail : c'est le fonctionnement normal de la mémoire. Sans retour sur un contenu, on oublie — vite au début, puis plus lentement. » Commenter la courbe avec les chiffres du tableau : « votre chapitre de septembre est ici, votre chapitre en cours est là ». Ne pas développer la neurobiologie : les chiffres de la classe portent la démonstration.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2 (15–18 min). Chaque réactivation relève la courbe et ralentit la chute suivante. Dire honnêtement : la recherche établit que des retours espacés et croissants battent le travail massé ; J+1 / J+7 / J+30 est un repère simple et tenable, pas un chiffre magique. Décaler d'un jour ne casse rien ; supprimer un rendez-vous, si.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2 (18–20 min) — verbatim : « Troisième point, le plus important : réactiver, ce n'est pas relire. Vous venez de le faire sans le savoir : répondre aux questions de votre binôme, classeur fermé, c'était une réactivation. » Renvoyer les élèves issus du lycée à leur carnet de méthodes (pages du pilier Engagement actif, séances B1 et B2). Tenir le nommage en 8 minutes au total : trois idées, pas davantage.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3 (20–40 min) — verbatim : « Vous allez fabriquer le plan de réactivation du chapitre EN COURS de votre spécialité — celui qui est encore frais, c'est le moment idéal. Trois rendez-vous de 10 à 15 minutes : demain ou après-demain, dans une semaine, dans un mois. Pour chacun, vous écrivez CE QUE vous ferez exactement, puis vous ouvrez votre agenda et vous écrivez le rendez-vous à sa date, avec son heure. » Vérification systématique : l'agenda ouvert et écrit. Élèves rapides : dupliquer sur la deuxième spécialité.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3 — support affiché pendant tout l'atelier. Trois refus à opposer en circulant, toujours avec la même justification : « relire le chapitre » → « la relecture rend familier, pas su ; remplace par des questions » ; contenu vague (« revoir le cours ») → « qu'est-ce que tu fais, concrètement, à la minute une ? » ; plan héroïque (réactivations quotidiennes, créneaux de 45 min, 3 chapitres à la fois) → « trois fois 15 minutes tenues battent un plan parfait abandonné 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3, fin d'atelier (vers 37 min). Faire passer ce test à chacun avant le contrôle croisé. C'est la question d'arbitrage unique de la séance ; elle sert aussi au PP pendant la circulation et pendant la phase binôme.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4 (40–50 min) — verbatim : « Échangez vos gabarits ET vos agendas. Trois vérifications, dans l'ordre du support. Si une réponse est non, l'auteur corrige avant que vous signiez. » Arbitrage : « le jour dit, à l'heure dite, sait-il exactement quoi faire, ou devra-t-il encore réfléchir ? ». Annoncer à 45 min : « dernières corrections, on signe à 49 ». Si l'atelier a débordé, réduire à 5 minutes et à la seule vérification n°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5 (50–55 min) — verbatim : « Collez la trace écrite dans le carnet de méthodes, page du pilier Consolidation, avec votre plan daté. Le gabarit vierge en bas de page servira pour tous les prochains chapitres : c'est lui, le vrai livrable de la séance. » Rituel météo du transfert à la prochaine vie de classe (3 à 5 min) : main levée « qui a fait ses réactivations J+1 et J+7 ? », deux témoignages volontaires (un obstacle, une astuce), reformulation de l'engagement. Suivi propre à B3 : sondage d'une minute à J+30, à coupler avec la séance C3.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7772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spc="200" kern="0" dirty="0">
                <a:solidFill>
                  <a:srgbClr val="DE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 B3 · Première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Réactiver dans le temps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40080" y="201168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DE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L’espacement au service des spécialités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417320" y="2880360"/>
            <a:ext cx="6309360" cy="1051560"/>
          </a:xfrm>
          <a:prstGeom prst="roundRect">
            <a:avLst>
              <a:gd name="adj" fmla="val 8696"/>
            </a:avLst>
          </a:prstGeom>
          <a:solidFill>
            <a:srgbClr val="2E5395"/>
          </a:solidFill>
          <a:ln/>
        </p:spPr>
      </p:sp>
      <p:sp>
        <p:nvSpPr>
          <p:cNvPr id="6" name="Text 4"/>
          <p:cNvSpPr/>
          <p:nvPr/>
        </p:nvSpPr>
        <p:spPr>
          <a:xfrm>
            <a:off x="1600200" y="2971800"/>
            <a:ext cx="5943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4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PILIER 4 · CONSOLIDATION</a:t>
            </a:r>
            <a:endParaRPr lang="en-US" sz="14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Répéter dans le temps, et dormir, gravent ce que j’ai appris »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45262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E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Dispositif « Apprendre à apprendre » · Institut Stanislas de Cannes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Dix questions sur vos cours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092440" y="292608"/>
            <a:ext cx="566928" cy="566928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29768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635240" y="896112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Individuel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457200" y="1234440"/>
            <a:ext cx="5257800" cy="1051560"/>
          </a:xfrm>
          <a:prstGeom prst="roundRect">
            <a:avLst>
              <a:gd name="adj" fmla="val 8696"/>
            </a:avLst>
          </a:prstGeom>
          <a:solidFill>
            <a:srgbClr val="DEEAF6"/>
          </a:solidFill>
          <a:ln/>
        </p:spPr>
      </p:sp>
      <p:sp>
        <p:nvSpPr>
          <p:cNvPr id="7" name="Text 4"/>
          <p:cNvSpPr/>
          <p:nvPr/>
        </p:nvSpPr>
        <p:spPr>
          <a:xfrm>
            <a:off x="685800" y="1325880"/>
            <a:ext cx="4800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9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questions</a:t>
            </a:r>
            <a:pPr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sur le chapitre de </a:t>
            </a:r>
            <a:pPr indent="0" marL="0">
              <a:lnSpc>
                <a:spcPct val="115000"/>
              </a:lnSpc>
              <a:buNone/>
            </a:pPr>
            <a:r>
              <a:rPr lang="en-US" sz="19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SEPTEMBRE</a:t>
            </a:r>
            <a:pPr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lnSpc>
                <a:spcPct val="115000"/>
              </a:lnSpc>
              <a:buNone/>
            </a:pPr>
            <a:r>
              <a:rPr lang="en-US" sz="19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questions</a:t>
            </a:r>
            <a:pPr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sur le chapitre </a:t>
            </a:r>
            <a:pPr indent="0" marL="0">
              <a:lnSpc>
                <a:spcPct val="115000"/>
              </a:lnSpc>
              <a:buNone/>
            </a:pPr>
            <a:r>
              <a:rPr lang="en-US" sz="19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COURS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594360" y="2514600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Classeur ouvert.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Courtes et factuelles : définition, date, formule, thèse.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en un mot ou une ligne, dans la colonne de droite.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035040" y="1691640"/>
            <a:ext cx="2651760" cy="1417320"/>
          </a:xfrm>
          <a:prstGeom prst="roundRect">
            <a:avLst>
              <a:gd name="adj" fmla="val 7742"/>
            </a:avLst>
          </a:prstGeom>
          <a:solidFill>
            <a:srgbClr val="F2F2F2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6208" y="2226564"/>
            <a:ext cx="347472" cy="34747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601968" y="1764792"/>
            <a:ext cx="1993392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4:00</a:t>
            </a:r>
            <a:endParaRPr lang="en-US" sz="4000" dirty="0"/>
          </a:p>
        </p:txBody>
      </p:sp>
      <p:sp>
        <p:nvSpPr>
          <p:cNvPr id="12" name="Text 8"/>
          <p:cNvSpPr/>
          <p:nvPr/>
        </p:nvSpPr>
        <p:spPr>
          <a:xfrm>
            <a:off x="6035040" y="277977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 projeté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7635240" y="482803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B3 · écran 2 / 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Échange : classeurs fermés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092440" y="292608"/>
            <a:ext cx="566928" cy="566928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29768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635240" y="896112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Binôme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457200" y="1234440"/>
            <a:ext cx="5257800" cy="914400"/>
          </a:xfrm>
          <a:prstGeom prst="roundRect">
            <a:avLst>
              <a:gd name="adj" fmla="val 10000"/>
            </a:avLst>
          </a:prstGeom>
          <a:solidFill>
            <a:srgbClr val="DEEAF6"/>
          </a:solidFill>
          <a:ln/>
        </p:spPr>
      </p:sp>
      <p:sp>
        <p:nvSpPr>
          <p:cNvPr id="7" name="Text 4"/>
          <p:cNvSpPr/>
          <p:nvPr/>
        </p:nvSpPr>
        <p:spPr>
          <a:xfrm>
            <a:off x="685800" y="1234440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Échangez vos fiches avec votre binôme.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457200" y="2331720"/>
            <a:ext cx="5257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Classeurs fermés.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457200" y="2880360"/>
            <a:ext cx="5257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répondez par écrit aux 10 questions de l’autre, dans l’ordre que vous voulez.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6035040" y="1691640"/>
            <a:ext cx="2651760" cy="1417320"/>
          </a:xfrm>
          <a:prstGeom prst="roundRect">
            <a:avLst>
              <a:gd name="adj" fmla="val 7742"/>
            </a:avLst>
          </a:prstGeom>
          <a:solidFill>
            <a:srgbClr val="F2F2F2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6208" y="2226564"/>
            <a:ext cx="347472" cy="347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601968" y="1764792"/>
            <a:ext cx="1993392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4:00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6035040" y="277977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 projeté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7635240" y="482803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B3 · écran 3 / 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Correction et scores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092440" y="292608"/>
            <a:ext cx="566928" cy="566928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29768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635240" y="896112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Binôme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457200" y="1234440"/>
            <a:ext cx="3977640" cy="960120"/>
          </a:xfrm>
          <a:prstGeom prst="roundRect">
            <a:avLst>
              <a:gd name="adj" fmla="val 9524"/>
            </a:avLst>
          </a:prstGeom>
          <a:solidFill>
            <a:srgbClr val="DEEAF6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1234440"/>
            <a:ext cx="3611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point par réponse juste.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demi-point.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4709160" y="1234440"/>
            <a:ext cx="1920240" cy="960120"/>
          </a:xfrm>
          <a:prstGeom prst="roundRect">
            <a:avLst>
              <a:gd name="adj" fmla="val 9524"/>
            </a:avLst>
          </a:prstGeom>
          <a:solidFill>
            <a:srgbClr val="F2F2F2"/>
          </a:solidFill>
          <a:ln/>
        </p:spPr>
      </p:sp>
      <p:sp>
        <p:nvSpPr>
          <p:cNvPr id="9" name="Text 6"/>
          <p:cNvSpPr/>
          <p:nvPr/>
        </p:nvSpPr>
        <p:spPr>
          <a:xfrm>
            <a:off x="4709160" y="1234440"/>
            <a:ext cx="1920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 / 5</a:t>
            </a:r>
            <a:endParaRPr lang="en-US" sz="2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septembre</a:t>
            </a:r>
            <a:endParaRPr lang="en-US" sz="2600" dirty="0"/>
          </a:p>
        </p:txBody>
      </p:sp>
      <p:sp>
        <p:nvSpPr>
          <p:cNvPr id="10" name="Shape 7"/>
          <p:cNvSpPr/>
          <p:nvPr/>
        </p:nvSpPr>
        <p:spPr>
          <a:xfrm>
            <a:off x="6766560" y="1234440"/>
            <a:ext cx="1920240" cy="960120"/>
          </a:xfrm>
          <a:prstGeom prst="roundRect">
            <a:avLst>
              <a:gd name="adj" fmla="val 9524"/>
            </a:avLst>
          </a:prstGeom>
          <a:solidFill>
            <a:srgbClr val="F2F2F2"/>
          </a:solidFill>
          <a:ln/>
        </p:spPr>
      </p:sp>
      <p:sp>
        <p:nvSpPr>
          <p:cNvPr id="11" name="Text 8"/>
          <p:cNvSpPr/>
          <p:nvPr/>
        </p:nvSpPr>
        <p:spPr>
          <a:xfrm>
            <a:off x="6766560" y="1234440"/>
            <a:ext cx="1920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 / 5</a:t>
            </a:r>
            <a:endParaRPr lang="en-US" sz="2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cours</a:t>
            </a:r>
            <a:endParaRPr lang="en-US" sz="2600" dirty="0"/>
          </a:p>
        </p:txBody>
      </p:sp>
      <p:sp>
        <p:nvSpPr>
          <p:cNvPr id="12" name="Shape 9"/>
          <p:cNvSpPr/>
          <p:nvPr/>
        </p:nvSpPr>
        <p:spPr>
          <a:xfrm>
            <a:off x="457200" y="2514600"/>
            <a:ext cx="8229600" cy="1600200"/>
          </a:xfrm>
          <a:prstGeom prst="roundRect">
            <a:avLst>
              <a:gd name="adj" fmla="val 5714"/>
            </a:avLst>
          </a:prstGeom>
          <a:solidFill>
            <a:srgbClr val="DEEAF6"/>
          </a:solidFill>
          <a:ln/>
        </p:spPr>
      </p:sp>
      <p:sp>
        <p:nvSpPr>
          <p:cNvPr id="13" name="Text 10"/>
          <p:cNvSpPr/>
          <p:nvPr/>
        </p:nvSpPr>
        <p:spPr>
          <a:xfrm>
            <a:off x="731520" y="26517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Puis, tous ensemble — mains levées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777240" y="3063240"/>
            <a:ext cx="7589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 a 4 ou 5 sur le chapitre EN COURS ?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 a 4 ou 5 sur le chapitre de SEPTEMBRE ?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7635240" y="482803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B3 · écran 4 / 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courbe de l’oubli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092440" y="292608"/>
            <a:ext cx="566928" cy="566928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29768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635240" y="896112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 entière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822960" y="1490472"/>
            <a:ext cx="0" cy="2578608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22960" y="4069080"/>
            <a:ext cx="4251960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103327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je sais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160520" y="413308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temps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843534" y="1575054"/>
            <a:ext cx="50292" cy="50292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11" name="Shape 8"/>
          <p:cNvSpPr/>
          <p:nvPr/>
        </p:nvSpPr>
        <p:spPr>
          <a:xfrm>
            <a:off x="961868" y="1768117"/>
            <a:ext cx="50292" cy="50292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12" name="Shape 9"/>
          <p:cNvSpPr/>
          <p:nvPr/>
        </p:nvSpPr>
        <p:spPr>
          <a:xfrm>
            <a:off x="1080202" y="1944875"/>
            <a:ext cx="50292" cy="50292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13" name="Shape 10"/>
          <p:cNvSpPr/>
          <p:nvPr/>
        </p:nvSpPr>
        <p:spPr>
          <a:xfrm>
            <a:off x="1198536" y="2106705"/>
            <a:ext cx="50292" cy="50292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14" name="Shape 11"/>
          <p:cNvSpPr/>
          <p:nvPr/>
        </p:nvSpPr>
        <p:spPr>
          <a:xfrm>
            <a:off x="1316870" y="2254868"/>
            <a:ext cx="50292" cy="50292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15" name="Shape 12"/>
          <p:cNvSpPr/>
          <p:nvPr/>
        </p:nvSpPr>
        <p:spPr>
          <a:xfrm>
            <a:off x="1435205" y="2390518"/>
            <a:ext cx="50292" cy="50292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16" name="Shape 13"/>
          <p:cNvSpPr/>
          <p:nvPr/>
        </p:nvSpPr>
        <p:spPr>
          <a:xfrm>
            <a:off x="1553539" y="2514711"/>
            <a:ext cx="50292" cy="50292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17" name="Shape 14"/>
          <p:cNvSpPr/>
          <p:nvPr/>
        </p:nvSpPr>
        <p:spPr>
          <a:xfrm>
            <a:off x="1671873" y="2628416"/>
            <a:ext cx="50292" cy="50292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18" name="Shape 15"/>
          <p:cNvSpPr/>
          <p:nvPr/>
        </p:nvSpPr>
        <p:spPr>
          <a:xfrm>
            <a:off x="1790207" y="2732518"/>
            <a:ext cx="50292" cy="50292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19" name="Shape 16"/>
          <p:cNvSpPr/>
          <p:nvPr/>
        </p:nvSpPr>
        <p:spPr>
          <a:xfrm>
            <a:off x="1908541" y="2827828"/>
            <a:ext cx="50292" cy="50292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20" name="Shape 17"/>
          <p:cNvSpPr/>
          <p:nvPr/>
        </p:nvSpPr>
        <p:spPr>
          <a:xfrm>
            <a:off x="2026875" y="2915089"/>
            <a:ext cx="50292" cy="50292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21" name="Shape 18"/>
          <p:cNvSpPr/>
          <p:nvPr/>
        </p:nvSpPr>
        <p:spPr>
          <a:xfrm>
            <a:off x="2145209" y="2994980"/>
            <a:ext cx="50292" cy="50292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22" name="Shape 19"/>
          <p:cNvSpPr/>
          <p:nvPr/>
        </p:nvSpPr>
        <p:spPr>
          <a:xfrm>
            <a:off x="2263543" y="3068124"/>
            <a:ext cx="50292" cy="50292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23" name="Shape 20"/>
          <p:cNvSpPr/>
          <p:nvPr/>
        </p:nvSpPr>
        <p:spPr>
          <a:xfrm>
            <a:off x="2381878" y="3135090"/>
            <a:ext cx="50292" cy="50292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24" name="Shape 21"/>
          <p:cNvSpPr/>
          <p:nvPr/>
        </p:nvSpPr>
        <p:spPr>
          <a:xfrm>
            <a:off x="2500212" y="3196401"/>
            <a:ext cx="50292" cy="50292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25" name="Shape 22"/>
          <p:cNvSpPr/>
          <p:nvPr/>
        </p:nvSpPr>
        <p:spPr>
          <a:xfrm>
            <a:off x="2618546" y="3252534"/>
            <a:ext cx="50292" cy="50292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26" name="Shape 23"/>
          <p:cNvSpPr/>
          <p:nvPr/>
        </p:nvSpPr>
        <p:spPr>
          <a:xfrm>
            <a:off x="2736880" y="3303926"/>
            <a:ext cx="50292" cy="50292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27" name="Shape 24"/>
          <p:cNvSpPr/>
          <p:nvPr/>
        </p:nvSpPr>
        <p:spPr>
          <a:xfrm>
            <a:off x="2855214" y="3350978"/>
            <a:ext cx="50292" cy="50292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28" name="Shape 25"/>
          <p:cNvSpPr/>
          <p:nvPr/>
        </p:nvSpPr>
        <p:spPr>
          <a:xfrm>
            <a:off x="2973548" y="3394057"/>
            <a:ext cx="50292" cy="50292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29" name="Shape 26"/>
          <p:cNvSpPr/>
          <p:nvPr/>
        </p:nvSpPr>
        <p:spPr>
          <a:xfrm>
            <a:off x="3091882" y="3433497"/>
            <a:ext cx="50292" cy="50292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30" name="Shape 27"/>
          <p:cNvSpPr/>
          <p:nvPr/>
        </p:nvSpPr>
        <p:spPr>
          <a:xfrm>
            <a:off x="3210216" y="3469606"/>
            <a:ext cx="50292" cy="50292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31" name="Shape 28"/>
          <p:cNvSpPr/>
          <p:nvPr/>
        </p:nvSpPr>
        <p:spPr>
          <a:xfrm>
            <a:off x="3328550" y="3502665"/>
            <a:ext cx="50292" cy="50292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32" name="Shape 29"/>
          <p:cNvSpPr/>
          <p:nvPr/>
        </p:nvSpPr>
        <p:spPr>
          <a:xfrm>
            <a:off x="3446885" y="3532933"/>
            <a:ext cx="50292" cy="50292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33" name="Shape 30"/>
          <p:cNvSpPr/>
          <p:nvPr/>
        </p:nvSpPr>
        <p:spPr>
          <a:xfrm>
            <a:off x="3565219" y="3560644"/>
            <a:ext cx="50292" cy="50292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34" name="Shape 31"/>
          <p:cNvSpPr/>
          <p:nvPr/>
        </p:nvSpPr>
        <p:spPr>
          <a:xfrm>
            <a:off x="3683553" y="3586015"/>
            <a:ext cx="50292" cy="50292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35" name="Shape 32"/>
          <p:cNvSpPr/>
          <p:nvPr/>
        </p:nvSpPr>
        <p:spPr>
          <a:xfrm>
            <a:off x="3801887" y="3609244"/>
            <a:ext cx="50292" cy="50292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36" name="Shape 33"/>
          <p:cNvSpPr/>
          <p:nvPr/>
        </p:nvSpPr>
        <p:spPr>
          <a:xfrm>
            <a:off x="3920221" y="3630510"/>
            <a:ext cx="50292" cy="50292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37" name="Shape 34"/>
          <p:cNvSpPr/>
          <p:nvPr/>
        </p:nvSpPr>
        <p:spPr>
          <a:xfrm>
            <a:off x="4038555" y="3649981"/>
            <a:ext cx="50292" cy="50292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38" name="Shape 35"/>
          <p:cNvSpPr/>
          <p:nvPr/>
        </p:nvSpPr>
        <p:spPr>
          <a:xfrm>
            <a:off x="4156889" y="3667807"/>
            <a:ext cx="50292" cy="50292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39" name="Shape 36"/>
          <p:cNvSpPr/>
          <p:nvPr/>
        </p:nvSpPr>
        <p:spPr>
          <a:xfrm>
            <a:off x="4275223" y="3684127"/>
            <a:ext cx="50292" cy="50292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40" name="Shape 37"/>
          <p:cNvSpPr/>
          <p:nvPr/>
        </p:nvSpPr>
        <p:spPr>
          <a:xfrm>
            <a:off x="4393558" y="3699070"/>
            <a:ext cx="50292" cy="50292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41" name="Shape 38"/>
          <p:cNvSpPr/>
          <p:nvPr/>
        </p:nvSpPr>
        <p:spPr>
          <a:xfrm>
            <a:off x="4511892" y="3712750"/>
            <a:ext cx="50292" cy="50292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42" name="Shape 39"/>
          <p:cNvSpPr/>
          <p:nvPr/>
        </p:nvSpPr>
        <p:spPr>
          <a:xfrm>
            <a:off x="4630226" y="3725275"/>
            <a:ext cx="50292" cy="50292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43" name="Shape 40"/>
          <p:cNvSpPr/>
          <p:nvPr/>
        </p:nvSpPr>
        <p:spPr>
          <a:xfrm>
            <a:off x="4748560" y="3736742"/>
            <a:ext cx="50292" cy="50292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44" name="Shape 41"/>
          <p:cNvSpPr/>
          <p:nvPr/>
        </p:nvSpPr>
        <p:spPr>
          <a:xfrm>
            <a:off x="4866894" y="3747241"/>
            <a:ext cx="50292" cy="50292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45" name="Text 42"/>
          <p:cNvSpPr/>
          <p:nvPr/>
        </p:nvSpPr>
        <p:spPr>
          <a:xfrm>
            <a:off x="1463040" y="13716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53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votre chapitre en cours</a:t>
            </a:r>
            <a:endParaRPr lang="en-US" sz="1100" dirty="0"/>
          </a:p>
        </p:txBody>
      </p:sp>
      <p:sp>
        <p:nvSpPr>
          <p:cNvPr id="46" name="Text 43"/>
          <p:cNvSpPr/>
          <p:nvPr/>
        </p:nvSpPr>
        <p:spPr>
          <a:xfrm>
            <a:off x="3429000" y="29718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2E53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votre chapitre</a:t>
            </a:r>
            <a:endParaRPr lang="en-US" sz="1100" dirty="0"/>
          </a:p>
          <a:p>
            <a:pPr algn="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2E53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septembre</a:t>
            </a:r>
            <a:endParaRPr lang="en-US" sz="1100" dirty="0"/>
          </a:p>
        </p:txBody>
      </p:sp>
      <p:sp>
        <p:nvSpPr>
          <p:cNvPr id="47" name="Shape 44"/>
          <p:cNvSpPr/>
          <p:nvPr/>
        </p:nvSpPr>
        <p:spPr>
          <a:xfrm>
            <a:off x="5943600" y="1371600"/>
            <a:ext cx="2743200" cy="2103120"/>
          </a:xfrm>
          <a:prstGeom prst="roundRect">
            <a:avLst>
              <a:gd name="adj" fmla="val 4348"/>
            </a:avLst>
          </a:prstGeom>
          <a:solidFill>
            <a:srgbClr val="DEEAF6"/>
          </a:solidFill>
          <a:ln/>
        </p:spPr>
      </p:sp>
      <p:sp>
        <p:nvSpPr>
          <p:cNvPr id="48" name="Text 45"/>
          <p:cNvSpPr/>
          <p:nvPr/>
        </p:nvSpPr>
        <p:spPr>
          <a:xfrm>
            <a:off x="6172200" y="1508760"/>
            <a:ext cx="2286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venez de la mesurer.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retour sur un contenu, on oublie — vite au début, puis plus lentement. C’est normal.</a:t>
            </a:r>
            <a:endParaRPr lang="en-US" sz="1600" dirty="0"/>
          </a:p>
        </p:txBody>
      </p:sp>
      <p:sp>
        <p:nvSpPr>
          <p:cNvPr id="49" name="Text 46"/>
          <p:cNvSpPr/>
          <p:nvPr/>
        </p:nvSpPr>
        <p:spPr>
          <a:xfrm>
            <a:off x="457200" y="452628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Pratique espacée : Cepeda et al., 2006 · Dunlosky et al., 2013 · Dehaene, 2018 (pilier 4).</a:t>
            </a:r>
            <a:endParaRPr lang="en-US" sz="1050" dirty="0"/>
          </a:p>
        </p:txBody>
      </p:sp>
      <p:sp>
        <p:nvSpPr>
          <p:cNvPr id="50" name="Text 47"/>
          <p:cNvSpPr/>
          <p:nvPr/>
        </p:nvSpPr>
        <p:spPr>
          <a:xfrm>
            <a:off x="7635240" y="482803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B3 · écran 5 / 12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Réactiver relève la courbe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092440" y="292608"/>
            <a:ext cx="566928" cy="566928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29768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635240" y="896112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 entière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822960" y="1490472"/>
            <a:ext cx="0" cy="2578608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22960" y="4069080"/>
            <a:ext cx="4251960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45820" y="1577340"/>
            <a:ext cx="45720" cy="45720"/>
          </a:xfrm>
          <a:prstGeom prst="ellipse">
            <a:avLst/>
          </a:prstGeom>
          <a:solidFill>
            <a:srgbClr val="2E5395"/>
          </a:solidFill>
          <a:ln/>
        </p:spPr>
      </p:sp>
      <p:sp>
        <p:nvSpPr>
          <p:cNvPr id="9" name="Shape 6"/>
          <p:cNvSpPr/>
          <p:nvPr/>
        </p:nvSpPr>
        <p:spPr>
          <a:xfrm>
            <a:off x="922020" y="1991721"/>
            <a:ext cx="45720" cy="45720"/>
          </a:xfrm>
          <a:prstGeom prst="ellipse">
            <a:avLst/>
          </a:prstGeom>
          <a:solidFill>
            <a:srgbClr val="2E5395"/>
          </a:solidFill>
          <a:ln/>
        </p:spPr>
      </p:sp>
      <p:sp>
        <p:nvSpPr>
          <p:cNvPr id="10" name="Shape 7"/>
          <p:cNvSpPr/>
          <p:nvPr/>
        </p:nvSpPr>
        <p:spPr>
          <a:xfrm>
            <a:off x="998220" y="2330988"/>
            <a:ext cx="45720" cy="45720"/>
          </a:xfrm>
          <a:prstGeom prst="ellipse">
            <a:avLst/>
          </a:prstGeom>
          <a:solidFill>
            <a:srgbClr val="2E5395"/>
          </a:solidFill>
          <a:ln/>
        </p:spPr>
      </p:sp>
      <p:sp>
        <p:nvSpPr>
          <p:cNvPr id="11" name="Shape 8"/>
          <p:cNvSpPr/>
          <p:nvPr/>
        </p:nvSpPr>
        <p:spPr>
          <a:xfrm>
            <a:off x="1074420" y="2608757"/>
            <a:ext cx="45720" cy="45720"/>
          </a:xfrm>
          <a:prstGeom prst="ellipse">
            <a:avLst/>
          </a:prstGeom>
          <a:solidFill>
            <a:srgbClr val="2E5395"/>
          </a:solidFill>
          <a:ln/>
        </p:spPr>
      </p:sp>
      <p:sp>
        <p:nvSpPr>
          <p:cNvPr id="12" name="Shape 9"/>
          <p:cNvSpPr/>
          <p:nvPr/>
        </p:nvSpPr>
        <p:spPr>
          <a:xfrm>
            <a:off x="1150620" y="2836174"/>
            <a:ext cx="45720" cy="45720"/>
          </a:xfrm>
          <a:prstGeom prst="ellipse">
            <a:avLst/>
          </a:prstGeom>
          <a:solidFill>
            <a:srgbClr val="2E5395"/>
          </a:solidFill>
          <a:ln/>
        </p:spPr>
      </p:sp>
      <p:sp>
        <p:nvSpPr>
          <p:cNvPr id="13" name="Shape 10"/>
          <p:cNvSpPr/>
          <p:nvPr/>
        </p:nvSpPr>
        <p:spPr>
          <a:xfrm>
            <a:off x="1226820" y="3022368"/>
            <a:ext cx="45720" cy="45720"/>
          </a:xfrm>
          <a:prstGeom prst="ellipse">
            <a:avLst/>
          </a:prstGeom>
          <a:solidFill>
            <a:srgbClr val="2E5395"/>
          </a:solidFill>
          <a:ln/>
        </p:spPr>
      </p:sp>
      <p:sp>
        <p:nvSpPr>
          <p:cNvPr id="14" name="Shape 11"/>
          <p:cNvSpPr/>
          <p:nvPr/>
        </p:nvSpPr>
        <p:spPr>
          <a:xfrm>
            <a:off x="1303020" y="3174810"/>
            <a:ext cx="45720" cy="45720"/>
          </a:xfrm>
          <a:prstGeom prst="ellipse">
            <a:avLst/>
          </a:prstGeom>
          <a:solidFill>
            <a:srgbClr val="2E5395"/>
          </a:solidFill>
          <a:ln/>
        </p:spPr>
      </p:sp>
      <p:sp>
        <p:nvSpPr>
          <p:cNvPr id="15" name="Shape 12"/>
          <p:cNvSpPr/>
          <p:nvPr/>
        </p:nvSpPr>
        <p:spPr>
          <a:xfrm>
            <a:off x="1379220" y="3299619"/>
            <a:ext cx="45720" cy="45720"/>
          </a:xfrm>
          <a:prstGeom prst="ellipse">
            <a:avLst/>
          </a:prstGeom>
          <a:solidFill>
            <a:srgbClr val="2E5395"/>
          </a:solidFill>
          <a:ln/>
        </p:spPr>
      </p:sp>
      <p:sp>
        <p:nvSpPr>
          <p:cNvPr id="16" name="Shape 13"/>
          <p:cNvSpPr/>
          <p:nvPr/>
        </p:nvSpPr>
        <p:spPr>
          <a:xfrm>
            <a:off x="1455420" y="3401805"/>
            <a:ext cx="45720" cy="45720"/>
          </a:xfrm>
          <a:prstGeom prst="ellipse">
            <a:avLst/>
          </a:prstGeom>
          <a:solidFill>
            <a:srgbClr val="2E5395"/>
          </a:solidFill>
          <a:ln/>
        </p:spPr>
      </p:sp>
      <p:sp>
        <p:nvSpPr>
          <p:cNvPr id="17" name="Shape 14"/>
          <p:cNvSpPr/>
          <p:nvPr/>
        </p:nvSpPr>
        <p:spPr>
          <a:xfrm>
            <a:off x="1531620" y="3485467"/>
            <a:ext cx="45720" cy="45720"/>
          </a:xfrm>
          <a:prstGeom prst="ellipse">
            <a:avLst/>
          </a:prstGeom>
          <a:solidFill>
            <a:srgbClr val="2E5395"/>
          </a:solidFill>
          <a:ln/>
        </p:spPr>
      </p:sp>
      <p:sp>
        <p:nvSpPr>
          <p:cNvPr id="18" name="Shape 15"/>
          <p:cNvSpPr/>
          <p:nvPr/>
        </p:nvSpPr>
        <p:spPr>
          <a:xfrm>
            <a:off x="1607820" y="3553964"/>
            <a:ext cx="45720" cy="45720"/>
          </a:xfrm>
          <a:prstGeom prst="ellipse">
            <a:avLst/>
          </a:prstGeom>
          <a:solidFill>
            <a:srgbClr val="2E5395"/>
          </a:solidFill>
          <a:ln/>
        </p:spPr>
      </p:sp>
      <p:sp>
        <p:nvSpPr>
          <p:cNvPr id="19" name="Shape 16"/>
          <p:cNvSpPr/>
          <p:nvPr/>
        </p:nvSpPr>
        <p:spPr>
          <a:xfrm>
            <a:off x="1684020" y="3610044"/>
            <a:ext cx="45720" cy="45720"/>
          </a:xfrm>
          <a:prstGeom prst="ellipse">
            <a:avLst/>
          </a:prstGeom>
          <a:solidFill>
            <a:srgbClr val="2E5395"/>
          </a:solidFill>
          <a:ln/>
        </p:spPr>
      </p:sp>
      <p:sp>
        <p:nvSpPr>
          <p:cNvPr id="20" name="Shape 17"/>
          <p:cNvSpPr/>
          <p:nvPr/>
        </p:nvSpPr>
        <p:spPr>
          <a:xfrm>
            <a:off x="1760220" y="3655959"/>
            <a:ext cx="45720" cy="45720"/>
          </a:xfrm>
          <a:prstGeom prst="ellipse">
            <a:avLst/>
          </a:prstGeom>
          <a:solidFill>
            <a:srgbClr val="2E5395"/>
          </a:solidFill>
          <a:ln/>
        </p:spPr>
      </p:sp>
      <p:sp>
        <p:nvSpPr>
          <p:cNvPr id="21" name="Shape 18"/>
          <p:cNvSpPr/>
          <p:nvPr/>
        </p:nvSpPr>
        <p:spPr>
          <a:xfrm>
            <a:off x="1836420" y="3693551"/>
            <a:ext cx="45720" cy="45720"/>
          </a:xfrm>
          <a:prstGeom prst="ellipse">
            <a:avLst/>
          </a:prstGeom>
          <a:solidFill>
            <a:srgbClr val="2E5395"/>
          </a:solidFill>
          <a:ln/>
        </p:spPr>
      </p:sp>
      <p:sp>
        <p:nvSpPr>
          <p:cNvPr id="22" name="Shape 19"/>
          <p:cNvSpPr/>
          <p:nvPr/>
        </p:nvSpPr>
        <p:spPr>
          <a:xfrm>
            <a:off x="1912620" y="3724328"/>
            <a:ext cx="45720" cy="45720"/>
          </a:xfrm>
          <a:prstGeom prst="ellipse">
            <a:avLst/>
          </a:prstGeom>
          <a:solidFill>
            <a:srgbClr val="2E5395"/>
          </a:solidFill>
          <a:ln/>
        </p:spPr>
      </p:sp>
      <p:sp>
        <p:nvSpPr>
          <p:cNvPr id="23" name="Shape 20"/>
          <p:cNvSpPr/>
          <p:nvPr/>
        </p:nvSpPr>
        <p:spPr>
          <a:xfrm>
            <a:off x="1988820" y="3749527"/>
            <a:ext cx="45720" cy="45720"/>
          </a:xfrm>
          <a:prstGeom prst="ellipse">
            <a:avLst/>
          </a:prstGeom>
          <a:solidFill>
            <a:srgbClr val="2E5395"/>
          </a:solidFill>
          <a:ln/>
        </p:spPr>
      </p:sp>
      <p:sp>
        <p:nvSpPr>
          <p:cNvPr id="24" name="Shape 21"/>
          <p:cNvSpPr/>
          <p:nvPr/>
        </p:nvSpPr>
        <p:spPr>
          <a:xfrm>
            <a:off x="1988820" y="1577340"/>
            <a:ext cx="45720" cy="45720"/>
          </a:xfrm>
          <a:prstGeom prst="ellipse">
            <a:avLst/>
          </a:prstGeom>
          <a:solidFill>
            <a:srgbClr val="2E5395"/>
          </a:solidFill>
          <a:ln/>
        </p:spPr>
      </p:sp>
      <p:sp>
        <p:nvSpPr>
          <p:cNvPr id="25" name="Shape 22"/>
          <p:cNvSpPr/>
          <p:nvPr/>
        </p:nvSpPr>
        <p:spPr>
          <a:xfrm>
            <a:off x="2074545" y="1845952"/>
            <a:ext cx="45720" cy="45720"/>
          </a:xfrm>
          <a:prstGeom prst="ellipse">
            <a:avLst/>
          </a:prstGeom>
          <a:solidFill>
            <a:srgbClr val="2E5395"/>
          </a:solidFill>
          <a:ln/>
        </p:spPr>
      </p:sp>
      <p:sp>
        <p:nvSpPr>
          <p:cNvPr id="26" name="Shape 23"/>
          <p:cNvSpPr/>
          <p:nvPr/>
        </p:nvSpPr>
        <p:spPr>
          <a:xfrm>
            <a:off x="2160270" y="2083001"/>
            <a:ext cx="45720" cy="45720"/>
          </a:xfrm>
          <a:prstGeom prst="ellipse">
            <a:avLst/>
          </a:prstGeom>
          <a:solidFill>
            <a:srgbClr val="2E5395"/>
          </a:solidFill>
          <a:ln/>
        </p:spPr>
      </p:sp>
      <p:sp>
        <p:nvSpPr>
          <p:cNvPr id="27" name="Shape 24"/>
          <p:cNvSpPr/>
          <p:nvPr/>
        </p:nvSpPr>
        <p:spPr>
          <a:xfrm>
            <a:off x="2245995" y="2292197"/>
            <a:ext cx="45720" cy="45720"/>
          </a:xfrm>
          <a:prstGeom prst="ellipse">
            <a:avLst/>
          </a:prstGeom>
          <a:solidFill>
            <a:srgbClr val="2E5395"/>
          </a:solidFill>
          <a:ln/>
        </p:spPr>
      </p:sp>
      <p:sp>
        <p:nvSpPr>
          <p:cNvPr id="28" name="Shape 25"/>
          <p:cNvSpPr/>
          <p:nvPr/>
        </p:nvSpPr>
        <p:spPr>
          <a:xfrm>
            <a:off x="2331720" y="2476811"/>
            <a:ext cx="45720" cy="45720"/>
          </a:xfrm>
          <a:prstGeom prst="ellipse">
            <a:avLst/>
          </a:prstGeom>
          <a:solidFill>
            <a:srgbClr val="2E5395"/>
          </a:solidFill>
          <a:ln/>
        </p:spPr>
      </p:sp>
      <p:sp>
        <p:nvSpPr>
          <p:cNvPr id="29" name="Shape 26"/>
          <p:cNvSpPr/>
          <p:nvPr/>
        </p:nvSpPr>
        <p:spPr>
          <a:xfrm>
            <a:off x="2417445" y="2639732"/>
            <a:ext cx="45720" cy="45720"/>
          </a:xfrm>
          <a:prstGeom prst="ellipse">
            <a:avLst/>
          </a:prstGeom>
          <a:solidFill>
            <a:srgbClr val="2E5395"/>
          </a:solidFill>
          <a:ln/>
        </p:spPr>
      </p:sp>
      <p:sp>
        <p:nvSpPr>
          <p:cNvPr id="30" name="Shape 27"/>
          <p:cNvSpPr/>
          <p:nvPr/>
        </p:nvSpPr>
        <p:spPr>
          <a:xfrm>
            <a:off x="2503170" y="2783510"/>
            <a:ext cx="45720" cy="45720"/>
          </a:xfrm>
          <a:prstGeom prst="ellipse">
            <a:avLst/>
          </a:prstGeom>
          <a:solidFill>
            <a:srgbClr val="2E5395"/>
          </a:solidFill>
          <a:ln/>
        </p:spPr>
      </p:sp>
      <p:sp>
        <p:nvSpPr>
          <p:cNvPr id="31" name="Shape 28"/>
          <p:cNvSpPr/>
          <p:nvPr/>
        </p:nvSpPr>
        <p:spPr>
          <a:xfrm>
            <a:off x="2588895" y="2910393"/>
            <a:ext cx="45720" cy="45720"/>
          </a:xfrm>
          <a:prstGeom prst="ellipse">
            <a:avLst/>
          </a:prstGeom>
          <a:solidFill>
            <a:srgbClr val="2E5395"/>
          </a:solidFill>
          <a:ln/>
        </p:spPr>
      </p:sp>
      <p:sp>
        <p:nvSpPr>
          <p:cNvPr id="32" name="Shape 29"/>
          <p:cNvSpPr/>
          <p:nvPr/>
        </p:nvSpPr>
        <p:spPr>
          <a:xfrm>
            <a:off x="2674620" y="3022368"/>
            <a:ext cx="45720" cy="45720"/>
          </a:xfrm>
          <a:prstGeom prst="ellipse">
            <a:avLst/>
          </a:prstGeom>
          <a:solidFill>
            <a:srgbClr val="2E5395"/>
          </a:solidFill>
          <a:ln/>
        </p:spPr>
      </p:sp>
      <p:sp>
        <p:nvSpPr>
          <p:cNvPr id="33" name="Shape 30"/>
          <p:cNvSpPr/>
          <p:nvPr/>
        </p:nvSpPr>
        <p:spPr>
          <a:xfrm>
            <a:off x="2760345" y="3121184"/>
            <a:ext cx="45720" cy="45720"/>
          </a:xfrm>
          <a:prstGeom prst="ellipse">
            <a:avLst/>
          </a:prstGeom>
          <a:solidFill>
            <a:srgbClr val="2E5395"/>
          </a:solidFill>
          <a:ln/>
        </p:spPr>
      </p:sp>
      <p:sp>
        <p:nvSpPr>
          <p:cNvPr id="34" name="Shape 31"/>
          <p:cNvSpPr/>
          <p:nvPr/>
        </p:nvSpPr>
        <p:spPr>
          <a:xfrm>
            <a:off x="2846070" y="3208390"/>
            <a:ext cx="45720" cy="45720"/>
          </a:xfrm>
          <a:prstGeom prst="ellipse">
            <a:avLst/>
          </a:prstGeom>
          <a:solidFill>
            <a:srgbClr val="2E5395"/>
          </a:solidFill>
          <a:ln/>
        </p:spPr>
      </p:sp>
      <p:sp>
        <p:nvSpPr>
          <p:cNvPr id="35" name="Shape 32"/>
          <p:cNvSpPr/>
          <p:nvPr/>
        </p:nvSpPr>
        <p:spPr>
          <a:xfrm>
            <a:off x="2931795" y="3285349"/>
            <a:ext cx="45720" cy="45720"/>
          </a:xfrm>
          <a:prstGeom prst="ellipse">
            <a:avLst/>
          </a:prstGeom>
          <a:solidFill>
            <a:srgbClr val="2E5395"/>
          </a:solidFill>
          <a:ln/>
        </p:spPr>
      </p:sp>
      <p:sp>
        <p:nvSpPr>
          <p:cNvPr id="36" name="Shape 33"/>
          <p:cNvSpPr/>
          <p:nvPr/>
        </p:nvSpPr>
        <p:spPr>
          <a:xfrm>
            <a:off x="3017520" y="3353264"/>
            <a:ext cx="45720" cy="45720"/>
          </a:xfrm>
          <a:prstGeom prst="ellipse">
            <a:avLst/>
          </a:prstGeom>
          <a:solidFill>
            <a:srgbClr val="2E5395"/>
          </a:solidFill>
          <a:ln/>
        </p:spPr>
      </p:sp>
      <p:sp>
        <p:nvSpPr>
          <p:cNvPr id="37" name="Shape 34"/>
          <p:cNvSpPr/>
          <p:nvPr/>
        </p:nvSpPr>
        <p:spPr>
          <a:xfrm>
            <a:off x="3103245" y="3413200"/>
            <a:ext cx="45720" cy="45720"/>
          </a:xfrm>
          <a:prstGeom prst="ellipse">
            <a:avLst/>
          </a:prstGeom>
          <a:solidFill>
            <a:srgbClr val="2E5395"/>
          </a:solidFill>
          <a:ln/>
        </p:spPr>
      </p:sp>
      <p:sp>
        <p:nvSpPr>
          <p:cNvPr id="38" name="Shape 35"/>
          <p:cNvSpPr/>
          <p:nvPr/>
        </p:nvSpPr>
        <p:spPr>
          <a:xfrm>
            <a:off x="3188970" y="3466093"/>
            <a:ext cx="45720" cy="45720"/>
          </a:xfrm>
          <a:prstGeom prst="ellipse">
            <a:avLst/>
          </a:prstGeom>
          <a:solidFill>
            <a:srgbClr val="2E5395"/>
          </a:solidFill>
          <a:ln/>
        </p:spPr>
      </p:sp>
      <p:sp>
        <p:nvSpPr>
          <p:cNvPr id="39" name="Shape 36"/>
          <p:cNvSpPr/>
          <p:nvPr/>
        </p:nvSpPr>
        <p:spPr>
          <a:xfrm>
            <a:off x="3274695" y="3512771"/>
            <a:ext cx="45720" cy="45720"/>
          </a:xfrm>
          <a:prstGeom prst="ellipse">
            <a:avLst/>
          </a:prstGeom>
          <a:solidFill>
            <a:srgbClr val="2E5395"/>
          </a:solidFill>
          <a:ln/>
        </p:spPr>
      </p:sp>
      <p:sp>
        <p:nvSpPr>
          <p:cNvPr id="40" name="Shape 37"/>
          <p:cNvSpPr/>
          <p:nvPr/>
        </p:nvSpPr>
        <p:spPr>
          <a:xfrm>
            <a:off x="3360420" y="3553964"/>
            <a:ext cx="45720" cy="45720"/>
          </a:xfrm>
          <a:prstGeom prst="ellipse">
            <a:avLst/>
          </a:prstGeom>
          <a:solidFill>
            <a:srgbClr val="2E5395"/>
          </a:solidFill>
          <a:ln/>
        </p:spPr>
      </p:sp>
      <p:sp>
        <p:nvSpPr>
          <p:cNvPr id="41" name="Shape 38"/>
          <p:cNvSpPr/>
          <p:nvPr/>
        </p:nvSpPr>
        <p:spPr>
          <a:xfrm>
            <a:off x="3360420" y="1577340"/>
            <a:ext cx="45720" cy="45720"/>
          </a:xfrm>
          <a:prstGeom prst="ellipse">
            <a:avLst/>
          </a:prstGeom>
          <a:solidFill>
            <a:srgbClr val="2E5395"/>
          </a:solidFill>
          <a:ln/>
        </p:spPr>
      </p:sp>
      <p:sp>
        <p:nvSpPr>
          <p:cNvPr id="42" name="Shape 39"/>
          <p:cNvSpPr/>
          <p:nvPr/>
        </p:nvSpPr>
        <p:spPr>
          <a:xfrm>
            <a:off x="3449171" y="1720574"/>
            <a:ext cx="45720" cy="45720"/>
          </a:xfrm>
          <a:prstGeom prst="ellipse">
            <a:avLst/>
          </a:prstGeom>
          <a:solidFill>
            <a:srgbClr val="2E5395"/>
          </a:solidFill>
          <a:ln/>
        </p:spPr>
      </p:sp>
      <p:sp>
        <p:nvSpPr>
          <p:cNvPr id="43" name="Shape 40"/>
          <p:cNvSpPr/>
          <p:nvPr/>
        </p:nvSpPr>
        <p:spPr>
          <a:xfrm>
            <a:off x="3537921" y="1854833"/>
            <a:ext cx="45720" cy="45720"/>
          </a:xfrm>
          <a:prstGeom prst="ellipse">
            <a:avLst/>
          </a:prstGeom>
          <a:solidFill>
            <a:srgbClr val="2E5395"/>
          </a:solidFill>
          <a:ln/>
        </p:spPr>
      </p:sp>
      <p:sp>
        <p:nvSpPr>
          <p:cNvPr id="44" name="Shape 41"/>
          <p:cNvSpPr/>
          <p:nvPr/>
        </p:nvSpPr>
        <p:spPr>
          <a:xfrm>
            <a:off x="3626672" y="1980680"/>
            <a:ext cx="45720" cy="45720"/>
          </a:xfrm>
          <a:prstGeom prst="ellipse">
            <a:avLst/>
          </a:prstGeom>
          <a:solidFill>
            <a:srgbClr val="2E5395"/>
          </a:solidFill>
          <a:ln/>
        </p:spPr>
      </p:sp>
      <p:sp>
        <p:nvSpPr>
          <p:cNvPr id="45" name="Shape 42"/>
          <p:cNvSpPr/>
          <p:nvPr/>
        </p:nvSpPr>
        <p:spPr>
          <a:xfrm>
            <a:off x="3715422" y="2098641"/>
            <a:ext cx="45720" cy="45720"/>
          </a:xfrm>
          <a:prstGeom prst="ellipse">
            <a:avLst/>
          </a:prstGeom>
          <a:solidFill>
            <a:srgbClr val="2E5395"/>
          </a:solidFill>
          <a:ln/>
        </p:spPr>
      </p:sp>
      <p:sp>
        <p:nvSpPr>
          <p:cNvPr id="46" name="Shape 43"/>
          <p:cNvSpPr/>
          <p:nvPr/>
        </p:nvSpPr>
        <p:spPr>
          <a:xfrm>
            <a:off x="3804173" y="2209212"/>
            <a:ext cx="45720" cy="45720"/>
          </a:xfrm>
          <a:prstGeom prst="ellipse">
            <a:avLst/>
          </a:prstGeom>
          <a:solidFill>
            <a:srgbClr val="2E5395"/>
          </a:solidFill>
          <a:ln/>
        </p:spPr>
      </p:sp>
      <p:sp>
        <p:nvSpPr>
          <p:cNvPr id="47" name="Shape 44"/>
          <p:cNvSpPr/>
          <p:nvPr/>
        </p:nvSpPr>
        <p:spPr>
          <a:xfrm>
            <a:off x="3892924" y="2312854"/>
            <a:ext cx="45720" cy="45720"/>
          </a:xfrm>
          <a:prstGeom prst="ellipse">
            <a:avLst/>
          </a:prstGeom>
          <a:solidFill>
            <a:srgbClr val="2E5395"/>
          </a:solidFill>
          <a:ln/>
        </p:spPr>
      </p:sp>
      <p:sp>
        <p:nvSpPr>
          <p:cNvPr id="48" name="Shape 45"/>
          <p:cNvSpPr/>
          <p:nvPr/>
        </p:nvSpPr>
        <p:spPr>
          <a:xfrm>
            <a:off x="3981674" y="2410003"/>
            <a:ext cx="45720" cy="45720"/>
          </a:xfrm>
          <a:prstGeom prst="ellipse">
            <a:avLst/>
          </a:prstGeom>
          <a:solidFill>
            <a:srgbClr val="2E5395"/>
          </a:solidFill>
          <a:ln/>
        </p:spPr>
      </p:sp>
      <p:sp>
        <p:nvSpPr>
          <p:cNvPr id="49" name="Shape 46"/>
          <p:cNvSpPr/>
          <p:nvPr/>
        </p:nvSpPr>
        <p:spPr>
          <a:xfrm>
            <a:off x="4070425" y="2501064"/>
            <a:ext cx="45720" cy="45720"/>
          </a:xfrm>
          <a:prstGeom prst="ellipse">
            <a:avLst/>
          </a:prstGeom>
          <a:solidFill>
            <a:srgbClr val="2E5395"/>
          </a:solidFill>
          <a:ln/>
        </p:spPr>
      </p:sp>
      <p:sp>
        <p:nvSpPr>
          <p:cNvPr id="50" name="Shape 47"/>
          <p:cNvSpPr/>
          <p:nvPr/>
        </p:nvSpPr>
        <p:spPr>
          <a:xfrm>
            <a:off x="4159175" y="2586420"/>
            <a:ext cx="45720" cy="45720"/>
          </a:xfrm>
          <a:prstGeom prst="ellipse">
            <a:avLst/>
          </a:prstGeom>
          <a:solidFill>
            <a:srgbClr val="2E5395"/>
          </a:solidFill>
          <a:ln/>
        </p:spPr>
      </p:sp>
      <p:sp>
        <p:nvSpPr>
          <p:cNvPr id="51" name="Shape 48"/>
          <p:cNvSpPr/>
          <p:nvPr/>
        </p:nvSpPr>
        <p:spPr>
          <a:xfrm>
            <a:off x="4247926" y="2666428"/>
            <a:ext cx="45720" cy="45720"/>
          </a:xfrm>
          <a:prstGeom prst="ellipse">
            <a:avLst/>
          </a:prstGeom>
          <a:solidFill>
            <a:srgbClr val="2E5395"/>
          </a:solidFill>
          <a:ln/>
        </p:spPr>
      </p:sp>
      <p:sp>
        <p:nvSpPr>
          <p:cNvPr id="52" name="Shape 49"/>
          <p:cNvSpPr/>
          <p:nvPr/>
        </p:nvSpPr>
        <p:spPr>
          <a:xfrm>
            <a:off x="4336676" y="2741423"/>
            <a:ext cx="45720" cy="45720"/>
          </a:xfrm>
          <a:prstGeom prst="ellipse">
            <a:avLst/>
          </a:prstGeom>
          <a:solidFill>
            <a:srgbClr val="2E5395"/>
          </a:solidFill>
          <a:ln/>
        </p:spPr>
      </p:sp>
      <p:sp>
        <p:nvSpPr>
          <p:cNvPr id="53" name="Shape 50"/>
          <p:cNvSpPr/>
          <p:nvPr/>
        </p:nvSpPr>
        <p:spPr>
          <a:xfrm>
            <a:off x="4425427" y="2811719"/>
            <a:ext cx="45720" cy="45720"/>
          </a:xfrm>
          <a:prstGeom prst="ellipse">
            <a:avLst/>
          </a:prstGeom>
          <a:solidFill>
            <a:srgbClr val="2E5395"/>
          </a:solidFill>
          <a:ln/>
        </p:spPr>
      </p:sp>
      <p:sp>
        <p:nvSpPr>
          <p:cNvPr id="54" name="Shape 51"/>
          <p:cNvSpPr/>
          <p:nvPr/>
        </p:nvSpPr>
        <p:spPr>
          <a:xfrm>
            <a:off x="4514178" y="2877610"/>
            <a:ext cx="45720" cy="45720"/>
          </a:xfrm>
          <a:prstGeom prst="ellipse">
            <a:avLst/>
          </a:prstGeom>
          <a:solidFill>
            <a:srgbClr val="2E5395"/>
          </a:solidFill>
          <a:ln/>
        </p:spPr>
      </p:sp>
      <p:sp>
        <p:nvSpPr>
          <p:cNvPr id="55" name="Shape 52"/>
          <p:cNvSpPr/>
          <p:nvPr/>
        </p:nvSpPr>
        <p:spPr>
          <a:xfrm>
            <a:off x="4602928" y="2939373"/>
            <a:ext cx="45720" cy="45720"/>
          </a:xfrm>
          <a:prstGeom prst="ellipse">
            <a:avLst/>
          </a:prstGeom>
          <a:solidFill>
            <a:srgbClr val="2E5395"/>
          </a:solidFill>
          <a:ln/>
        </p:spPr>
      </p:sp>
      <p:sp>
        <p:nvSpPr>
          <p:cNvPr id="56" name="Shape 53"/>
          <p:cNvSpPr/>
          <p:nvPr/>
        </p:nvSpPr>
        <p:spPr>
          <a:xfrm>
            <a:off x="4691679" y="2997266"/>
            <a:ext cx="45720" cy="45720"/>
          </a:xfrm>
          <a:prstGeom prst="ellipse">
            <a:avLst/>
          </a:prstGeom>
          <a:solidFill>
            <a:srgbClr val="2E5395"/>
          </a:solidFill>
          <a:ln/>
        </p:spPr>
      </p:sp>
      <p:sp>
        <p:nvSpPr>
          <p:cNvPr id="57" name="Shape 54"/>
          <p:cNvSpPr/>
          <p:nvPr/>
        </p:nvSpPr>
        <p:spPr>
          <a:xfrm>
            <a:off x="4780429" y="3051531"/>
            <a:ext cx="45720" cy="45720"/>
          </a:xfrm>
          <a:prstGeom prst="ellipse">
            <a:avLst/>
          </a:prstGeom>
          <a:solidFill>
            <a:srgbClr val="2E5395"/>
          </a:solidFill>
          <a:ln/>
        </p:spPr>
      </p:sp>
      <p:sp>
        <p:nvSpPr>
          <p:cNvPr id="58" name="Shape 55"/>
          <p:cNvSpPr/>
          <p:nvPr/>
        </p:nvSpPr>
        <p:spPr>
          <a:xfrm>
            <a:off x="4869180" y="3102397"/>
            <a:ext cx="45720" cy="45720"/>
          </a:xfrm>
          <a:prstGeom prst="ellipse">
            <a:avLst/>
          </a:prstGeom>
          <a:solidFill>
            <a:srgbClr val="2E5395"/>
          </a:solidFill>
          <a:ln/>
        </p:spPr>
      </p:sp>
      <p:sp>
        <p:nvSpPr>
          <p:cNvPr id="59" name="Shape 56"/>
          <p:cNvSpPr/>
          <p:nvPr/>
        </p:nvSpPr>
        <p:spPr>
          <a:xfrm>
            <a:off x="2011680" y="1536192"/>
            <a:ext cx="0" cy="2395728"/>
          </a:xfrm>
          <a:prstGeom prst="line">
            <a:avLst/>
          </a:prstGeom>
          <a:noFill/>
          <a:ln w="15875">
            <a:solidFill>
              <a:srgbClr val="1F3864"/>
            </a:solidFill>
            <a:prstDash val="dash"/>
          </a:ln>
        </p:spPr>
      </p:sp>
      <p:sp>
        <p:nvSpPr>
          <p:cNvPr id="60" name="Text 57"/>
          <p:cNvSpPr/>
          <p:nvPr/>
        </p:nvSpPr>
        <p:spPr>
          <a:xfrm>
            <a:off x="1600200" y="404164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J+1</a:t>
            </a:r>
            <a:endParaRPr lang="en-US" sz="1200" dirty="0"/>
          </a:p>
        </p:txBody>
      </p:sp>
      <p:sp>
        <p:nvSpPr>
          <p:cNvPr id="61" name="Shape 58"/>
          <p:cNvSpPr/>
          <p:nvPr/>
        </p:nvSpPr>
        <p:spPr>
          <a:xfrm>
            <a:off x="3383280" y="1536192"/>
            <a:ext cx="0" cy="2395728"/>
          </a:xfrm>
          <a:prstGeom prst="line">
            <a:avLst/>
          </a:prstGeom>
          <a:noFill/>
          <a:ln w="15875">
            <a:solidFill>
              <a:srgbClr val="1F3864"/>
            </a:solidFill>
            <a:prstDash val="dash"/>
          </a:ln>
        </p:spPr>
      </p:sp>
      <p:sp>
        <p:nvSpPr>
          <p:cNvPr id="62" name="Text 59"/>
          <p:cNvSpPr/>
          <p:nvPr/>
        </p:nvSpPr>
        <p:spPr>
          <a:xfrm>
            <a:off x="2971800" y="404164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J+7</a:t>
            </a:r>
            <a:endParaRPr lang="en-US" sz="1200" dirty="0"/>
          </a:p>
        </p:txBody>
      </p:sp>
      <p:sp>
        <p:nvSpPr>
          <p:cNvPr id="63" name="Shape 60"/>
          <p:cNvSpPr/>
          <p:nvPr/>
        </p:nvSpPr>
        <p:spPr>
          <a:xfrm>
            <a:off x="4892040" y="1536192"/>
            <a:ext cx="0" cy="2395728"/>
          </a:xfrm>
          <a:prstGeom prst="line">
            <a:avLst/>
          </a:prstGeom>
          <a:noFill/>
          <a:ln w="15875">
            <a:solidFill>
              <a:srgbClr val="1F3864"/>
            </a:solidFill>
            <a:prstDash val="dash"/>
          </a:ln>
        </p:spPr>
      </p:sp>
      <p:sp>
        <p:nvSpPr>
          <p:cNvPr id="64" name="Text 61"/>
          <p:cNvSpPr/>
          <p:nvPr/>
        </p:nvSpPr>
        <p:spPr>
          <a:xfrm>
            <a:off x="4480560" y="404164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J+30</a:t>
            </a:r>
            <a:endParaRPr lang="en-US" sz="1200" dirty="0"/>
          </a:p>
        </p:txBody>
      </p:sp>
      <p:sp>
        <p:nvSpPr>
          <p:cNvPr id="65" name="Shape 62"/>
          <p:cNvSpPr/>
          <p:nvPr/>
        </p:nvSpPr>
        <p:spPr>
          <a:xfrm>
            <a:off x="5943600" y="1371600"/>
            <a:ext cx="2743200" cy="2103120"/>
          </a:xfrm>
          <a:prstGeom prst="roundRect">
            <a:avLst>
              <a:gd name="adj" fmla="val 4348"/>
            </a:avLst>
          </a:prstGeom>
          <a:solidFill>
            <a:srgbClr val="DEEAF6"/>
          </a:solidFill>
          <a:ln/>
        </p:spPr>
      </p:sp>
      <p:sp>
        <p:nvSpPr>
          <p:cNvPr id="66" name="Text 63"/>
          <p:cNvSpPr/>
          <p:nvPr/>
        </p:nvSpPr>
        <p:spPr>
          <a:xfrm>
            <a:off x="6172200" y="1508760"/>
            <a:ext cx="2286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retours courts et espacés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valent mieux qu’une longue soirée la veille.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Repère : 10 à 15 minutes à chaque rendez-vous.</a:t>
            </a:r>
            <a:endParaRPr lang="en-US" sz="1600" dirty="0"/>
          </a:p>
        </p:txBody>
      </p:sp>
      <p:sp>
        <p:nvSpPr>
          <p:cNvPr id="67" name="Text 64"/>
          <p:cNvSpPr/>
          <p:nvPr/>
        </p:nvSpPr>
        <p:spPr>
          <a:xfrm>
            <a:off x="457200" y="452628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Espacement croissant : Cepeda et al., 2006. J+1 / J+7 / J+30 est un repère pratique, pas un chiffre optimal démontré.</a:t>
            </a:r>
            <a:endParaRPr lang="en-US" sz="1050" dirty="0"/>
          </a:p>
        </p:txBody>
      </p:sp>
      <p:sp>
        <p:nvSpPr>
          <p:cNvPr id="68" name="Text 65"/>
          <p:cNvSpPr/>
          <p:nvPr/>
        </p:nvSpPr>
        <p:spPr>
          <a:xfrm>
            <a:off x="7635240" y="482803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B3 · écran 6 / 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Réactiver, c’est s’interroger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092440" y="292608"/>
            <a:ext cx="566928" cy="566928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29768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635240" y="896112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 entière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457200" y="1280160"/>
            <a:ext cx="3977640" cy="1371600"/>
          </a:xfrm>
          <a:prstGeom prst="roundRect">
            <a:avLst>
              <a:gd name="adj" fmla="val 6667"/>
            </a:avLst>
          </a:prstGeom>
          <a:solidFill>
            <a:srgbClr val="F2F2F2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1280160"/>
            <a:ext cx="3977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Relire</a:t>
            </a:r>
            <a:endParaRPr lang="en-US" sz="24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 familier.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4709160" y="1280160"/>
            <a:ext cx="3977640" cy="1371600"/>
          </a:xfrm>
          <a:prstGeom prst="roundRect">
            <a:avLst>
              <a:gd name="adj" fmla="val 6667"/>
            </a:avLst>
          </a:prstGeom>
          <a:solidFill>
            <a:srgbClr val="DEEAF6"/>
          </a:solidFill>
          <a:ln/>
        </p:spPr>
      </p:sp>
      <p:sp>
        <p:nvSpPr>
          <p:cNvPr id="9" name="Text 6"/>
          <p:cNvSpPr/>
          <p:nvPr/>
        </p:nvSpPr>
        <p:spPr>
          <a:xfrm>
            <a:off x="4709160" y="1280160"/>
            <a:ext cx="3977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S’interroger</a:t>
            </a:r>
            <a:endParaRPr lang="en-US" sz="24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 su.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457200" y="28346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venez de le faire : répondre classeur fermé, c’était réactiver.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457200" y="3383280"/>
            <a:ext cx="8229600" cy="960120"/>
          </a:xfrm>
          <a:prstGeom prst="roundRect">
            <a:avLst>
              <a:gd name="adj" fmla="val 9524"/>
            </a:avLst>
          </a:prstGeom>
          <a:solidFill>
            <a:srgbClr val="2E5395"/>
          </a:solidFill>
          <a:ln/>
        </p:spPr>
      </p:sp>
      <p:sp>
        <p:nvSpPr>
          <p:cNvPr id="12" name="Text 9"/>
          <p:cNvSpPr/>
          <p:nvPr/>
        </p:nvSpPr>
        <p:spPr>
          <a:xfrm>
            <a:off x="731520" y="3383280"/>
            <a:ext cx="7680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première, les épreuves portent sur des chapitres vus des mois plus tôt — et chaque DS compte déjà.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457200" y="452628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effect : Roediger &amp; Karpicke, 2006 (séances B1 et B2).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7635240" y="482803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B3 · écran 7 / 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 plan de réactivation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092440" y="292608"/>
            <a:ext cx="566928" cy="566928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29768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635240" y="896112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Individuel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457200" y="1234440"/>
            <a:ext cx="5257800" cy="1051560"/>
          </a:xfrm>
          <a:prstGeom prst="roundRect">
            <a:avLst>
              <a:gd name="adj" fmla="val 8696"/>
            </a:avLst>
          </a:prstGeom>
          <a:solidFill>
            <a:srgbClr val="DEEAF6"/>
          </a:solidFill>
          <a:ln/>
        </p:spPr>
      </p:sp>
      <p:sp>
        <p:nvSpPr>
          <p:cNvPr id="7" name="Text 4"/>
          <p:cNvSpPr/>
          <p:nvPr/>
        </p:nvSpPr>
        <p:spPr>
          <a:xfrm>
            <a:off x="685800" y="1234440"/>
            <a:ext cx="4800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chapitre EN COURS d’une de vos spécialités.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Trois rendez-vous : J+1, J+7, J+30.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594360" y="251460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chacun : un contenu précis sur le gabarit.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Puis la date et l’heure, écrites dans votre agenda.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57200" y="3703320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rendez-vous sans date ni contenu n’existe pas.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6035040" y="1691640"/>
            <a:ext cx="2651760" cy="1417320"/>
          </a:xfrm>
          <a:prstGeom prst="roundRect">
            <a:avLst>
              <a:gd name="adj" fmla="val 7742"/>
            </a:avLst>
          </a:prstGeom>
          <a:solidFill>
            <a:srgbClr val="F2F2F2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6208" y="2226564"/>
            <a:ext cx="347472" cy="347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601968" y="1764792"/>
            <a:ext cx="1993392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20:00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6035040" y="277977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 projeté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7635240" y="482803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B3 · écran 8 / 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faire pendant une réactivation 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092440" y="292608"/>
            <a:ext cx="566928" cy="566928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29768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635240" y="896112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Individuel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457200" y="1188720"/>
            <a:ext cx="8229600" cy="475488"/>
          </a:xfrm>
          <a:prstGeom prst="roundRect">
            <a:avLst>
              <a:gd name="adj" fmla="val 19231"/>
            </a:avLst>
          </a:prstGeom>
          <a:solidFill>
            <a:srgbClr val="DEEAF6"/>
          </a:solidFill>
          <a:ln/>
        </p:spPr>
      </p:sp>
      <p:sp>
        <p:nvSpPr>
          <p:cNvPr id="7" name="Text 4"/>
          <p:cNvSpPr/>
          <p:nvPr/>
        </p:nvSpPr>
        <p:spPr>
          <a:xfrm>
            <a:off x="685800" y="1188720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Répondre à mes 5 questions du jour, puis en écrire 3 nouvelles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57200" y="1755648"/>
            <a:ext cx="8229600" cy="475488"/>
          </a:xfrm>
          <a:prstGeom prst="roundRect">
            <a:avLst>
              <a:gd name="adj" fmla="val 19231"/>
            </a:avLst>
          </a:prstGeom>
          <a:solidFill>
            <a:srgbClr val="F2F2F2"/>
          </a:solidFill>
          <a:ln/>
        </p:spPr>
      </p:sp>
      <p:sp>
        <p:nvSpPr>
          <p:cNvPr id="9" name="Text 6"/>
          <p:cNvSpPr/>
          <p:nvPr/>
        </p:nvSpPr>
        <p:spPr>
          <a:xfrm>
            <a:off x="685800" y="1755648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Refaire un exercice type, sans le corrigé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57200" y="2322576"/>
            <a:ext cx="8229600" cy="475488"/>
          </a:xfrm>
          <a:prstGeom prst="roundRect">
            <a:avLst>
              <a:gd name="adj" fmla="val 19231"/>
            </a:avLst>
          </a:prstGeom>
          <a:solidFill>
            <a:srgbClr val="DEEAF6"/>
          </a:solidFill>
          <a:ln/>
        </p:spPr>
      </p:sp>
      <p:sp>
        <p:nvSpPr>
          <p:cNvPr id="11" name="Text 8"/>
          <p:cNvSpPr/>
          <p:nvPr/>
        </p:nvSpPr>
        <p:spPr>
          <a:xfrm>
            <a:off x="685800" y="2322576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Réciter le plan du chapitre feuille blanche, puis vérifier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457200" y="2889504"/>
            <a:ext cx="8229600" cy="475488"/>
          </a:xfrm>
          <a:prstGeom prst="roundRect">
            <a:avLst>
              <a:gd name="adj" fmla="val 19231"/>
            </a:avLst>
          </a:prstGeom>
          <a:solidFill>
            <a:srgbClr val="F2F2F2"/>
          </a:solidFill>
          <a:ln/>
        </p:spPr>
      </p:sp>
      <p:sp>
        <p:nvSpPr>
          <p:cNvPr id="13" name="Text 10"/>
          <p:cNvSpPr/>
          <p:nvPr/>
        </p:nvSpPr>
        <p:spPr>
          <a:xfrm>
            <a:off x="685800" y="2889504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Refaire de mémoire un schéma ou une carte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457200" y="3456432"/>
            <a:ext cx="8229600" cy="475488"/>
          </a:xfrm>
          <a:prstGeom prst="roundRect">
            <a:avLst>
              <a:gd name="adj" fmla="val 19231"/>
            </a:avLst>
          </a:prstGeom>
          <a:solidFill>
            <a:srgbClr val="DEEAF6"/>
          </a:solidFill>
          <a:ln/>
        </p:spPr>
      </p:sp>
      <p:sp>
        <p:nvSpPr>
          <p:cNvPr id="15" name="Text 12"/>
          <p:cNvSpPr/>
          <p:nvPr/>
        </p:nvSpPr>
        <p:spPr>
          <a:xfrm>
            <a:off x="685800" y="3456432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M’interroger avec ma fiche de récupération — cotation S / P / N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457200" y="406908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Interdit : </a:t>
            </a:r>
            <a:pPr algn="ctr" indent="0" marL="0">
              <a:buNone/>
            </a:pPr>
            <a:r>
              <a:rPr lang="en-US" sz="1800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relire », « revoir le cours ».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7635240" y="482803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B3 · écran 9 / 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test du plan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092440" y="292608"/>
            <a:ext cx="566928" cy="566928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29768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635240" y="896112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Individuel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457200" y="1325880"/>
            <a:ext cx="8229600" cy="1371600"/>
          </a:xfrm>
          <a:prstGeom prst="roundRect">
            <a:avLst>
              <a:gd name="adj" fmla="val 6667"/>
            </a:avLst>
          </a:prstGeom>
          <a:solidFill>
            <a:srgbClr val="DEEAF6"/>
          </a:solidFill>
          <a:ln/>
        </p:spPr>
      </p:sp>
      <p:sp>
        <p:nvSpPr>
          <p:cNvPr id="7" name="Text 4"/>
          <p:cNvSpPr/>
          <p:nvPr/>
        </p:nvSpPr>
        <p:spPr>
          <a:xfrm>
            <a:off x="822960" y="1325880"/>
            <a:ext cx="7498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Lundi 18 h, au rendez-vous : est-ce que je sais exactement quoi faire à la minute une ?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457200" y="2971800"/>
            <a:ext cx="3977640" cy="1234440"/>
          </a:xfrm>
          <a:prstGeom prst="roundRect">
            <a:avLst>
              <a:gd name="adj" fmla="val 7407"/>
            </a:avLst>
          </a:prstGeom>
          <a:solidFill>
            <a:srgbClr val="F2F2F2"/>
          </a:solidFill>
          <a:ln/>
        </p:spPr>
      </p:sp>
      <p:sp>
        <p:nvSpPr>
          <p:cNvPr id="9" name="Text 6"/>
          <p:cNvSpPr/>
          <p:nvPr/>
        </p:nvSpPr>
        <p:spPr>
          <a:xfrm>
            <a:off x="457200" y="2971800"/>
            <a:ext cx="3977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Oui</a:t>
            </a:r>
            <a:endParaRPr lang="en-US" sz="22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plan tient.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4709160" y="2971800"/>
            <a:ext cx="3977640" cy="1234440"/>
          </a:xfrm>
          <a:prstGeom prst="roundRect">
            <a:avLst>
              <a:gd name="adj" fmla="val 7407"/>
            </a:avLst>
          </a:prstGeom>
          <a:solidFill>
            <a:srgbClr val="F2F2F2"/>
          </a:solidFill>
          <a:ln/>
        </p:spPr>
      </p:sp>
      <p:sp>
        <p:nvSpPr>
          <p:cNvPr id="11" name="Text 8"/>
          <p:cNvSpPr/>
          <p:nvPr/>
        </p:nvSpPr>
        <p:spPr>
          <a:xfrm>
            <a:off x="4846320" y="2971800"/>
            <a:ext cx="3703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</a:t>
            </a:r>
            <a:endParaRPr lang="en-US" sz="22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précise maintenant, pas ce soir.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7635240" y="482803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B3 · écran 10 / 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Contrôle croisé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092440" y="292608"/>
            <a:ext cx="566928" cy="566928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29768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635240" y="896112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Binôme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457200" y="1097280"/>
            <a:ext cx="5257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Échangez vos gabarits et vos agendas.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457200" y="1572768"/>
            <a:ext cx="5257800" cy="621792"/>
          </a:xfrm>
          <a:prstGeom prst="roundRect">
            <a:avLst>
              <a:gd name="adj" fmla="val 14706"/>
            </a:avLst>
          </a:prstGeom>
          <a:solidFill>
            <a:srgbClr val="DEEAF6"/>
          </a:solidFill>
          <a:ln/>
        </p:spPr>
      </p:sp>
      <p:sp>
        <p:nvSpPr>
          <p:cNvPr id="8" name="Shape 5"/>
          <p:cNvSpPr/>
          <p:nvPr/>
        </p:nvSpPr>
        <p:spPr>
          <a:xfrm>
            <a:off x="621792" y="1700784"/>
            <a:ext cx="365760" cy="36576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9" name="Text 6"/>
          <p:cNvSpPr/>
          <p:nvPr/>
        </p:nvSpPr>
        <p:spPr>
          <a:xfrm>
            <a:off x="621792" y="17007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097280" y="1572768"/>
            <a:ext cx="4526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trois rendez-vous sont-ils datés, avec une heure, dans l’agenda ?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457200" y="2286000"/>
            <a:ext cx="5257800" cy="621792"/>
          </a:xfrm>
          <a:prstGeom prst="roundRect">
            <a:avLst>
              <a:gd name="adj" fmla="val 14706"/>
            </a:avLst>
          </a:prstGeom>
          <a:solidFill>
            <a:srgbClr val="F2F2F2"/>
          </a:solidFill>
          <a:ln/>
        </p:spPr>
      </p:sp>
      <p:sp>
        <p:nvSpPr>
          <p:cNvPr id="12" name="Shape 9"/>
          <p:cNvSpPr/>
          <p:nvPr/>
        </p:nvSpPr>
        <p:spPr>
          <a:xfrm>
            <a:off x="621792" y="2414016"/>
            <a:ext cx="365760" cy="36576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13" name="Text 10"/>
          <p:cNvSpPr/>
          <p:nvPr/>
        </p:nvSpPr>
        <p:spPr>
          <a:xfrm>
            <a:off x="621792" y="24140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1097280" y="2286000"/>
            <a:ext cx="4526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contenu est-il assez précis pour démarrer sans réfléchir ?</a:t>
            </a:r>
            <a:endParaRPr lang="en-US" sz="1450" dirty="0"/>
          </a:p>
        </p:txBody>
      </p:sp>
      <p:sp>
        <p:nvSpPr>
          <p:cNvPr id="15" name="Shape 12"/>
          <p:cNvSpPr/>
          <p:nvPr/>
        </p:nvSpPr>
        <p:spPr>
          <a:xfrm>
            <a:off x="457200" y="2999232"/>
            <a:ext cx="5257800" cy="621792"/>
          </a:xfrm>
          <a:prstGeom prst="roundRect">
            <a:avLst>
              <a:gd name="adj" fmla="val 14706"/>
            </a:avLst>
          </a:prstGeom>
          <a:solidFill>
            <a:srgbClr val="DEEAF6"/>
          </a:solidFill>
          <a:ln/>
        </p:spPr>
      </p:sp>
      <p:sp>
        <p:nvSpPr>
          <p:cNvPr id="16" name="Shape 13"/>
          <p:cNvSpPr/>
          <p:nvPr/>
        </p:nvSpPr>
        <p:spPr>
          <a:xfrm>
            <a:off x="621792" y="3127248"/>
            <a:ext cx="365760" cy="36576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17" name="Text 14"/>
          <p:cNvSpPr/>
          <p:nvPr/>
        </p:nvSpPr>
        <p:spPr>
          <a:xfrm>
            <a:off x="621792" y="31272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1097280" y="2999232"/>
            <a:ext cx="4526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plan est-il tenable dans une vraie semaine de première ?</a:t>
            </a:r>
            <a:endParaRPr lang="en-US" sz="1450" dirty="0"/>
          </a:p>
        </p:txBody>
      </p:sp>
      <p:sp>
        <p:nvSpPr>
          <p:cNvPr id="19" name="Text 16"/>
          <p:cNvSpPr/>
          <p:nvPr/>
        </p:nvSpPr>
        <p:spPr>
          <a:xfrm>
            <a:off x="457200" y="3794760"/>
            <a:ext cx="5257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réponse « non » : on corrige, puis on signe.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6035040" y="1691640"/>
            <a:ext cx="2651760" cy="1417320"/>
          </a:xfrm>
          <a:prstGeom prst="roundRect">
            <a:avLst>
              <a:gd name="adj" fmla="val 7742"/>
            </a:avLst>
          </a:prstGeom>
          <a:solidFill>
            <a:srgbClr val="F2F2F2"/>
          </a:solidFill>
          <a:ln/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6208" y="2226564"/>
            <a:ext cx="347472" cy="347472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6601968" y="1764792"/>
            <a:ext cx="1993392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10:00</a:t>
            </a:r>
            <a:endParaRPr lang="en-US" sz="4000" dirty="0"/>
          </a:p>
        </p:txBody>
      </p:sp>
      <p:sp>
        <p:nvSpPr>
          <p:cNvPr id="23" name="Text 19"/>
          <p:cNvSpPr/>
          <p:nvPr/>
        </p:nvSpPr>
        <p:spPr>
          <a:xfrm>
            <a:off x="6035040" y="277977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 projeté</a:t>
            </a:r>
            <a:endParaRPr lang="en-US" sz="1050" dirty="0"/>
          </a:p>
        </p:txBody>
      </p:sp>
      <p:sp>
        <p:nvSpPr>
          <p:cNvPr id="24" name="Text 20"/>
          <p:cNvSpPr/>
          <p:nvPr/>
        </p:nvSpPr>
        <p:spPr>
          <a:xfrm>
            <a:off x="7635240" y="482803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B3 · écran 11 / 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je garde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E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Carnet de méthodes · page « Consolidation »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22960" y="1097280"/>
            <a:ext cx="2011680" cy="566928"/>
          </a:xfrm>
          <a:prstGeom prst="roundRect">
            <a:avLst>
              <a:gd name="adj" fmla="val 48387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09728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J+1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566160" y="1097280"/>
            <a:ext cx="2011680" cy="566928"/>
          </a:xfrm>
          <a:prstGeom prst="roundRect">
            <a:avLst>
              <a:gd name="adj" fmla="val 48387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3566160" y="109728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J+7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309360" y="1097280"/>
            <a:ext cx="2011680" cy="566928"/>
          </a:xfrm>
          <a:prstGeom prst="roundRect">
            <a:avLst>
              <a:gd name="adj" fmla="val 48387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6309360" y="109728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J+30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880360" y="1097280"/>
            <a:ext cx="640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DE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623560" y="1097280"/>
            <a:ext cx="640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DE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822960" y="1828800"/>
            <a:ext cx="7498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DE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Réactiver = m’interroger. Jamais relire.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DE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rendez-vous existe quand il est dans mon agenda : date, heure, contenu.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22960" y="2697480"/>
            <a:ext cx="7498080" cy="1691640"/>
          </a:xfrm>
          <a:prstGeom prst="roundRect">
            <a:avLst>
              <a:gd name="adj" fmla="val 5405"/>
            </a:avLst>
          </a:prstGeom>
          <a:solidFill>
            <a:srgbClr val="2E5395"/>
          </a:solidFill>
          <a:ln/>
        </p:spPr>
      </p:sp>
      <p:sp>
        <p:nvSpPr>
          <p:cNvPr id="14" name="Text 12"/>
          <p:cNvSpPr/>
          <p:nvPr/>
        </p:nvSpPr>
        <p:spPr>
          <a:xfrm>
            <a:off x="1051560" y="2834640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 ENGAGEMENT 7 JOURS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51560" y="3200400"/>
            <a:ext cx="7040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J’exécute la réactivation J+1, puis la réactivation J+7.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coche la grille dans mon carnet à chaque rendez-vous tenu.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51560" y="3950208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E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 à la prochaine vie de classe — et point sur la réactivation J+30 dans un mois.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635240" y="482803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E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B3 · écran 12 / 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B3 · Réactiver dans le temps — 1re</dc:title>
  <dc:subject>PptxGenJS Presentation</dc:subject>
  <dc:creator>Institut Stanislas de Cannes</dc:creator>
  <cp:lastModifiedBy>Institut Stanislas de Cannes</cp:lastModifiedBy>
  <cp:revision>1</cp:revision>
  <dcterms:created xsi:type="dcterms:W3CDTF">2026-07-18T07:34:45Z</dcterms:created>
  <dcterms:modified xsi:type="dcterms:W3CDTF">2026-07-18T07:34:45Z</dcterms:modified>
</cp:coreProperties>
</file>