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(0-5 min) - accroche.
Lancement : « Aujourd'hui, pas de morale sur les telephones. On va faire une experience, avec des chiffres, et vous jugerez vous-memes. »
Annoncer le pilier : l'attention est le premier des quatre piliers de l'apprentissage ; ils reviendront a chaque seance.
Vigilance : ne pas devoiler l'objet de l'experience (le cout des interruptions).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(0-5 min), classe entiere.
Compter rapidement a voix haute (« environ deux tiers de la classe ») sans commenter les resultats.
Cloture : « Retenez ces chiffres. On y reviendra dans 20 minutes, quand vous aurez vos propres resultats sous les yeux. »
Vigilance : aucune morale, aucun jugement a ce stade.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(5-20 min) - experience A/B, tache 1.
Distribuer la feuille d'experience et le texte A ; garder les textes B de cote.
Lancement : « Vous allez recopier ce texte sur votre feuille, partie Tache 1, le plus vite possible mais lisiblement et sans erreur. Vous vous arretez immediatement au signal. Silence complet. C'est parti pour 5 minutes. »
Chrono : 5 minutes exactes. Ne pas intervenir. Au signal : « Stylos poses.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(5-20 min) - chrono de la tache 1.
5 minutes exactes, chrono projete. Aucune intervention, aucune aide, aucun commentaire.
Profiter de ces 5 minutes pour verifier le minutage des trois interruptions de la tache 2 : 1 min 00, 2 min 30, 3 min 45.
Au signal : « Stylos poses. » puis distribuer le texte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(5-20 min) - tache 2, avec interruptions.
Lancement : « Meme exercice, nouveau texte, partie Tache 2 de votre feuille. Une seule difference : vous la decouvrirez en cours de route. Memes regles : vite, lisible, sans erreur. 5 minutes, c'est parti. »
Protocole a lire mot a mot, voix neutre, 15 secondes maximum chacune :
- a 1 min 00 : « Stop, stylos poses. Levez la main si vous avez recu au moins un message hier soir pendant vos devoirs. Regardez autour de vous. ... Reprenez la copie. »
- a 2 min 30 : « Stop, stylos poses. Dans le cadre Interruptions de votre feuille, ecrivez le resultat de 7 x 8. ... Reprenez la copie. »
- a 3 min 45 : « Stop, stylos poses. Dans le cadre Interruptions, ecrivez le prenom de votre voisin ou voisine de droite. ... Reprenez la copie. »
Ne rien improviser, ne rien ajouter.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(5-20 min) - comptage et releve, 3 minutes.
Les textes sont imprimes par lignes de 10 mots avec compteur en marge : le comptage prend quelques secondes.
Releve a main levee : « Qui a copie moins de mots en tache 2 ? » (attendu : la quasi-totalite).
Noter au tableau 5 ou 6 ecarts annonces par des volontaires, puis une moyenne approximative de la classe. Ces chiffres serviront a toute la phase de nommage.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(20-27 min) - nommage, idee 1 sur 3.
Sept minutes maximum pour les trois ecrans de nommage : c'est le seul expose de la seance.
Verbatim : « Votre cerveau ne peut traiter qu'une seule tache exigeante a la fois. Quand vous croyez faire deux choses en meme temps, il alterne. Et l'alternance se paie : ce sont vos chiffres au tableau. »
Vigilance : appuyer chaque idee sur les chiffres releves, jamais sur l'autorite.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(20-27 min) - nommage, idee 2 sur 3.
Verbatim : « Les trois interruptions ont dure 45 secondes en tout, de quoi copier 8 a 10 mots. Or vous avez perdu bien plus. La difference, c'est le cout de reprise : apres chaque interruption, il faut retrouver ou on en etait et se remettre a niveau. Une notification de 10 secondes coute bien plus que 10 secondes. »
Statut scientifique : effet etabli (Monsell, 2003).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(20-27 min) - nommage, idee 3 sur 3.
Verbatim : « Des chercheurs ont montre qu'un telephone simplement pose sur la table, ecran eteint, degrade deja la performance a des taches de concentration, par rapport a un telephone laisse dans une autre piece. Une partie de votre attention surveille le telephone, meme quand vous ne le touchez pas. »
Statut : effet etabli, l'ampleur varie selon les taches.
Si le temps manque, c'est cet ecran que l'on coupe (plan B) : il est repris a la meteo du transfert.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(27-40 min) - audit personnel, 13 minutes, individuel.
Lancement : « Maintenant, chacun travaille sur sa propre soiree. Prenez la fiche Ma soiree de travail : reconstituez votre soiree d'hier, ou votre derniere soiree de devoirs, heure par heure. Terminez en designant vos deux principaux voleurs d'attention. Soyez honnetes : cette fiche ne sera pas ramassee. »
Circuler et aider a concretiser (« des interruptions, c'est-a-dire ? combien, a peu pres ? »).
Accepter les voleurs non numeriques : television, fratrie, bruit, faim.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(40-50 min) - redaction du protocole, 6 minutes, individuel.
Lancement : « Vous allez ecrire votre protocole : 3 regles maximum, pas 10. Chaque regle commence par Quand je travaille, alors... et doit viser vos voleurs d'attention a vous. »
Exemples de regles tenables : telephone dans une autre piece ; notifications coupees jusqu'a la fin des devoirs ; telephone utilise pour l'ENT puis repose hors de vue.
Refuser les regles heroiques (« je supprime tous mes reseaux ») et les regles floues.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(40-50 min) - controle en binome, 4 minutes.
Chacun lit les regles de l'autre et pose les deux questions affichees.
Apres ajustement, double signature : l'auteur et le temoin.
Arbitrer les cas litigieux : une regle non verifiable doit etre reformulee avant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6 (50-55 min) - trace ecrite et engagement, 5 minutes. Incompressible.
Lancement : « Recopiez votre protocole signe dans le carnet de methodes, page du pilier Attention, avec la grille des 7 jours. L'engagement : appliquer vos regles chaque soir de travail pendant 7 jours, et cocher chaque soir. »
Meteo du transfert a la prochaine vie de classe (3 a 5 min) : (1) main levee « qui a tenu au moins 5 jours sur 7 ? » sans stigmatisation ; (2) deux temoignages volontaires, un obstacle et une astuce ; (3) reformulation de l'engagement pour la semaine suivante, les eleves cochent dans le carnet.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640080" y="777240"/>
            <a:ext cx="7863840" cy="365760"/>
          </a:xfrm>
          <a:prstGeom prst="rect">
            <a:avLst/>
          </a:prstGeom>
          <a:noFill/>
          <a:ln/>
        </p:spPr>
        <p:txBody>
          <a:bodyPr wrap="square" lIns="0" tIns="0" rIns="0" bIns="0" rtlCol="0" anchor="ctr"/>
          <a:lstStyle/>
          <a:p>
            <a:pPr algn="ctr" indent="0" marL="0">
              <a:buNone/>
            </a:pPr>
            <a:r>
              <a:rPr lang="en-US" sz="1500" spc="200" kern="0" dirty="0">
                <a:solidFill>
                  <a:srgbClr val="DEEAF6"/>
                </a:solidFill>
                <a:latin typeface="Calibri" pitchFamily="34" charset="0"/>
                <a:ea typeface="Calibri" pitchFamily="34" charset="-122"/>
                <a:cs typeface="Calibri" pitchFamily="34" charset="-120"/>
              </a:rPr>
              <a:t>Séance A1 · Classe de 3e</a:t>
            </a:r>
            <a:endParaRPr lang="en-US" sz="1500" dirty="0"/>
          </a:p>
        </p:txBody>
      </p:sp>
      <p:sp>
        <p:nvSpPr>
          <p:cNvPr id="3" name="Text 1"/>
          <p:cNvSpPr/>
          <p:nvPr/>
        </p:nvSpPr>
        <p:spPr>
          <a:xfrm>
            <a:off x="640080" y="1188720"/>
            <a:ext cx="786384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Mon attention et mes écrans</a:t>
            </a:r>
            <a:endParaRPr lang="en-US" sz="4400" dirty="0"/>
          </a:p>
        </p:txBody>
      </p:sp>
      <p:sp>
        <p:nvSpPr>
          <p:cNvPr id="4" name="Text 2"/>
          <p:cNvSpPr/>
          <p:nvPr/>
        </p:nvSpPr>
        <p:spPr>
          <a:xfrm>
            <a:off x="640080" y="2011680"/>
            <a:ext cx="7863840" cy="502920"/>
          </a:xfrm>
          <a:prstGeom prst="rect">
            <a:avLst/>
          </a:prstGeom>
          <a:noFill/>
          <a:ln/>
        </p:spPr>
        <p:txBody>
          <a:bodyPr wrap="square" lIns="0" tIns="0" rIns="0" bIns="0" rtlCol="0" anchor="ctr"/>
          <a:lstStyle/>
          <a:p>
            <a:pPr algn="ctr" indent="0" marL="0">
              <a:buNone/>
            </a:pPr>
            <a:r>
              <a:rPr lang="en-US" sz="2200" i="1" dirty="0">
                <a:solidFill>
                  <a:srgbClr val="DEEAF6"/>
                </a:solidFill>
                <a:latin typeface="Calibri" pitchFamily="34" charset="0"/>
                <a:ea typeface="Calibri" pitchFamily="34" charset="-122"/>
                <a:cs typeface="Calibri" pitchFamily="34" charset="-120"/>
              </a:rPr>
              <a:t>Ce que coûte vraiment une interruption</a:t>
            </a:r>
            <a:endParaRPr lang="en-US" sz="2200" dirty="0"/>
          </a:p>
        </p:txBody>
      </p:sp>
      <p:sp>
        <p:nvSpPr>
          <p:cNvPr id="5" name="Shape 3"/>
          <p:cNvSpPr/>
          <p:nvPr/>
        </p:nvSpPr>
        <p:spPr>
          <a:xfrm>
            <a:off x="1417320" y="2880360"/>
            <a:ext cx="6309360" cy="1051560"/>
          </a:xfrm>
          <a:prstGeom prst="roundRect">
            <a:avLst>
              <a:gd name="adj" fmla="val 8696"/>
            </a:avLst>
          </a:prstGeom>
          <a:solidFill>
            <a:srgbClr val="2E5395"/>
          </a:solidFill>
          <a:ln/>
        </p:spPr>
      </p:sp>
      <p:sp>
        <p:nvSpPr>
          <p:cNvPr id="6" name="Text 4"/>
          <p:cNvSpPr/>
          <p:nvPr/>
        </p:nvSpPr>
        <p:spPr>
          <a:xfrm>
            <a:off x="1600200" y="2971800"/>
            <a:ext cx="5943600" cy="868680"/>
          </a:xfrm>
          <a:prstGeom prst="rect">
            <a:avLst/>
          </a:prstGeom>
          <a:noFill/>
          <a:ln/>
        </p:spPr>
        <p:txBody>
          <a:bodyPr wrap="square" lIns="0" tIns="0" rIns="0" bIns="0" rtlCol="0" anchor="ctr"/>
          <a:lstStyle/>
          <a:p>
            <a:pPr algn="ctr" indent="0" marL="0">
              <a:spcAft>
                <a:spcPts val="400"/>
              </a:spcAft>
              <a:buNone/>
            </a:pPr>
            <a:r>
              <a:rPr lang="en-US" sz="1400" b="1" spc="150" kern="0" dirty="0">
                <a:solidFill>
                  <a:srgbClr val="FFFFFF"/>
                </a:solidFill>
                <a:latin typeface="Calibri" pitchFamily="34" charset="0"/>
                <a:ea typeface="Calibri" pitchFamily="34" charset="-122"/>
                <a:cs typeface="Calibri" pitchFamily="34" charset="-120"/>
              </a:rPr>
              <a:t>PILIER 1 · ATTENTION</a:t>
            </a:r>
            <a:endParaRPr lang="en-US" sz="1400" dirty="0"/>
          </a:p>
          <a:p>
            <a:pPr algn="ctr" indent="0" marL="0">
              <a:spcAft>
                <a:spcPts val="400"/>
              </a:spcAft>
              <a:buNone/>
            </a:pPr>
            <a:r>
              <a:rPr lang="en-US" sz="1800" i="1" dirty="0">
                <a:solidFill>
                  <a:srgbClr val="FFFFFF"/>
                </a:solidFill>
                <a:latin typeface="Calibri" pitchFamily="34" charset="0"/>
                <a:ea typeface="Calibri" pitchFamily="34" charset="-122"/>
                <a:cs typeface="Calibri" pitchFamily="34" charset="-120"/>
              </a:rPr>
              <a:t>« Mon cerveau n’apprend que ce qu’il regarde vraiment »</a:t>
            </a:r>
            <a:endParaRPr lang="en-US" sz="1400" dirty="0"/>
          </a:p>
        </p:txBody>
      </p:sp>
      <p:sp>
        <p:nvSpPr>
          <p:cNvPr id="7" name="Text 5"/>
          <p:cNvSpPr/>
          <p:nvPr/>
        </p:nvSpPr>
        <p:spPr>
          <a:xfrm>
            <a:off x="640080" y="4526280"/>
            <a:ext cx="7863840" cy="320040"/>
          </a:xfrm>
          <a:prstGeom prst="rect">
            <a:avLst/>
          </a:prstGeom>
          <a:noFill/>
          <a:ln/>
        </p:spPr>
        <p:txBody>
          <a:bodyPr wrap="square" lIns="0" tIns="0" rIns="0" bIns="0" rtlCol="0" anchor="ctr"/>
          <a:lstStyle/>
          <a:p>
            <a:pPr algn="ctr" indent="0" marL="0">
              <a:buNone/>
            </a:pPr>
            <a:r>
              <a:rPr lang="en-US" sz="1100" dirty="0">
                <a:solidFill>
                  <a:srgbClr val="DEEAF6"/>
                </a:solidFill>
                <a:latin typeface="Calibri" pitchFamily="34" charset="0"/>
                <a:ea typeface="Calibri" pitchFamily="34" charset="-122"/>
                <a:cs typeface="Calibri" pitchFamily="34" charset="-120"/>
              </a:rPr>
              <a:t>Dispositif « Apprendre à apprendre » · Institut Stanislas de Cannes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Trois questions, à main levée</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2 / 13</a:t>
            </a:r>
            <a:endParaRPr lang="en-US" sz="900" dirty="0"/>
          </a:p>
        </p:txBody>
      </p:sp>
      <p:sp>
        <p:nvSpPr>
          <p:cNvPr id="7" name="Shape 4"/>
          <p:cNvSpPr/>
          <p:nvPr/>
        </p:nvSpPr>
        <p:spPr>
          <a:xfrm>
            <a:off x="457200" y="1325880"/>
            <a:ext cx="6949440" cy="731520"/>
          </a:xfrm>
          <a:prstGeom prst="roundRect">
            <a:avLst>
              <a:gd name="adj" fmla="val 12500"/>
            </a:avLst>
          </a:prstGeom>
          <a:solidFill>
            <a:srgbClr val="F2F2F2"/>
          </a:solidFill>
          <a:ln/>
        </p:spPr>
      </p:sp>
      <p:sp>
        <p:nvSpPr>
          <p:cNvPr id="8" name="Shape 5"/>
          <p:cNvSpPr/>
          <p:nvPr/>
        </p:nvSpPr>
        <p:spPr>
          <a:xfrm>
            <a:off x="658368" y="1517904"/>
            <a:ext cx="347472" cy="347472"/>
          </a:xfrm>
          <a:prstGeom prst="ellipse">
            <a:avLst/>
          </a:prstGeom>
          <a:solidFill>
            <a:srgbClr val="1F3864"/>
          </a:solidFill>
          <a:ln/>
        </p:spPr>
      </p:sp>
      <p:sp>
        <p:nvSpPr>
          <p:cNvPr id="9" name="Text 6"/>
          <p:cNvSpPr/>
          <p:nvPr/>
        </p:nvSpPr>
        <p:spPr>
          <a:xfrm>
            <a:off x="658368" y="1517904"/>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10" name="Text 7"/>
          <p:cNvSpPr/>
          <p:nvPr/>
        </p:nvSpPr>
        <p:spPr>
          <a:xfrm>
            <a:off x="1143000" y="1380744"/>
            <a:ext cx="6053328" cy="621792"/>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Mon téléphone est à portée de main pendant mes devoirs.</a:t>
            </a:r>
            <a:endParaRPr lang="en-US" sz="1600" dirty="0"/>
          </a:p>
        </p:txBody>
      </p:sp>
      <p:sp>
        <p:nvSpPr>
          <p:cNvPr id="11" name="Shape 8"/>
          <p:cNvSpPr/>
          <p:nvPr/>
        </p:nvSpPr>
        <p:spPr>
          <a:xfrm>
            <a:off x="457200" y="2194560"/>
            <a:ext cx="6949440" cy="731520"/>
          </a:xfrm>
          <a:prstGeom prst="roundRect">
            <a:avLst>
              <a:gd name="adj" fmla="val 12500"/>
            </a:avLst>
          </a:prstGeom>
          <a:solidFill>
            <a:srgbClr val="DEEAF6"/>
          </a:solidFill>
          <a:ln/>
        </p:spPr>
      </p:sp>
      <p:sp>
        <p:nvSpPr>
          <p:cNvPr id="12" name="Shape 9"/>
          <p:cNvSpPr/>
          <p:nvPr/>
        </p:nvSpPr>
        <p:spPr>
          <a:xfrm>
            <a:off x="658368" y="2386584"/>
            <a:ext cx="347472" cy="347472"/>
          </a:xfrm>
          <a:prstGeom prst="ellipse">
            <a:avLst/>
          </a:prstGeom>
          <a:solidFill>
            <a:srgbClr val="1F3864"/>
          </a:solidFill>
          <a:ln/>
        </p:spPr>
      </p:sp>
      <p:sp>
        <p:nvSpPr>
          <p:cNvPr id="13" name="Text 10"/>
          <p:cNvSpPr/>
          <p:nvPr/>
        </p:nvSpPr>
        <p:spPr>
          <a:xfrm>
            <a:off x="658368" y="2386584"/>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1"/>
          <p:cNvSpPr/>
          <p:nvPr/>
        </p:nvSpPr>
        <p:spPr>
          <a:xfrm>
            <a:off x="1143000" y="2249424"/>
            <a:ext cx="6053328" cy="621792"/>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Mes notifications sont activées quand je travaille.</a:t>
            </a:r>
            <a:endParaRPr lang="en-US" sz="1600" dirty="0"/>
          </a:p>
        </p:txBody>
      </p:sp>
      <p:sp>
        <p:nvSpPr>
          <p:cNvPr id="15" name="Shape 12"/>
          <p:cNvSpPr/>
          <p:nvPr/>
        </p:nvSpPr>
        <p:spPr>
          <a:xfrm>
            <a:off x="457200" y="3063240"/>
            <a:ext cx="6949440" cy="731520"/>
          </a:xfrm>
          <a:prstGeom prst="roundRect">
            <a:avLst>
              <a:gd name="adj" fmla="val 12500"/>
            </a:avLst>
          </a:prstGeom>
          <a:solidFill>
            <a:srgbClr val="F2F2F2"/>
          </a:solidFill>
          <a:ln/>
        </p:spPr>
      </p:sp>
      <p:sp>
        <p:nvSpPr>
          <p:cNvPr id="16" name="Shape 13"/>
          <p:cNvSpPr/>
          <p:nvPr/>
        </p:nvSpPr>
        <p:spPr>
          <a:xfrm>
            <a:off x="658368" y="3255264"/>
            <a:ext cx="347472" cy="347472"/>
          </a:xfrm>
          <a:prstGeom prst="ellipse">
            <a:avLst/>
          </a:prstGeom>
          <a:solidFill>
            <a:srgbClr val="1F3864"/>
          </a:solidFill>
          <a:ln/>
        </p:spPr>
      </p:sp>
      <p:sp>
        <p:nvSpPr>
          <p:cNvPr id="17" name="Text 14"/>
          <p:cNvSpPr/>
          <p:nvPr/>
        </p:nvSpPr>
        <p:spPr>
          <a:xfrm>
            <a:off x="658368" y="3255264"/>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8" name="Text 15"/>
          <p:cNvSpPr/>
          <p:nvPr/>
        </p:nvSpPr>
        <p:spPr>
          <a:xfrm>
            <a:off x="1143000" y="3118104"/>
            <a:ext cx="6053328" cy="621792"/>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Il m’arrive de répondre à des messages en travaillant.</a:t>
            </a:r>
            <a:endParaRPr lang="en-US" sz="1600" dirty="0"/>
          </a:p>
        </p:txBody>
      </p:sp>
      <p:sp>
        <p:nvSpPr>
          <p:cNvPr id="19" name="Text 16"/>
          <p:cNvSpPr/>
          <p:nvPr/>
        </p:nvSpPr>
        <p:spPr>
          <a:xfrm>
            <a:off x="457200" y="4069080"/>
            <a:ext cx="6949440" cy="32004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Personne n’est jugé. Retenez ces chiffres : on y reviendra dans 20 minutes, avec les vôtres.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Tâche 1 · Recopier le texte A</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3 / 13</a:t>
            </a:r>
            <a:endParaRPr lang="en-US" sz="900" dirty="0"/>
          </a:p>
        </p:txBody>
      </p:sp>
      <p:sp>
        <p:nvSpPr>
          <p:cNvPr id="7" name="Shape 4"/>
          <p:cNvSpPr/>
          <p:nvPr/>
        </p:nvSpPr>
        <p:spPr>
          <a:xfrm>
            <a:off x="457200" y="1371600"/>
            <a:ext cx="5212080" cy="2240280"/>
          </a:xfrm>
          <a:prstGeom prst="roundRect">
            <a:avLst>
              <a:gd name="adj" fmla="val 4082"/>
            </a:avLst>
          </a:prstGeom>
          <a:solidFill>
            <a:srgbClr val="F2F2F2"/>
          </a:solidFill>
          <a:ln/>
        </p:spPr>
      </p:sp>
      <p:sp>
        <p:nvSpPr>
          <p:cNvPr id="8" name="Text 5"/>
          <p:cNvSpPr/>
          <p:nvPr/>
        </p:nvSpPr>
        <p:spPr>
          <a:xfrm>
            <a:off x="777240" y="1554480"/>
            <a:ext cx="4617720" cy="187452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Recopiez le texte A, partie « Tâche 1 ».</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Vite, mais lisiblement et sans erreur.</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Silence complet, aucune question.</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Arrêt immédiat au signal, stylos posés.</a:t>
            </a:r>
            <a:endParaRPr lang="en-US" sz="1600" dirty="0"/>
          </a:p>
        </p:txBody>
      </p:sp>
      <p:sp>
        <p:nvSpPr>
          <p:cNvPr id="9" name="Shape 6"/>
          <p:cNvSpPr/>
          <p:nvPr/>
        </p:nvSpPr>
        <p:spPr>
          <a:xfrm>
            <a:off x="6035040" y="1783080"/>
            <a:ext cx="2651760" cy="1417320"/>
          </a:xfrm>
          <a:prstGeom prst="roundRect">
            <a:avLst>
              <a:gd name="adj" fmla="val 7742"/>
            </a:avLst>
          </a:prstGeom>
          <a:solidFill>
            <a:srgbClr val="F2F2F2"/>
          </a:solidFill>
          <a:ln/>
        </p:spPr>
      </p:sp>
      <p:pic>
        <p:nvPicPr>
          <p:cNvPr id="10" name="Image 1" descr="preencoded.png">    </p:cNvPr>
          <p:cNvPicPr>
            <a:picLocks noChangeAspect="1"/>
          </p:cNvPicPr>
          <p:nvPr/>
        </p:nvPicPr>
        <p:blipFill>
          <a:blip r:embed="rId2"/>
          <a:stretch>
            <a:fillRect/>
          </a:stretch>
        </p:blipFill>
        <p:spPr>
          <a:xfrm>
            <a:off x="6236208" y="2318004"/>
            <a:ext cx="347472" cy="347472"/>
          </a:xfrm>
          <a:prstGeom prst="rect">
            <a:avLst/>
          </a:prstGeom>
        </p:spPr>
      </p:pic>
      <p:sp>
        <p:nvSpPr>
          <p:cNvPr id="11" name="Text 7"/>
          <p:cNvSpPr/>
          <p:nvPr/>
        </p:nvSpPr>
        <p:spPr>
          <a:xfrm>
            <a:off x="6601968" y="1856232"/>
            <a:ext cx="199339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5:00</a:t>
            </a:r>
            <a:endParaRPr lang="en-US" sz="4000" dirty="0"/>
          </a:p>
        </p:txBody>
      </p:sp>
      <p:sp>
        <p:nvSpPr>
          <p:cNvPr id="12" name="Text 8"/>
          <p:cNvSpPr/>
          <p:nvPr/>
        </p:nvSpPr>
        <p:spPr>
          <a:xfrm>
            <a:off x="6035040" y="2871216"/>
            <a:ext cx="265176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Tâche 1 en cours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4 / 13</a:t>
            </a:r>
            <a:endParaRPr lang="en-US" sz="900" dirty="0"/>
          </a:p>
        </p:txBody>
      </p:sp>
      <p:sp>
        <p:nvSpPr>
          <p:cNvPr id="7" name="Shape 4"/>
          <p:cNvSpPr/>
          <p:nvPr/>
        </p:nvSpPr>
        <p:spPr>
          <a:xfrm>
            <a:off x="2697480" y="1691640"/>
            <a:ext cx="3749040" cy="1965960"/>
          </a:xfrm>
          <a:prstGeom prst="roundRect">
            <a:avLst>
              <a:gd name="adj" fmla="val 5581"/>
            </a:avLst>
          </a:prstGeom>
          <a:solidFill>
            <a:srgbClr val="F2F2F2"/>
          </a:solidFill>
          <a:ln/>
        </p:spPr>
      </p:sp>
      <p:pic>
        <p:nvPicPr>
          <p:cNvPr id="8" name="Image 1" descr="preencoded.png">    </p:cNvPr>
          <p:cNvPicPr>
            <a:picLocks noChangeAspect="1"/>
          </p:cNvPicPr>
          <p:nvPr/>
        </p:nvPicPr>
        <p:blipFill>
          <a:blip r:embed="rId2"/>
          <a:stretch>
            <a:fillRect/>
          </a:stretch>
        </p:blipFill>
        <p:spPr>
          <a:xfrm>
            <a:off x="2898648" y="2500884"/>
            <a:ext cx="347472" cy="347472"/>
          </a:xfrm>
          <a:prstGeom prst="rect">
            <a:avLst/>
          </a:prstGeom>
        </p:spPr>
      </p:pic>
      <p:sp>
        <p:nvSpPr>
          <p:cNvPr id="9" name="Text 5"/>
          <p:cNvSpPr/>
          <p:nvPr/>
        </p:nvSpPr>
        <p:spPr>
          <a:xfrm>
            <a:off x="3264408" y="1764792"/>
            <a:ext cx="3090672" cy="1581912"/>
          </a:xfrm>
          <a:prstGeom prst="rect">
            <a:avLst/>
          </a:prstGeom>
          <a:noFill/>
          <a:ln/>
        </p:spPr>
        <p:txBody>
          <a:bodyPr wrap="square" lIns="0" tIns="0" rIns="0" bIns="0" rtlCol="0" anchor="ctr"/>
          <a:lstStyle/>
          <a:p>
            <a:pPr algn="ctr" indent="0" marL="0">
              <a:buNone/>
            </a:pPr>
            <a:r>
              <a:rPr lang="en-US" sz="5400" b="1" dirty="0">
                <a:solidFill>
                  <a:srgbClr val="1F3864"/>
                </a:solidFill>
                <a:latin typeface="Calibri" pitchFamily="34" charset="0"/>
                <a:ea typeface="Calibri" pitchFamily="34" charset="-122"/>
                <a:cs typeface="Calibri" pitchFamily="34" charset="-120"/>
              </a:rPr>
              <a:t>5:00</a:t>
            </a:r>
            <a:endParaRPr lang="en-US" sz="5400" dirty="0"/>
          </a:p>
        </p:txBody>
      </p:sp>
      <p:sp>
        <p:nvSpPr>
          <p:cNvPr id="10" name="Text 6"/>
          <p:cNvSpPr/>
          <p:nvPr/>
        </p:nvSpPr>
        <p:spPr>
          <a:xfrm>
            <a:off x="2697480" y="3328416"/>
            <a:ext cx="374904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1" name="Text 7"/>
          <p:cNvSpPr/>
          <p:nvPr/>
        </p:nvSpPr>
        <p:spPr>
          <a:xfrm>
            <a:off x="457200" y="3886200"/>
            <a:ext cx="8229600" cy="365760"/>
          </a:xfrm>
          <a:prstGeom prst="rect">
            <a:avLst/>
          </a:prstGeom>
          <a:noFill/>
          <a:ln/>
        </p:spPr>
        <p:txBody>
          <a:bodyPr wrap="square" lIns="0" tIns="0" rIns="0" bIns="0"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Vite, lisiblement, sans erreur.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Tâche 2 · Recopier le texte B</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5 / 13</a:t>
            </a:r>
            <a:endParaRPr lang="en-US" sz="900" dirty="0"/>
          </a:p>
        </p:txBody>
      </p:sp>
      <p:sp>
        <p:nvSpPr>
          <p:cNvPr id="7" name="Shape 4"/>
          <p:cNvSpPr/>
          <p:nvPr/>
        </p:nvSpPr>
        <p:spPr>
          <a:xfrm>
            <a:off x="457200" y="1371600"/>
            <a:ext cx="5212080" cy="2240280"/>
          </a:xfrm>
          <a:prstGeom prst="roundRect">
            <a:avLst>
              <a:gd name="adj" fmla="val 4082"/>
            </a:avLst>
          </a:prstGeom>
          <a:solidFill>
            <a:srgbClr val="F2F2F2"/>
          </a:solidFill>
          <a:ln/>
        </p:spPr>
      </p:sp>
      <p:sp>
        <p:nvSpPr>
          <p:cNvPr id="8" name="Text 5"/>
          <p:cNvSpPr/>
          <p:nvPr/>
        </p:nvSpPr>
        <p:spPr>
          <a:xfrm>
            <a:off x="777240" y="1554480"/>
            <a:ext cx="4617720" cy="187452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Même exercice, nouveau texte, partie « Tâche 2 ».</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Mêmes règles : vite, lisible, sans erreur.</a:t>
            </a:r>
            <a:endParaRPr lang="en-US" sz="1600" dirty="0"/>
          </a:p>
          <a:p>
            <a:pPr marL="342900" indent="-342900">
              <a:spcAft>
                <a:spcPts val="1000"/>
              </a:spcAft>
              <a:buSzPct val="100000"/>
              <a:buChar char="•"/>
            </a:pPr>
            <a:r>
              <a:rPr lang="en-US" sz="1600" dirty="0">
                <a:solidFill>
                  <a:srgbClr val="2B2B2B"/>
                </a:solidFill>
                <a:latin typeface="Calibri" pitchFamily="34" charset="0"/>
                <a:ea typeface="Calibri" pitchFamily="34" charset="-122"/>
                <a:cs typeface="Calibri" pitchFamily="34" charset="-120"/>
              </a:rPr>
              <a:t>Une seule différence : vous la découvrirez en cours de route.</a:t>
            </a:r>
            <a:endParaRPr lang="en-US" sz="1600" dirty="0"/>
          </a:p>
        </p:txBody>
      </p:sp>
      <p:sp>
        <p:nvSpPr>
          <p:cNvPr id="9" name="Shape 6"/>
          <p:cNvSpPr/>
          <p:nvPr/>
        </p:nvSpPr>
        <p:spPr>
          <a:xfrm>
            <a:off x="6035040" y="1783080"/>
            <a:ext cx="2651760" cy="1417320"/>
          </a:xfrm>
          <a:prstGeom prst="roundRect">
            <a:avLst>
              <a:gd name="adj" fmla="val 7742"/>
            </a:avLst>
          </a:prstGeom>
          <a:solidFill>
            <a:srgbClr val="F2F2F2"/>
          </a:solidFill>
          <a:ln/>
        </p:spPr>
      </p:sp>
      <p:pic>
        <p:nvPicPr>
          <p:cNvPr id="10" name="Image 1" descr="preencoded.png">    </p:cNvPr>
          <p:cNvPicPr>
            <a:picLocks noChangeAspect="1"/>
          </p:cNvPicPr>
          <p:nvPr/>
        </p:nvPicPr>
        <p:blipFill>
          <a:blip r:embed="rId2"/>
          <a:stretch>
            <a:fillRect/>
          </a:stretch>
        </p:blipFill>
        <p:spPr>
          <a:xfrm>
            <a:off x="6236208" y="2318004"/>
            <a:ext cx="347472" cy="347472"/>
          </a:xfrm>
          <a:prstGeom prst="rect">
            <a:avLst/>
          </a:prstGeom>
        </p:spPr>
      </p:pic>
      <p:sp>
        <p:nvSpPr>
          <p:cNvPr id="11" name="Text 7"/>
          <p:cNvSpPr/>
          <p:nvPr/>
        </p:nvSpPr>
        <p:spPr>
          <a:xfrm>
            <a:off x="6601968" y="1856232"/>
            <a:ext cx="199339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5:00</a:t>
            </a:r>
            <a:endParaRPr lang="en-US" sz="4000" dirty="0"/>
          </a:p>
        </p:txBody>
      </p:sp>
      <p:sp>
        <p:nvSpPr>
          <p:cNvPr id="12" name="Text 8"/>
          <p:cNvSpPr/>
          <p:nvPr/>
        </p:nvSpPr>
        <p:spPr>
          <a:xfrm>
            <a:off x="6035040" y="2871216"/>
            <a:ext cx="265176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Vos scores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6 / 13</a:t>
            </a:r>
            <a:endParaRPr lang="en-US" sz="900" dirty="0"/>
          </a:p>
        </p:txBody>
      </p:sp>
      <p:sp>
        <p:nvSpPr>
          <p:cNvPr id="7" name="Shape 4"/>
          <p:cNvSpPr/>
          <p:nvPr/>
        </p:nvSpPr>
        <p:spPr>
          <a:xfrm>
            <a:off x="457200" y="1325880"/>
            <a:ext cx="5212080" cy="685800"/>
          </a:xfrm>
          <a:prstGeom prst="roundRect">
            <a:avLst>
              <a:gd name="adj" fmla="val 13333"/>
            </a:avLst>
          </a:prstGeom>
          <a:solidFill>
            <a:srgbClr val="F2F2F2"/>
          </a:solidFill>
          <a:ln/>
        </p:spPr>
      </p:sp>
      <p:sp>
        <p:nvSpPr>
          <p:cNvPr id="8" name="Shape 5"/>
          <p:cNvSpPr/>
          <p:nvPr/>
        </p:nvSpPr>
        <p:spPr>
          <a:xfrm>
            <a:off x="658368" y="1495044"/>
            <a:ext cx="347472" cy="347472"/>
          </a:xfrm>
          <a:prstGeom prst="ellipse">
            <a:avLst/>
          </a:prstGeom>
          <a:solidFill>
            <a:srgbClr val="1F3864"/>
          </a:solidFill>
          <a:ln/>
        </p:spPr>
      </p:sp>
      <p:sp>
        <p:nvSpPr>
          <p:cNvPr id="9" name="Text 6"/>
          <p:cNvSpPr/>
          <p:nvPr/>
        </p:nvSpPr>
        <p:spPr>
          <a:xfrm>
            <a:off x="658368" y="1495044"/>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10" name="Text 7"/>
          <p:cNvSpPr/>
          <p:nvPr/>
        </p:nvSpPr>
        <p:spPr>
          <a:xfrm>
            <a:off x="1143000" y="1380744"/>
            <a:ext cx="4315968" cy="576072"/>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Repérez votre dernier mot copié : le compteur en marge donne le total.</a:t>
            </a:r>
            <a:endParaRPr lang="en-US" sz="1500" dirty="0"/>
          </a:p>
        </p:txBody>
      </p:sp>
      <p:sp>
        <p:nvSpPr>
          <p:cNvPr id="11" name="Shape 8"/>
          <p:cNvSpPr/>
          <p:nvPr/>
        </p:nvSpPr>
        <p:spPr>
          <a:xfrm>
            <a:off x="457200" y="2121408"/>
            <a:ext cx="5212080" cy="685800"/>
          </a:xfrm>
          <a:prstGeom prst="roundRect">
            <a:avLst>
              <a:gd name="adj" fmla="val 13333"/>
            </a:avLst>
          </a:prstGeom>
          <a:solidFill>
            <a:srgbClr val="DEEAF6"/>
          </a:solidFill>
          <a:ln/>
        </p:spPr>
      </p:sp>
      <p:sp>
        <p:nvSpPr>
          <p:cNvPr id="12" name="Shape 9"/>
          <p:cNvSpPr/>
          <p:nvPr/>
        </p:nvSpPr>
        <p:spPr>
          <a:xfrm>
            <a:off x="658368" y="2290572"/>
            <a:ext cx="347472" cy="347472"/>
          </a:xfrm>
          <a:prstGeom prst="ellipse">
            <a:avLst/>
          </a:prstGeom>
          <a:solidFill>
            <a:srgbClr val="1F3864"/>
          </a:solidFill>
          <a:ln/>
        </p:spPr>
      </p:sp>
      <p:sp>
        <p:nvSpPr>
          <p:cNvPr id="13" name="Text 10"/>
          <p:cNvSpPr/>
          <p:nvPr/>
        </p:nvSpPr>
        <p:spPr>
          <a:xfrm>
            <a:off x="658368" y="2290572"/>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1"/>
          <p:cNvSpPr/>
          <p:nvPr/>
        </p:nvSpPr>
        <p:spPr>
          <a:xfrm>
            <a:off x="1143000" y="2176272"/>
            <a:ext cx="4315968" cy="576072"/>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Notez vos deux totaux : tâche 1, puis tâche 2.</a:t>
            </a:r>
            <a:endParaRPr lang="en-US" sz="1500" dirty="0"/>
          </a:p>
        </p:txBody>
      </p:sp>
      <p:sp>
        <p:nvSpPr>
          <p:cNvPr id="15" name="Shape 12"/>
          <p:cNvSpPr/>
          <p:nvPr/>
        </p:nvSpPr>
        <p:spPr>
          <a:xfrm>
            <a:off x="457200" y="2916936"/>
            <a:ext cx="5212080" cy="685800"/>
          </a:xfrm>
          <a:prstGeom prst="roundRect">
            <a:avLst>
              <a:gd name="adj" fmla="val 13333"/>
            </a:avLst>
          </a:prstGeom>
          <a:solidFill>
            <a:srgbClr val="F2F2F2"/>
          </a:solidFill>
          <a:ln/>
        </p:spPr>
      </p:sp>
      <p:sp>
        <p:nvSpPr>
          <p:cNvPr id="16" name="Shape 13"/>
          <p:cNvSpPr/>
          <p:nvPr/>
        </p:nvSpPr>
        <p:spPr>
          <a:xfrm>
            <a:off x="658368" y="3086100"/>
            <a:ext cx="347472" cy="347472"/>
          </a:xfrm>
          <a:prstGeom prst="ellipse">
            <a:avLst/>
          </a:prstGeom>
          <a:solidFill>
            <a:srgbClr val="1F3864"/>
          </a:solidFill>
          <a:ln/>
        </p:spPr>
      </p:sp>
      <p:sp>
        <p:nvSpPr>
          <p:cNvPr id="17" name="Text 14"/>
          <p:cNvSpPr/>
          <p:nvPr/>
        </p:nvSpPr>
        <p:spPr>
          <a:xfrm>
            <a:off x="658368" y="3086100"/>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8" name="Text 15"/>
          <p:cNvSpPr/>
          <p:nvPr/>
        </p:nvSpPr>
        <p:spPr>
          <a:xfrm>
            <a:off x="1143000" y="2971800"/>
            <a:ext cx="4315968" cy="576072"/>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Calculez votre écart : tâche 1 − tâche 2 = ______ mots.</a:t>
            </a:r>
            <a:endParaRPr lang="en-US" sz="1500" dirty="0"/>
          </a:p>
        </p:txBody>
      </p:sp>
      <p:sp>
        <p:nvSpPr>
          <p:cNvPr id="19" name="Shape 16"/>
          <p:cNvSpPr/>
          <p:nvPr/>
        </p:nvSpPr>
        <p:spPr>
          <a:xfrm>
            <a:off x="6035040" y="1783080"/>
            <a:ext cx="2651760" cy="1417320"/>
          </a:xfrm>
          <a:prstGeom prst="roundRect">
            <a:avLst>
              <a:gd name="adj" fmla="val 7742"/>
            </a:avLst>
          </a:prstGeom>
          <a:solidFill>
            <a:srgbClr val="F2F2F2"/>
          </a:solidFill>
          <a:ln/>
        </p:spPr>
      </p:sp>
      <p:pic>
        <p:nvPicPr>
          <p:cNvPr id="20" name="Image 1" descr="preencoded.png">    </p:cNvPr>
          <p:cNvPicPr>
            <a:picLocks noChangeAspect="1"/>
          </p:cNvPicPr>
          <p:nvPr/>
        </p:nvPicPr>
        <p:blipFill>
          <a:blip r:embed="rId2"/>
          <a:stretch>
            <a:fillRect/>
          </a:stretch>
        </p:blipFill>
        <p:spPr>
          <a:xfrm>
            <a:off x="6236208" y="2318004"/>
            <a:ext cx="347472" cy="347472"/>
          </a:xfrm>
          <a:prstGeom prst="rect">
            <a:avLst/>
          </a:prstGeom>
        </p:spPr>
      </p:pic>
      <p:sp>
        <p:nvSpPr>
          <p:cNvPr id="21" name="Text 17"/>
          <p:cNvSpPr/>
          <p:nvPr/>
        </p:nvSpPr>
        <p:spPr>
          <a:xfrm>
            <a:off x="6601968" y="1856232"/>
            <a:ext cx="199339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3:00</a:t>
            </a:r>
            <a:endParaRPr lang="en-US" sz="4000" dirty="0"/>
          </a:p>
        </p:txBody>
      </p:sp>
      <p:sp>
        <p:nvSpPr>
          <p:cNvPr id="22" name="Text 18"/>
          <p:cNvSpPr/>
          <p:nvPr/>
        </p:nvSpPr>
        <p:spPr>
          <a:xfrm>
            <a:off x="6035040" y="2871216"/>
            <a:ext cx="265176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23" name="Shape 19"/>
          <p:cNvSpPr/>
          <p:nvPr/>
        </p:nvSpPr>
        <p:spPr>
          <a:xfrm>
            <a:off x="457200" y="3794760"/>
            <a:ext cx="5212080" cy="685800"/>
          </a:xfrm>
          <a:prstGeom prst="roundRect">
            <a:avLst>
              <a:gd name="adj" fmla="val 13333"/>
            </a:avLst>
          </a:prstGeom>
          <a:solidFill>
            <a:srgbClr val="DEEAF6"/>
          </a:solidFill>
          <a:ln/>
        </p:spPr>
      </p:sp>
      <p:sp>
        <p:nvSpPr>
          <p:cNvPr id="24" name="Text 20"/>
          <p:cNvSpPr/>
          <p:nvPr/>
        </p:nvSpPr>
        <p:spPr>
          <a:xfrm>
            <a:off x="713232" y="3849624"/>
            <a:ext cx="4700016" cy="576072"/>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Qui a copié moins de mots en tâche 2 ?</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Une seule tâche à la fois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7 / 13</a:t>
            </a:r>
            <a:endParaRPr lang="en-US" sz="900" dirty="0"/>
          </a:p>
        </p:txBody>
      </p:sp>
      <p:sp>
        <p:nvSpPr>
          <p:cNvPr id="7" name="Shape 4"/>
          <p:cNvSpPr/>
          <p:nvPr/>
        </p:nvSpPr>
        <p:spPr>
          <a:xfrm>
            <a:off x="457200" y="1463040"/>
            <a:ext cx="8138160" cy="1371600"/>
          </a:xfrm>
          <a:prstGeom prst="roundRect">
            <a:avLst>
              <a:gd name="adj" fmla="val 6667"/>
            </a:avLst>
          </a:prstGeom>
          <a:solidFill>
            <a:srgbClr val="DEEAF6"/>
          </a:solidFill>
          <a:ln/>
        </p:spPr>
      </p:sp>
      <p:sp>
        <p:nvSpPr>
          <p:cNvPr id="8" name="Text 5"/>
          <p:cNvSpPr/>
          <p:nvPr/>
        </p:nvSpPr>
        <p:spPr>
          <a:xfrm>
            <a:off x="822960" y="1572768"/>
            <a:ext cx="7406640" cy="1152144"/>
          </a:xfrm>
          <a:prstGeom prst="rect">
            <a:avLst/>
          </a:prstGeom>
          <a:noFill/>
          <a:ln/>
        </p:spPr>
        <p:txBody>
          <a:bodyPr wrap="square" lIns="0" tIns="0" rIns="0" bIns="0" rtlCol="0" anchor="ctr"/>
          <a:lstStyle/>
          <a:p>
            <a:pPr algn="ctr" indent="0" marL="0">
              <a:buNone/>
            </a:pPr>
            <a:r>
              <a:rPr lang="en-US" sz="2200" b="1" dirty="0">
                <a:solidFill>
                  <a:srgbClr val="1F3864"/>
                </a:solidFill>
                <a:latin typeface="Calibri" pitchFamily="34" charset="0"/>
                <a:ea typeface="Calibri" pitchFamily="34" charset="-122"/>
                <a:cs typeface="Calibri" pitchFamily="34" charset="-120"/>
              </a:rPr>
              <a:t>Mon cerveau ne traite qu’une tâche exigeante à la fois. Il n’en fait pas deux : il alterne.</a:t>
            </a:r>
            <a:endParaRPr lang="en-US" sz="2200" dirty="0"/>
          </a:p>
        </p:txBody>
      </p:sp>
      <p:sp>
        <p:nvSpPr>
          <p:cNvPr id="9" name="Shape 6"/>
          <p:cNvSpPr/>
          <p:nvPr/>
        </p:nvSpPr>
        <p:spPr>
          <a:xfrm>
            <a:off x="457200" y="3017520"/>
            <a:ext cx="8138160" cy="1051560"/>
          </a:xfrm>
          <a:prstGeom prst="roundRect">
            <a:avLst>
              <a:gd name="adj" fmla="val 8696"/>
            </a:avLst>
          </a:prstGeom>
          <a:solidFill>
            <a:srgbClr val="F2F2F2"/>
          </a:solidFill>
          <a:ln/>
        </p:spPr>
      </p:sp>
      <p:sp>
        <p:nvSpPr>
          <p:cNvPr id="10" name="Text 7"/>
          <p:cNvSpPr/>
          <p:nvPr/>
        </p:nvSpPr>
        <p:spPr>
          <a:xfrm>
            <a:off x="822960" y="3127248"/>
            <a:ext cx="7406640" cy="832104"/>
          </a:xfrm>
          <a:prstGeom prst="rect">
            <a:avLst/>
          </a:prstGeom>
          <a:noFill/>
          <a:ln/>
        </p:spPr>
        <p:txBody>
          <a:bodyPr wrap="square" lIns="0" tIns="0" rIns="0" bIns="0" rtlCol="0" anchor="ctr"/>
          <a:lstStyle/>
          <a:p>
            <a:pPr algn="ctr" indent="0" marL="0">
              <a:buNone/>
            </a:pPr>
            <a:r>
              <a:rPr lang="en-US" sz="1700" dirty="0">
                <a:solidFill>
                  <a:srgbClr val="2B2B2B"/>
                </a:solidFill>
                <a:latin typeface="Calibri" pitchFamily="34" charset="0"/>
                <a:ea typeface="Calibri" pitchFamily="34" charset="-122"/>
                <a:cs typeface="Calibri" pitchFamily="34" charset="-120"/>
              </a:rPr>
              <a:t>Et l’alternance se paie. La preuve est au tableau : ce sont vos chiffres.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Ce que coûte une interruption</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8 / 13</a:t>
            </a:r>
            <a:endParaRPr lang="en-US" sz="900" dirty="0"/>
          </a:p>
        </p:txBody>
      </p:sp>
      <p:sp>
        <p:nvSpPr>
          <p:cNvPr id="7" name="Shape 4"/>
          <p:cNvSpPr/>
          <p:nvPr/>
        </p:nvSpPr>
        <p:spPr>
          <a:xfrm>
            <a:off x="457200" y="1371600"/>
            <a:ext cx="3931920" cy="1371600"/>
          </a:xfrm>
          <a:prstGeom prst="roundRect">
            <a:avLst>
              <a:gd name="adj" fmla="val 6667"/>
            </a:avLst>
          </a:prstGeom>
          <a:solidFill>
            <a:srgbClr val="F2F2F2"/>
          </a:solidFill>
          <a:ln/>
        </p:spPr>
      </p:sp>
      <p:sp>
        <p:nvSpPr>
          <p:cNvPr id="8" name="Text 5"/>
          <p:cNvSpPr/>
          <p:nvPr/>
        </p:nvSpPr>
        <p:spPr>
          <a:xfrm>
            <a:off x="658368" y="1481328"/>
            <a:ext cx="3529584" cy="1152144"/>
          </a:xfrm>
          <a:prstGeom prst="rect">
            <a:avLst/>
          </a:prstGeom>
          <a:noFill/>
          <a:ln/>
        </p:spPr>
        <p:txBody>
          <a:bodyPr wrap="square" lIns="0" tIns="0" rIns="0" bIns="0" rtlCol="0" anchor="ctr"/>
          <a:lstStyle/>
          <a:p>
            <a:pPr algn="ctr" indent="0" marL="0">
              <a:buNone/>
            </a:pPr>
            <a:r>
              <a:rPr lang="en-US" sz="2600" b="1" dirty="0">
                <a:solidFill>
                  <a:srgbClr val="1F3864"/>
                </a:solidFill>
                <a:latin typeface="Calibri" pitchFamily="34" charset="0"/>
                <a:ea typeface="Calibri" pitchFamily="34" charset="-122"/>
                <a:cs typeface="Calibri" pitchFamily="34" charset="-120"/>
              </a:rPr>
              <a:t>45 secondes</a:t>
            </a:r>
            <a:endParaRPr lang="en-US" sz="2600" dirty="0"/>
          </a:p>
          <a:p>
            <a:pPr algn="ctr" indent="0" marL="0">
              <a:buNone/>
            </a:pPr>
            <a:r>
              <a:rPr lang="en-US" sz="1400" dirty="0">
                <a:solidFill>
                  <a:srgbClr val="2B2B2B"/>
                </a:solidFill>
                <a:latin typeface="Calibri" pitchFamily="34" charset="0"/>
                <a:ea typeface="Calibri" pitchFamily="34" charset="-122"/>
                <a:cs typeface="Calibri" pitchFamily="34" charset="-120"/>
              </a:rPr>
              <a:t>d’interruptions au total, soit 8 à 10 mots de copie</a:t>
            </a:r>
            <a:endParaRPr lang="en-US" sz="2600" dirty="0"/>
          </a:p>
        </p:txBody>
      </p:sp>
      <p:sp>
        <p:nvSpPr>
          <p:cNvPr id="9" name="Shape 6"/>
          <p:cNvSpPr/>
          <p:nvPr/>
        </p:nvSpPr>
        <p:spPr>
          <a:xfrm>
            <a:off x="4663440" y="1371600"/>
            <a:ext cx="3931920" cy="1371600"/>
          </a:xfrm>
          <a:prstGeom prst="roundRect">
            <a:avLst>
              <a:gd name="adj" fmla="val 6667"/>
            </a:avLst>
          </a:prstGeom>
          <a:solidFill>
            <a:srgbClr val="DEEAF6"/>
          </a:solidFill>
          <a:ln/>
        </p:spPr>
      </p:sp>
      <p:sp>
        <p:nvSpPr>
          <p:cNvPr id="10" name="Text 7"/>
          <p:cNvSpPr/>
          <p:nvPr/>
        </p:nvSpPr>
        <p:spPr>
          <a:xfrm>
            <a:off x="4864608" y="1481328"/>
            <a:ext cx="3529584" cy="1152144"/>
          </a:xfrm>
          <a:prstGeom prst="rect">
            <a:avLst/>
          </a:prstGeom>
          <a:noFill/>
          <a:ln/>
        </p:spPr>
        <p:txBody>
          <a:bodyPr wrap="square" lIns="0" tIns="0" rIns="0" bIns="0" rtlCol="0" anchor="ctr"/>
          <a:lstStyle/>
          <a:p>
            <a:pPr algn="ctr" indent="0" marL="0">
              <a:buNone/>
            </a:pPr>
            <a:r>
              <a:rPr lang="en-US" sz="2000" b="1" dirty="0">
                <a:solidFill>
                  <a:srgbClr val="1F3864"/>
                </a:solidFill>
                <a:latin typeface="Calibri" pitchFamily="34" charset="0"/>
                <a:ea typeface="Calibri" pitchFamily="34" charset="-122"/>
                <a:cs typeface="Calibri" pitchFamily="34" charset="-120"/>
              </a:rPr>
              <a:t>Votre écart réel</a:t>
            </a:r>
            <a:endParaRPr lang="en-US" sz="2000" dirty="0"/>
          </a:p>
          <a:p>
            <a:pPr algn="ctr" indent="0" marL="0">
              <a:buNone/>
            </a:pPr>
            <a:r>
              <a:rPr lang="en-US" sz="1400" dirty="0">
                <a:solidFill>
                  <a:srgbClr val="2B2B2B"/>
                </a:solidFill>
                <a:latin typeface="Calibri" pitchFamily="34" charset="0"/>
                <a:ea typeface="Calibri" pitchFamily="34" charset="-122"/>
                <a:cs typeface="Calibri" pitchFamily="34" charset="-120"/>
              </a:rPr>
              <a:t>bien plus que 8 à 10 mots</a:t>
            </a:r>
            <a:endParaRPr lang="en-US" sz="2000" dirty="0"/>
          </a:p>
        </p:txBody>
      </p:sp>
      <p:sp>
        <p:nvSpPr>
          <p:cNvPr id="11" name="Shape 8"/>
          <p:cNvSpPr/>
          <p:nvPr/>
        </p:nvSpPr>
        <p:spPr>
          <a:xfrm>
            <a:off x="457200" y="2926080"/>
            <a:ext cx="8138160" cy="1188720"/>
          </a:xfrm>
          <a:prstGeom prst="roundRect">
            <a:avLst>
              <a:gd name="adj" fmla="val 7692"/>
            </a:avLst>
          </a:prstGeom>
          <a:solidFill>
            <a:srgbClr val="F2F2F2"/>
          </a:solidFill>
          <a:ln/>
        </p:spPr>
      </p:sp>
      <p:sp>
        <p:nvSpPr>
          <p:cNvPr id="12" name="Text 9"/>
          <p:cNvSpPr/>
          <p:nvPr/>
        </p:nvSpPr>
        <p:spPr>
          <a:xfrm>
            <a:off x="822960" y="3035808"/>
            <a:ext cx="7406640" cy="969264"/>
          </a:xfrm>
          <a:prstGeom prst="rect">
            <a:avLst/>
          </a:prstGeom>
          <a:noFill/>
          <a:ln/>
        </p:spPr>
        <p:txBody>
          <a:bodyPr wrap="square" lIns="0" tIns="0" rIns="0" bIns="0" rtlCol="0" anchor="ctr"/>
          <a:lstStyle/>
          <a:p>
            <a:pPr algn="ctr" indent="0" marL="0">
              <a:buNone/>
            </a:pPr>
            <a:r>
              <a:rPr lang="en-US" sz="1800" b="1" dirty="0">
                <a:solidFill>
                  <a:srgbClr val="1F3864"/>
                </a:solidFill>
                <a:latin typeface="Calibri" pitchFamily="34" charset="0"/>
                <a:ea typeface="Calibri" pitchFamily="34" charset="-122"/>
                <a:cs typeface="Calibri" pitchFamily="34" charset="-120"/>
              </a:rPr>
              <a:t>La différence, c’est le coût de reprise : après chaque interruption, il faut retrouver où on en était.</a:t>
            </a:r>
            <a:endParaRPr lang="en-US" sz="1800" dirty="0"/>
          </a:p>
        </p:txBody>
      </p:sp>
      <p:sp>
        <p:nvSpPr>
          <p:cNvPr id="13" name="Text 10"/>
          <p:cNvSpPr/>
          <p:nvPr/>
        </p:nvSpPr>
        <p:spPr>
          <a:xfrm>
            <a:off x="457200" y="4251960"/>
            <a:ext cx="6949440" cy="256032"/>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Monsell, 2003 — coût de la commutation de tâche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Le téléphone visible</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9 / 13</a:t>
            </a:r>
            <a:endParaRPr lang="en-US" sz="900" dirty="0"/>
          </a:p>
        </p:txBody>
      </p:sp>
      <p:sp>
        <p:nvSpPr>
          <p:cNvPr id="7" name="Shape 4"/>
          <p:cNvSpPr/>
          <p:nvPr/>
        </p:nvSpPr>
        <p:spPr>
          <a:xfrm>
            <a:off x="457200" y="1371600"/>
            <a:ext cx="8138160" cy="1280160"/>
          </a:xfrm>
          <a:prstGeom prst="roundRect">
            <a:avLst>
              <a:gd name="adj" fmla="val 7143"/>
            </a:avLst>
          </a:prstGeom>
          <a:solidFill>
            <a:srgbClr val="DEEAF6"/>
          </a:solidFill>
          <a:ln/>
        </p:spPr>
      </p:sp>
      <p:sp>
        <p:nvSpPr>
          <p:cNvPr id="8" name="Text 5"/>
          <p:cNvSpPr/>
          <p:nvPr/>
        </p:nvSpPr>
        <p:spPr>
          <a:xfrm>
            <a:off x="822960" y="1481328"/>
            <a:ext cx="7406640" cy="1060704"/>
          </a:xfrm>
          <a:prstGeom prst="rect">
            <a:avLst/>
          </a:prstGeom>
          <a:noFill/>
          <a:ln/>
        </p:spPr>
        <p:txBody>
          <a:bodyPr wrap="square" lIns="0" tIns="0" rIns="0" bIns="0" rtlCol="0" anchor="ctr"/>
          <a:lstStyle/>
          <a:p>
            <a:pPr algn="ctr" indent="0" marL="0">
              <a:buNone/>
            </a:pPr>
            <a:r>
              <a:rPr lang="en-US" sz="2100" b="1" dirty="0">
                <a:solidFill>
                  <a:srgbClr val="1F3864"/>
                </a:solidFill>
                <a:latin typeface="Calibri" pitchFamily="34" charset="0"/>
                <a:ea typeface="Calibri" pitchFamily="34" charset="-122"/>
                <a:cs typeface="Calibri" pitchFamily="34" charset="-120"/>
              </a:rPr>
              <a:t>Un téléphone posé sur la table, écran éteint, consomme déjà de l’attention.</a:t>
            </a:r>
            <a:endParaRPr lang="en-US" sz="2100" dirty="0"/>
          </a:p>
        </p:txBody>
      </p:sp>
      <p:sp>
        <p:nvSpPr>
          <p:cNvPr id="9" name="Shape 6"/>
          <p:cNvSpPr/>
          <p:nvPr/>
        </p:nvSpPr>
        <p:spPr>
          <a:xfrm>
            <a:off x="457200" y="2834640"/>
            <a:ext cx="8138160" cy="1234440"/>
          </a:xfrm>
          <a:prstGeom prst="roundRect">
            <a:avLst>
              <a:gd name="adj" fmla="val 7407"/>
            </a:avLst>
          </a:prstGeom>
          <a:solidFill>
            <a:srgbClr val="F2F2F2"/>
          </a:solidFill>
          <a:ln/>
        </p:spPr>
      </p:sp>
      <p:sp>
        <p:nvSpPr>
          <p:cNvPr id="10" name="Text 7"/>
          <p:cNvSpPr/>
          <p:nvPr/>
        </p:nvSpPr>
        <p:spPr>
          <a:xfrm>
            <a:off x="822960" y="2944368"/>
            <a:ext cx="7406640" cy="1014984"/>
          </a:xfrm>
          <a:prstGeom prst="rect">
            <a:avLst/>
          </a:prstGeom>
          <a:noFill/>
          <a:ln/>
        </p:spPr>
        <p:txBody>
          <a:bodyPr wrap="square" lIns="0" tIns="0" rIns="0" bIns="0" rtlCol="0" anchor="ctr"/>
          <a:lstStyle/>
          <a:p>
            <a:pPr algn="ctr" indent="0" marL="0">
              <a:buNone/>
            </a:pPr>
            <a:r>
              <a:rPr lang="en-US" sz="1800" dirty="0">
                <a:solidFill>
                  <a:srgbClr val="2B2B2B"/>
                </a:solidFill>
                <a:latin typeface="Calibri" pitchFamily="34" charset="0"/>
                <a:ea typeface="Calibri" pitchFamily="34" charset="-122"/>
                <a:cs typeface="Calibri" pitchFamily="34" charset="-120"/>
              </a:rPr>
              <a:t>La bonne question n’est donc pas « est-ce que je résiste ? » mais « où est mon téléphone ? ».</a:t>
            </a:r>
            <a:endParaRPr lang="en-US" sz="1800" dirty="0"/>
          </a:p>
        </p:txBody>
      </p:sp>
      <p:sp>
        <p:nvSpPr>
          <p:cNvPr id="11" name="Text 8"/>
          <p:cNvSpPr/>
          <p:nvPr/>
        </p:nvSpPr>
        <p:spPr>
          <a:xfrm>
            <a:off x="457200" y="4206240"/>
            <a:ext cx="6949440" cy="256032"/>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Ward et al., 2017 — la simple présence du téléphone réduit les ressources attentionnelles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Ma soirée de travail</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10 / 13</a:t>
            </a:r>
            <a:endParaRPr lang="en-US" sz="900" dirty="0"/>
          </a:p>
        </p:txBody>
      </p:sp>
      <p:sp>
        <p:nvSpPr>
          <p:cNvPr id="7" name="Shape 4"/>
          <p:cNvSpPr/>
          <p:nvPr/>
        </p:nvSpPr>
        <p:spPr>
          <a:xfrm>
            <a:off x="457200" y="1325880"/>
            <a:ext cx="5212080" cy="685800"/>
          </a:xfrm>
          <a:prstGeom prst="roundRect">
            <a:avLst>
              <a:gd name="adj" fmla="val 13333"/>
            </a:avLst>
          </a:prstGeom>
          <a:solidFill>
            <a:srgbClr val="F2F2F2"/>
          </a:solidFill>
          <a:ln/>
        </p:spPr>
      </p:sp>
      <p:sp>
        <p:nvSpPr>
          <p:cNvPr id="8" name="Shape 5"/>
          <p:cNvSpPr/>
          <p:nvPr/>
        </p:nvSpPr>
        <p:spPr>
          <a:xfrm>
            <a:off x="658368" y="1495044"/>
            <a:ext cx="347472" cy="347472"/>
          </a:xfrm>
          <a:prstGeom prst="ellipse">
            <a:avLst/>
          </a:prstGeom>
          <a:solidFill>
            <a:srgbClr val="1F3864"/>
          </a:solidFill>
          <a:ln/>
        </p:spPr>
      </p:sp>
      <p:sp>
        <p:nvSpPr>
          <p:cNvPr id="9" name="Text 6"/>
          <p:cNvSpPr/>
          <p:nvPr/>
        </p:nvSpPr>
        <p:spPr>
          <a:xfrm>
            <a:off x="658368" y="1495044"/>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10" name="Text 7"/>
          <p:cNvSpPr/>
          <p:nvPr/>
        </p:nvSpPr>
        <p:spPr>
          <a:xfrm>
            <a:off x="1143000" y="1380744"/>
            <a:ext cx="4315968" cy="576072"/>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Reconstituez votre dernière soirée de devoirs, heure par heure.</a:t>
            </a:r>
            <a:endParaRPr lang="en-US" sz="1500" dirty="0"/>
          </a:p>
        </p:txBody>
      </p:sp>
      <p:sp>
        <p:nvSpPr>
          <p:cNvPr id="11" name="Shape 8"/>
          <p:cNvSpPr/>
          <p:nvPr/>
        </p:nvSpPr>
        <p:spPr>
          <a:xfrm>
            <a:off x="457200" y="2121408"/>
            <a:ext cx="5212080" cy="685800"/>
          </a:xfrm>
          <a:prstGeom prst="roundRect">
            <a:avLst>
              <a:gd name="adj" fmla="val 13333"/>
            </a:avLst>
          </a:prstGeom>
          <a:solidFill>
            <a:srgbClr val="DEEAF6"/>
          </a:solidFill>
          <a:ln/>
        </p:spPr>
      </p:sp>
      <p:sp>
        <p:nvSpPr>
          <p:cNvPr id="12" name="Shape 9"/>
          <p:cNvSpPr/>
          <p:nvPr/>
        </p:nvSpPr>
        <p:spPr>
          <a:xfrm>
            <a:off x="658368" y="2290572"/>
            <a:ext cx="347472" cy="347472"/>
          </a:xfrm>
          <a:prstGeom prst="ellipse">
            <a:avLst/>
          </a:prstGeom>
          <a:solidFill>
            <a:srgbClr val="1F3864"/>
          </a:solidFill>
          <a:ln/>
        </p:spPr>
      </p:sp>
      <p:sp>
        <p:nvSpPr>
          <p:cNvPr id="13" name="Text 10"/>
          <p:cNvSpPr/>
          <p:nvPr/>
        </p:nvSpPr>
        <p:spPr>
          <a:xfrm>
            <a:off x="658368" y="2290572"/>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1"/>
          <p:cNvSpPr/>
          <p:nvPr/>
        </p:nvSpPr>
        <p:spPr>
          <a:xfrm>
            <a:off x="1143000" y="2176272"/>
            <a:ext cx="4315968" cy="576072"/>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Où étiez-vous ? Avez-vous vraiment travaillé, et sur quoi ?</a:t>
            </a:r>
            <a:endParaRPr lang="en-US" sz="1500" dirty="0"/>
          </a:p>
        </p:txBody>
      </p:sp>
      <p:sp>
        <p:nvSpPr>
          <p:cNvPr id="15" name="Shape 12"/>
          <p:cNvSpPr/>
          <p:nvPr/>
        </p:nvSpPr>
        <p:spPr>
          <a:xfrm>
            <a:off x="457200" y="2916936"/>
            <a:ext cx="5212080" cy="685800"/>
          </a:xfrm>
          <a:prstGeom prst="roundRect">
            <a:avLst>
              <a:gd name="adj" fmla="val 13333"/>
            </a:avLst>
          </a:prstGeom>
          <a:solidFill>
            <a:srgbClr val="F2F2F2"/>
          </a:solidFill>
          <a:ln/>
        </p:spPr>
      </p:sp>
      <p:sp>
        <p:nvSpPr>
          <p:cNvPr id="16" name="Shape 13"/>
          <p:cNvSpPr/>
          <p:nvPr/>
        </p:nvSpPr>
        <p:spPr>
          <a:xfrm>
            <a:off x="658368" y="3086100"/>
            <a:ext cx="347472" cy="347472"/>
          </a:xfrm>
          <a:prstGeom prst="ellipse">
            <a:avLst/>
          </a:prstGeom>
          <a:solidFill>
            <a:srgbClr val="1F3864"/>
          </a:solidFill>
          <a:ln/>
        </p:spPr>
      </p:sp>
      <p:sp>
        <p:nvSpPr>
          <p:cNvPr id="17" name="Text 14"/>
          <p:cNvSpPr/>
          <p:nvPr/>
        </p:nvSpPr>
        <p:spPr>
          <a:xfrm>
            <a:off x="658368" y="3086100"/>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8" name="Text 15"/>
          <p:cNvSpPr/>
          <p:nvPr/>
        </p:nvSpPr>
        <p:spPr>
          <a:xfrm>
            <a:off x="1143000" y="2971800"/>
            <a:ext cx="4315968" cy="576072"/>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Qu’est-ce qui vous a interrompu, et combien de fois ?</a:t>
            </a:r>
            <a:endParaRPr lang="en-US" sz="1500" dirty="0"/>
          </a:p>
        </p:txBody>
      </p:sp>
      <p:sp>
        <p:nvSpPr>
          <p:cNvPr id="19" name="Shape 16"/>
          <p:cNvSpPr/>
          <p:nvPr/>
        </p:nvSpPr>
        <p:spPr>
          <a:xfrm>
            <a:off x="6035040" y="1783080"/>
            <a:ext cx="2651760" cy="1417320"/>
          </a:xfrm>
          <a:prstGeom prst="roundRect">
            <a:avLst>
              <a:gd name="adj" fmla="val 7742"/>
            </a:avLst>
          </a:prstGeom>
          <a:solidFill>
            <a:srgbClr val="F2F2F2"/>
          </a:solidFill>
          <a:ln/>
        </p:spPr>
      </p:sp>
      <p:pic>
        <p:nvPicPr>
          <p:cNvPr id="20" name="Image 1" descr="preencoded.png">    </p:cNvPr>
          <p:cNvPicPr>
            <a:picLocks noChangeAspect="1"/>
          </p:cNvPicPr>
          <p:nvPr/>
        </p:nvPicPr>
        <p:blipFill>
          <a:blip r:embed="rId2"/>
          <a:stretch>
            <a:fillRect/>
          </a:stretch>
        </p:blipFill>
        <p:spPr>
          <a:xfrm>
            <a:off x="6236208" y="2318004"/>
            <a:ext cx="347472" cy="347472"/>
          </a:xfrm>
          <a:prstGeom prst="rect">
            <a:avLst/>
          </a:prstGeom>
        </p:spPr>
      </p:pic>
      <p:sp>
        <p:nvSpPr>
          <p:cNvPr id="21" name="Text 17"/>
          <p:cNvSpPr/>
          <p:nvPr/>
        </p:nvSpPr>
        <p:spPr>
          <a:xfrm>
            <a:off x="6601968" y="1856232"/>
            <a:ext cx="199339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13:00</a:t>
            </a:r>
            <a:endParaRPr lang="en-US" sz="4000" dirty="0"/>
          </a:p>
        </p:txBody>
      </p:sp>
      <p:sp>
        <p:nvSpPr>
          <p:cNvPr id="22" name="Text 18"/>
          <p:cNvSpPr/>
          <p:nvPr/>
        </p:nvSpPr>
        <p:spPr>
          <a:xfrm>
            <a:off x="6035040" y="2871216"/>
            <a:ext cx="265176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23" name="Shape 19"/>
          <p:cNvSpPr/>
          <p:nvPr/>
        </p:nvSpPr>
        <p:spPr>
          <a:xfrm>
            <a:off x="457200" y="3794760"/>
            <a:ext cx="8138160" cy="731520"/>
          </a:xfrm>
          <a:prstGeom prst="roundRect">
            <a:avLst>
              <a:gd name="adj" fmla="val 12500"/>
            </a:avLst>
          </a:prstGeom>
          <a:solidFill>
            <a:srgbClr val="DEEAF6"/>
          </a:solidFill>
          <a:ln/>
        </p:spPr>
      </p:sp>
      <p:sp>
        <p:nvSpPr>
          <p:cNvPr id="24" name="Text 20"/>
          <p:cNvSpPr/>
          <p:nvPr/>
        </p:nvSpPr>
        <p:spPr>
          <a:xfrm>
            <a:off x="777240" y="3849624"/>
            <a:ext cx="7498080" cy="621792"/>
          </a:xfrm>
          <a:prstGeom prst="rect">
            <a:avLst/>
          </a:prstGeom>
          <a:noFill/>
          <a:ln/>
        </p:spPr>
        <p:txBody>
          <a:bodyPr wrap="square" lIns="0" tIns="0" rIns="0" bIns="0" rtlCol="0" anchor="ctr"/>
          <a:lstStyle/>
          <a:p>
            <a:pPr indent="0" marL="0">
              <a:buNone/>
            </a:pPr>
            <a:r>
              <a:rPr lang="en-US" sz="1700" b="1" dirty="0">
                <a:solidFill>
                  <a:srgbClr val="1F3864"/>
                </a:solidFill>
                <a:latin typeface="Calibri" pitchFamily="34" charset="0"/>
                <a:ea typeface="Calibri" pitchFamily="34" charset="-122"/>
                <a:cs typeface="Calibri" pitchFamily="34" charset="-120"/>
              </a:rPr>
              <a:t>Pour finir : mes deux principaux voleurs d’attention.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Mon protocole : 3 règles maximum</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11 / 13</a:t>
            </a:r>
            <a:endParaRPr lang="en-US" sz="900" dirty="0"/>
          </a:p>
        </p:txBody>
      </p:sp>
      <p:sp>
        <p:nvSpPr>
          <p:cNvPr id="7" name="Shape 4"/>
          <p:cNvSpPr/>
          <p:nvPr/>
        </p:nvSpPr>
        <p:spPr>
          <a:xfrm>
            <a:off x="457200" y="1325880"/>
            <a:ext cx="5212080" cy="868680"/>
          </a:xfrm>
          <a:prstGeom prst="roundRect">
            <a:avLst>
              <a:gd name="adj" fmla="val 10526"/>
            </a:avLst>
          </a:prstGeom>
          <a:solidFill>
            <a:srgbClr val="FFFFFF"/>
          </a:solidFill>
          <a:ln w="12700">
            <a:solidFill>
              <a:srgbClr val="2E5395"/>
            </a:solidFill>
            <a:prstDash val="solid"/>
          </a:ln>
        </p:spPr>
      </p:sp>
      <p:sp>
        <p:nvSpPr>
          <p:cNvPr id="8" name="Text 5"/>
          <p:cNvSpPr/>
          <p:nvPr/>
        </p:nvSpPr>
        <p:spPr>
          <a:xfrm>
            <a:off x="713232" y="1389888"/>
            <a:ext cx="4700016" cy="740664"/>
          </a:xfrm>
          <a:prstGeom prst="rect">
            <a:avLst/>
          </a:prstGeom>
          <a:noFill/>
          <a:ln/>
        </p:spPr>
        <p:txBody>
          <a:bodyPr wrap="square" lIns="0" tIns="0" rIns="0" bIns="0" rtlCol="0" anchor="ctr"/>
          <a:lstStyle/>
          <a:p>
            <a:pPr indent="0" marL="0">
              <a:buNone/>
            </a:pPr>
            <a:r>
              <a:rPr lang="en-US" sz="1700" b="1" dirty="0">
                <a:solidFill>
                  <a:srgbClr val="1F3864"/>
                </a:solidFill>
                <a:latin typeface="Calibri" pitchFamily="34" charset="0"/>
                <a:ea typeface="Calibri" pitchFamily="34" charset="-122"/>
                <a:cs typeface="Calibri" pitchFamily="34" charset="-120"/>
              </a:rPr>
              <a:t>Quand je travaille, alors </a:t>
            </a:r>
            <a:pPr indent="0" marL="0">
              <a:buNone/>
            </a:pPr>
            <a:r>
              <a:rPr lang="en-US" sz="1700" dirty="0">
                <a:solidFill>
                  <a:srgbClr val="6B7280"/>
                </a:solidFill>
                <a:latin typeface="Calibri" pitchFamily="34" charset="0"/>
                <a:ea typeface="Calibri" pitchFamily="34" charset="-122"/>
                <a:cs typeface="Calibri" pitchFamily="34" charset="-120"/>
              </a:rPr>
              <a:t>_______________________</a:t>
            </a:r>
            <a:endParaRPr lang="en-US" sz="1700" dirty="0"/>
          </a:p>
        </p:txBody>
      </p:sp>
      <p:sp>
        <p:nvSpPr>
          <p:cNvPr id="9" name="Shape 6"/>
          <p:cNvSpPr/>
          <p:nvPr/>
        </p:nvSpPr>
        <p:spPr>
          <a:xfrm>
            <a:off x="457200" y="2331720"/>
            <a:ext cx="2514600" cy="777240"/>
          </a:xfrm>
          <a:prstGeom prst="roundRect">
            <a:avLst>
              <a:gd name="adj" fmla="val 11765"/>
            </a:avLst>
          </a:prstGeom>
          <a:solidFill>
            <a:srgbClr val="F2F2F2"/>
          </a:solidFill>
          <a:ln/>
        </p:spPr>
      </p:sp>
      <p:sp>
        <p:nvSpPr>
          <p:cNvPr id="10" name="Text 7"/>
          <p:cNvSpPr/>
          <p:nvPr/>
        </p:nvSpPr>
        <p:spPr>
          <a:xfrm>
            <a:off x="713232" y="2386584"/>
            <a:ext cx="2002536" cy="6675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Réaliste : je peux la tenir dès ce soir.</a:t>
            </a:r>
            <a:endParaRPr lang="en-US" sz="1450" dirty="0"/>
          </a:p>
        </p:txBody>
      </p:sp>
      <p:sp>
        <p:nvSpPr>
          <p:cNvPr id="11" name="Shape 8"/>
          <p:cNvSpPr/>
          <p:nvPr/>
        </p:nvSpPr>
        <p:spPr>
          <a:xfrm>
            <a:off x="3154680" y="2331720"/>
            <a:ext cx="2514600" cy="777240"/>
          </a:xfrm>
          <a:prstGeom prst="roundRect">
            <a:avLst>
              <a:gd name="adj" fmla="val 11765"/>
            </a:avLst>
          </a:prstGeom>
          <a:solidFill>
            <a:srgbClr val="F2F2F2"/>
          </a:solidFill>
          <a:ln/>
        </p:spPr>
      </p:sp>
      <p:sp>
        <p:nvSpPr>
          <p:cNvPr id="12" name="Text 9"/>
          <p:cNvSpPr/>
          <p:nvPr/>
        </p:nvSpPr>
        <p:spPr>
          <a:xfrm>
            <a:off x="3410712" y="2386584"/>
            <a:ext cx="2002536" cy="6675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Vérifiable : on peut constater si je l’ai tenue.</a:t>
            </a:r>
            <a:endParaRPr lang="en-US" sz="1450" dirty="0"/>
          </a:p>
        </p:txBody>
      </p:sp>
      <p:sp>
        <p:nvSpPr>
          <p:cNvPr id="13" name="Shape 10"/>
          <p:cNvSpPr/>
          <p:nvPr/>
        </p:nvSpPr>
        <p:spPr>
          <a:xfrm>
            <a:off x="6035040" y="1783080"/>
            <a:ext cx="2651760" cy="1417320"/>
          </a:xfrm>
          <a:prstGeom prst="roundRect">
            <a:avLst>
              <a:gd name="adj" fmla="val 7742"/>
            </a:avLst>
          </a:prstGeom>
          <a:solidFill>
            <a:srgbClr val="F2F2F2"/>
          </a:solidFill>
          <a:ln/>
        </p:spPr>
      </p:sp>
      <p:pic>
        <p:nvPicPr>
          <p:cNvPr id="14" name="Image 1" descr="preencoded.png">    </p:cNvPr>
          <p:cNvPicPr>
            <a:picLocks noChangeAspect="1"/>
          </p:cNvPicPr>
          <p:nvPr/>
        </p:nvPicPr>
        <p:blipFill>
          <a:blip r:embed="rId2"/>
          <a:stretch>
            <a:fillRect/>
          </a:stretch>
        </p:blipFill>
        <p:spPr>
          <a:xfrm>
            <a:off x="6236208" y="2318004"/>
            <a:ext cx="347472" cy="347472"/>
          </a:xfrm>
          <a:prstGeom prst="rect">
            <a:avLst/>
          </a:prstGeom>
        </p:spPr>
      </p:pic>
      <p:sp>
        <p:nvSpPr>
          <p:cNvPr id="15" name="Text 11"/>
          <p:cNvSpPr/>
          <p:nvPr/>
        </p:nvSpPr>
        <p:spPr>
          <a:xfrm>
            <a:off x="6601968" y="1856232"/>
            <a:ext cx="199339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6:00</a:t>
            </a:r>
            <a:endParaRPr lang="en-US" sz="4000" dirty="0"/>
          </a:p>
        </p:txBody>
      </p:sp>
      <p:sp>
        <p:nvSpPr>
          <p:cNvPr id="16" name="Text 12"/>
          <p:cNvSpPr/>
          <p:nvPr/>
        </p:nvSpPr>
        <p:spPr>
          <a:xfrm>
            <a:off x="6035040" y="2871216"/>
            <a:ext cx="265176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7" name="Shape 13"/>
          <p:cNvSpPr/>
          <p:nvPr/>
        </p:nvSpPr>
        <p:spPr>
          <a:xfrm>
            <a:off x="457200" y="3337560"/>
            <a:ext cx="8138160" cy="731520"/>
          </a:xfrm>
          <a:prstGeom prst="roundRect">
            <a:avLst>
              <a:gd name="adj" fmla="val 12500"/>
            </a:avLst>
          </a:prstGeom>
          <a:solidFill>
            <a:srgbClr val="FBE4E4"/>
          </a:solidFill>
          <a:ln/>
        </p:spPr>
      </p:sp>
      <p:sp>
        <p:nvSpPr>
          <p:cNvPr id="18" name="Text 14"/>
          <p:cNvSpPr/>
          <p:nvPr/>
        </p:nvSpPr>
        <p:spPr>
          <a:xfrm>
            <a:off x="777240" y="3392424"/>
            <a:ext cx="7498080" cy="621792"/>
          </a:xfrm>
          <a:prstGeom prst="rect">
            <a:avLst/>
          </a:prstGeom>
          <a:noFill/>
          <a:ln/>
        </p:spPr>
        <p:txBody>
          <a:bodyPr wrap="square" lIns="0" tIns="0" rIns="0" bIns="0" rtlCol="0" anchor="ctr"/>
          <a:lstStyle/>
          <a:p>
            <a:pPr indent="0" marL="0">
              <a:buNone/>
            </a:pPr>
            <a:r>
              <a:rPr lang="en-US" sz="1650" b="1" dirty="0">
                <a:solidFill>
                  <a:srgbClr val="C00000"/>
                </a:solidFill>
                <a:latin typeface="Calibri" pitchFamily="34" charset="0"/>
                <a:ea typeface="Calibri" pitchFamily="34" charset="-122"/>
                <a:cs typeface="Calibri" pitchFamily="34" charset="-120"/>
              </a:rPr>
              <a:t>Pas de règle floue : « je ferai attention » ne compte pas.</a:t>
            </a:r>
            <a:endParaRPr lang="en-US" sz="1650" dirty="0"/>
          </a:p>
        </p:txBody>
      </p:sp>
      <p:sp>
        <p:nvSpPr>
          <p:cNvPr id="19" name="Text 15"/>
          <p:cNvSpPr/>
          <p:nvPr/>
        </p:nvSpPr>
        <p:spPr>
          <a:xfrm>
            <a:off x="457200" y="4206240"/>
            <a:ext cx="6949440" cy="292608"/>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Vos règles doivent viser vos deux voleurs d’attention.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Contrôle en binôme</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Binôme</a:t>
            </a:r>
            <a:endParaRPr lang="en-US" sz="1050" dirty="0"/>
          </a:p>
        </p:txBody>
      </p:sp>
      <p:sp>
        <p:nvSpPr>
          <p:cNvPr id="6" name="Text 3"/>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A1 · écran 12 / 13</a:t>
            </a:r>
            <a:endParaRPr lang="en-US" sz="900" dirty="0"/>
          </a:p>
        </p:txBody>
      </p:sp>
      <p:sp>
        <p:nvSpPr>
          <p:cNvPr id="7" name="Shape 4"/>
          <p:cNvSpPr/>
          <p:nvPr/>
        </p:nvSpPr>
        <p:spPr>
          <a:xfrm>
            <a:off x="457200" y="1371600"/>
            <a:ext cx="5212080" cy="731520"/>
          </a:xfrm>
          <a:prstGeom prst="roundRect">
            <a:avLst>
              <a:gd name="adj" fmla="val 12500"/>
            </a:avLst>
          </a:prstGeom>
          <a:solidFill>
            <a:srgbClr val="F2F2F2"/>
          </a:solidFill>
          <a:ln/>
        </p:spPr>
      </p:sp>
      <p:sp>
        <p:nvSpPr>
          <p:cNvPr id="8" name="Shape 5"/>
          <p:cNvSpPr/>
          <p:nvPr/>
        </p:nvSpPr>
        <p:spPr>
          <a:xfrm>
            <a:off x="658368" y="1563624"/>
            <a:ext cx="347472" cy="347472"/>
          </a:xfrm>
          <a:prstGeom prst="ellipse">
            <a:avLst/>
          </a:prstGeom>
          <a:solidFill>
            <a:srgbClr val="1F3864"/>
          </a:solidFill>
          <a:ln/>
        </p:spPr>
      </p:sp>
      <p:sp>
        <p:nvSpPr>
          <p:cNvPr id="9" name="Text 6"/>
          <p:cNvSpPr/>
          <p:nvPr/>
        </p:nvSpPr>
        <p:spPr>
          <a:xfrm>
            <a:off x="658368" y="1563624"/>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10" name="Text 7"/>
          <p:cNvSpPr/>
          <p:nvPr/>
        </p:nvSpPr>
        <p:spPr>
          <a:xfrm>
            <a:off x="1143000" y="1426464"/>
            <a:ext cx="4315968" cy="621792"/>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Tu peux vraiment la tenir dès ce soir ?</a:t>
            </a:r>
            <a:endParaRPr lang="en-US" sz="1600" dirty="0"/>
          </a:p>
        </p:txBody>
      </p:sp>
      <p:sp>
        <p:nvSpPr>
          <p:cNvPr id="11" name="Shape 8"/>
          <p:cNvSpPr/>
          <p:nvPr/>
        </p:nvSpPr>
        <p:spPr>
          <a:xfrm>
            <a:off x="457200" y="2240280"/>
            <a:ext cx="5212080" cy="731520"/>
          </a:xfrm>
          <a:prstGeom prst="roundRect">
            <a:avLst>
              <a:gd name="adj" fmla="val 12500"/>
            </a:avLst>
          </a:prstGeom>
          <a:solidFill>
            <a:srgbClr val="DEEAF6"/>
          </a:solidFill>
          <a:ln/>
        </p:spPr>
      </p:sp>
      <p:sp>
        <p:nvSpPr>
          <p:cNvPr id="12" name="Shape 9"/>
          <p:cNvSpPr/>
          <p:nvPr/>
        </p:nvSpPr>
        <p:spPr>
          <a:xfrm>
            <a:off x="658368" y="2432304"/>
            <a:ext cx="347472" cy="347472"/>
          </a:xfrm>
          <a:prstGeom prst="ellipse">
            <a:avLst/>
          </a:prstGeom>
          <a:solidFill>
            <a:srgbClr val="1F3864"/>
          </a:solidFill>
          <a:ln/>
        </p:spPr>
      </p:sp>
      <p:sp>
        <p:nvSpPr>
          <p:cNvPr id="13" name="Text 10"/>
          <p:cNvSpPr/>
          <p:nvPr/>
        </p:nvSpPr>
        <p:spPr>
          <a:xfrm>
            <a:off x="658368" y="2432304"/>
            <a:ext cx="347472"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1"/>
          <p:cNvSpPr/>
          <p:nvPr/>
        </p:nvSpPr>
        <p:spPr>
          <a:xfrm>
            <a:off x="1143000" y="2295144"/>
            <a:ext cx="4315968" cy="621792"/>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Comment on vérifie qu’elle a été tenue ?</a:t>
            </a:r>
            <a:endParaRPr lang="en-US" sz="1600" dirty="0"/>
          </a:p>
        </p:txBody>
      </p:sp>
      <p:sp>
        <p:nvSpPr>
          <p:cNvPr id="15" name="Shape 12"/>
          <p:cNvSpPr/>
          <p:nvPr/>
        </p:nvSpPr>
        <p:spPr>
          <a:xfrm>
            <a:off x="6035040" y="1783080"/>
            <a:ext cx="2651760" cy="1417320"/>
          </a:xfrm>
          <a:prstGeom prst="roundRect">
            <a:avLst>
              <a:gd name="adj" fmla="val 7742"/>
            </a:avLst>
          </a:prstGeom>
          <a:solidFill>
            <a:srgbClr val="F2F2F2"/>
          </a:solidFill>
          <a:ln/>
        </p:spPr>
      </p:sp>
      <p:pic>
        <p:nvPicPr>
          <p:cNvPr id="16" name="Image 1" descr="preencoded.png">    </p:cNvPr>
          <p:cNvPicPr>
            <a:picLocks noChangeAspect="1"/>
          </p:cNvPicPr>
          <p:nvPr/>
        </p:nvPicPr>
        <p:blipFill>
          <a:blip r:embed="rId2"/>
          <a:stretch>
            <a:fillRect/>
          </a:stretch>
        </p:blipFill>
        <p:spPr>
          <a:xfrm>
            <a:off x="6236208" y="2318004"/>
            <a:ext cx="347472" cy="347472"/>
          </a:xfrm>
          <a:prstGeom prst="rect">
            <a:avLst/>
          </a:prstGeom>
        </p:spPr>
      </p:pic>
      <p:sp>
        <p:nvSpPr>
          <p:cNvPr id="17" name="Text 13"/>
          <p:cNvSpPr/>
          <p:nvPr/>
        </p:nvSpPr>
        <p:spPr>
          <a:xfrm>
            <a:off x="6601968" y="1856232"/>
            <a:ext cx="199339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4:00</a:t>
            </a:r>
            <a:endParaRPr lang="en-US" sz="4000" dirty="0"/>
          </a:p>
        </p:txBody>
      </p:sp>
      <p:sp>
        <p:nvSpPr>
          <p:cNvPr id="18" name="Text 14"/>
          <p:cNvSpPr/>
          <p:nvPr/>
        </p:nvSpPr>
        <p:spPr>
          <a:xfrm>
            <a:off x="6035040" y="2871216"/>
            <a:ext cx="265176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9" name="Shape 15"/>
          <p:cNvSpPr/>
          <p:nvPr/>
        </p:nvSpPr>
        <p:spPr>
          <a:xfrm>
            <a:off x="457200" y="3246120"/>
            <a:ext cx="8138160" cy="868680"/>
          </a:xfrm>
          <a:prstGeom prst="roundRect">
            <a:avLst>
              <a:gd name="adj" fmla="val 10526"/>
            </a:avLst>
          </a:prstGeom>
          <a:solidFill>
            <a:srgbClr val="2E5395"/>
          </a:solidFill>
          <a:ln/>
        </p:spPr>
      </p:sp>
      <p:sp>
        <p:nvSpPr>
          <p:cNvPr id="20" name="Text 16"/>
          <p:cNvSpPr/>
          <p:nvPr/>
        </p:nvSpPr>
        <p:spPr>
          <a:xfrm>
            <a:off x="777240" y="3319272"/>
            <a:ext cx="7498080" cy="7223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Ajustez ce qui doit l’être, puis signez tous les deux : l’auteur et le témoin.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457200" y="320040"/>
            <a:ext cx="7223760" cy="5486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Trace écrite et engagement</a:t>
            </a:r>
            <a:endParaRPr lang="en-US" sz="2700" dirty="0"/>
          </a:p>
        </p:txBody>
      </p:sp>
      <p:sp>
        <p:nvSpPr>
          <p:cNvPr id="3" name="Text 1"/>
          <p:cNvSpPr/>
          <p:nvPr/>
        </p:nvSpPr>
        <p:spPr>
          <a:xfrm>
            <a:off x="457200" y="868680"/>
            <a:ext cx="7223760" cy="320040"/>
          </a:xfrm>
          <a:prstGeom prst="rect">
            <a:avLst/>
          </a:prstGeom>
          <a:noFill/>
          <a:ln/>
        </p:spPr>
        <p:txBody>
          <a:bodyPr wrap="square" lIns="0" tIns="0" rIns="0" bIns="0" rtlCol="0" anchor="ctr"/>
          <a:lstStyle/>
          <a:p>
            <a:pPr indent="0" marL="0">
              <a:buNone/>
            </a:pPr>
            <a:r>
              <a:rPr lang="en-US" sz="1500" i="1" dirty="0">
                <a:solidFill>
                  <a:srgbClr val="DEEAF6"/>
                </a:solidFill>
                <a:latin typeface="Calibri" pitchFamily="34" charset="0"/>
                <a:ea typeface="Calibri" pitchFamily="34" charset="-122"/>
                <a:cs typeface="Calibri" pitchFamily="34" charset="-120"/>
              </a:rPr>
              <a:t>Carnet de méthodes · page « Attention »</a:t>
            </a:r>
            <a:endParaRPr lang="en-US" sz="1500" dirty="0"/>
          </a:p>
        </p:txBody>
      </p:sp>
      <p:sp>
        <p:nvSpPr>
          <p:cNvPr id="4" name="Shape 2"/>
          <p:cNvSpPr/>
          <p:nvPr/>
        </p:nvSpPr>
        <p:spPr>
          <a:xfrm>
            <a:off x="457200" y="1417320"/>
            <a:ext cx="2560320" cy="731520"/>
          </a:xfrm>
          <a:prstGeom prst="roundRect">
            <a:avLst>
              <a:gd name="adj" fmla="val 17500"/>
            </a:avLst>
          </a:prstGeom>
          <a:solidFill>
            <a:srgbClr val="FFFFFF"/>
          </a:solidFill>
          <a:ln/>
        </p:spPr>
      </p:sp>
      <p:sp>
        <p:nvSpPr>
          <p:cNvPr id="5" name="Text 3"/>
          <p:cNvSpPr/>
          <p:nvPr/>
        </p:nvSpPr>
        <p:spPr>
          <a:xfrm>
            <a:off x="566928" y="1417320"/>
            <a:ext cx="2340864" cy="731520"/>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Mon écart mesuré</a:t>
            </a:r>
            <a:endParaRPr lang="en-US" sz="1500" dirty="0"/>
          </a:p>
        </p:txBody>
      </p:sp>
      <p:sp>
        <p:nvSpPr>
          <p:cNvPr id="6" name="Text 4"/>
          <p:cNvSpPr/>
          <p:nvPr/>
        </p:nvSpPr>
        <p:spPr>
          <a:xfrm>
            <a:off x="3017520" y="1417320"/>
            <a:ext cx="228600" cy="731520"/>
          </a:xfrm>
          <a:prstGeom prst="rect">
            <a:avLst/>
          </a:prstGeom>
          <a:noFill/>
          <a:ln/>
        </p:spPr>
        <p:txBody>
          <a:bodyPr wrap="square" lIns="0" tIns="0" rIns="0" bIns="0" rtlCol="0" anchor="ctr"/>
          <a:lstStyle/>
          <a:p>
            <a:pPr algn="ctr" indent="0" marL="0">
              <a:buNone/>
            </a:pPr>
            <a:r>
              <a:rPr lang="en-US" sz="1800" b="1" dirty="0">
                <a:solidFill>
                  <a:srgbClr val="DEEAF6"/>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3246120" y="1417320"/>
            <a:ext cx="2560320" cy="731520"/>
          </a:xfrm>
          <a:prstGeom prst="roundRect">
            <a:avLst>
              <a:gd name="adj" fmla="val 17500"/>
            </a:avLst>
          </a:prstGeom>
          <a:solidFill>
            <a:srgbClr val="FFFFFF"/>
          </a:solidFill>
          <a:ln/>
        </p:spPr>
      </p:sp>
      <p:sp>
        <p:nvSpPr>
          <p:cNvPr id="8" name="Text 6"/>
          <p:cNvSpPr/>
          <p:nvPr/>
        </p:nvSpPr>
        <p:spPr>
          <a:xfrm>
            <a:off x="3355848" y="1417320"/>
            <a:ext cx="2340864" cy="731520"/>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Mes 3 règles signées</a:t>
            </a:r>
            <a:endParaRPr lang="en-US" sz="1500" dirty="0"/>
          </a:p>
        </p:txBody>
      </p:sp>
      <p:sp>
        <p:nvSpPr>
          <p:cNvPr id="9" name="Text 7"/>
          <p:cNvSpPr/>
          <p:nvPr/>
        </p:nvSpPr>
        <p:spPr>
          <a:xfrm>
            <a:off x="5806440" y="1417320"/>
            <a:ext cx="228600" cy="731520"/>
          </a:xfrm>
          <a:prstGeom prst="rect">
            <a:avLst/>
          </a:prstGeom>
          <a:noFill/>
          <a:ln/>
        </p:spPr>
        <p:txBody>
          <a:bodyPr wrap="square" lIns="0" tIns="0" rIns="0" bIns="0" rtlCol="0" anchor="ctr"/>
          <a:lstStyle/>
          <a:p>
            <a:pPr algn="ctr" indent="0" marL="0">
              <a:buNone/>
            </a:pPr>
            <a:r>
              <a:rPr lang="en-US" sz="1800" b="1" dirty="0">
                <a:solidFill>
                  <a:srgbClr val="DEEAF6"/>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6035040" y="1417320"/>
            <a:ext cx="2560320" cy="731520"/>
          </a:xfrm>
          <a:prstGeom prst="roundRect">
            <a:avLst>
              <a:gd name="adj" fmla="val 17500"/>
            </a:avLst>
          </a:prstGeom>
          <a:solidFill>
            <a:srgbClr val="FFFFFF"/>
          </a:solidFill>
          <a:ln/>
        </p:spPr>
      </p:sp>
      <p:sp>
        <p:nvSpPr>
          <p:cNvPr id="11" name="Text 9"/>
          <p:cNvSpPr/>
          <p:nvPr/>
        </p:nvSpPr>
        <p:spPr>
          <a:xfrm>
            <a:off x="6144768" y="1417320"/>
            <a:ext cx="2340864" cy="731520"/>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Ma grille 7 jours</a:t>
            </a:r>
            <a:endParaRPr lang="en-US" sz="1500" dirty="0"/>
          </a:p>
        </p:txBody>
      </p:sp>
      <p:sp>
        <p:nvSpPr>
          <p:cNvPr id="12" name="Shape 10"/>
          <p:cNvSpPr/>
          <p:nvPr/>
        </p:nvSpPr>
        <p:spPr>
          <a:xfrm>
            <a:off x="457200" y="2423160"/>
            <a:ext cx="8138160" cy="1691640"/>
          </a:xfrm>
          <a:prstGeom prst="roundRect">
            <a:avLst>
              <a:gd name="adj" fmla="val 5405"/>
            </a:avLst>
          </a:prstGeom>
          <a:solidFill>
            <a:srgbClr val="2E5395"/>
          </a:solidFill>
          <a:ln/>
        </p:spPr>
      </p:sp>
      <p:sp>
        <p:nvSpPr>
          <p:cNvPr id="13" name="Text 11"/>
          <p:cNvSpPr/>
          <p:nvPr/>
        </p:nvSpPr>
        <p:spPr>
          <a:xfrm>
            <a:off x="777240" y="2542032"/>
            <a:ext cx="7498080" cy="1463040"/>
          </a:xfrm>
          <a:prstGeom prst="rect">
            <a:avLst/>
          </a:prstGeom>
          <a:noFill/>
          <a:ln/>
        </p:spPr>
        <p:txBody>
          <a:bodyPr wrap="square" lIns="0" tIns="0" rIns="0" bIns="0" rtlCol="0" anchor="ctr"/>
          <a:lstStyle/>
          <a:p>
            <a:pPr indent="0" marL="0">
              <a:spcAft>
                <a:spcPts val="600"/>
              </a:spcAft>
              <a:buNone/>
            </a:pPr>
            <a:r>
              <a:rPr lang="en-US" sz="1400" b="1" spc="150" kern="0" dirty="0">
                <a:solidFill>
                  <a:srgbClr val="FFFFFF"/>
                </a:solidFill>
                <a:latin typeface="Calibri" pitchFamily="34" charset="0"/>
                <a:ea typeface="Calibri" pitchFamily="34" charset="-122"/>
                <a:cs typeface="Calibri" pitchFamily="34" charset="-120"/>
              </a:rPr>
              <a:t>MON ENGAGEMENT 7 JOURS</a:t>
            </a:r>
            <a:endParaRPr lang="en-US" sz="14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J’applique mon protocole chaque soir de travail.</a:t>
            </a:r>
            <a:endParaRPr lang="en-US" sz="14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Je coche ma grille chaque soir, honnêtement.</a:t>
            </a:r>
            <a:endParaRPr lang="en-US" sz="14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Objectif : au moins 5 jours sur 7.</a:t>
            </a:r>
            <a:endParaRPr lang="en-US" sz="1400" dirty="0"/>
          </a:p>
        </p:txBody>
      </p:sp>
      <p:sp>
        <p:nvSpPr>
          <p:cNvPr id="14" name="Text 12"/>
          <p:cNvSpPr/>
          <p:nvPr/>
        </p:nvSpPr>
        <p:spPr>
          <a:xfrm>
            <a:off x="457200" y="4251960"/>
            <a:ext cx="8138160" cy="320040"/>
          </a:xfrm>
          <a:prstGeom prst="rect">
            <a:avLst/>
          </a:prstGeom>
          <a:noFill/>
          <a:ln/>
        </p:spPr>
        <p:txBody>
          <a:bodyPr wrap="square" lIns="0" tIns="0" rIns="0" bIns="0" rtlCol="0" anchor="ctr"/>
          <a:lstStyle/>
          <a:p>
            <a:pPr algn="ctr" indent="0" marL="0">
              <a:buNone/>
            </a:pPr>
            <a:r>
              <a:rPr lang="en-US" sz="1500" i="1" dirty="0">
                <a:solidFill>
                  <a:srgbClr val="DEEAF6"/>
                </a:solidFill>
                <a:latin typeface="Calibri" pitchFamily="34" charset="0"/>
                <a:ea typeface="Calibri" pitchFamily="34" charset="-122"/>
                <a:cs typeface="Calibri" pitchFamily="34" charset="-120"/>
              </a:rPr>
              <a:t>Bilan à la prochaine vie de classe : la météo du transfert.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 Mon attention et mes ecrans - 3e</dc:title>
  <dc:subject>PptxGenJS Presentation</dc:subject>
  <dc:creator>Institut Stanislas de Cannes</dc:creator>
  <cp:lastModifiedBy>Institut Stanislas de Cannes</cp:lastModifiedBy>
  <cp:revision>1</cp:revision>
  <dcterms:created xsi:type="dcterms:W3CDTF">2026-07-18T10:40:44Z</dcterms:created>
  <dcterms:modified xsi:type="dcterms:W3CDTF">2026-07-18T10:40:44Z</dcterms:modified>
</cp:coreProperties>
</file>