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0–7 min · Lancement.
Verbatim : « Quand on vous rend une copie, que faites-vous, exactement ? Soyez honnêtes : qui regarde la note, compare avec le voisin, et range la copie ? Qui relit les annotations ? Qui reprend les questions ratées ? »
Comptage rapide à main levée. Ne pas moraliser : constater.
Vigilance : ne jamais annoncer la typologie avant l’écran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0–7 min · Accroche et cadrage.
Verbatim : « C’est le réflexe note-puis-oubli. Une copie corrigée contient deux choses : une note, et une information — où vous avez perdu des points, et pourquoi. Jeter cette information, c’est garantir de perdre les mêmes points au prochain DS. »
Puis la règle, non négociable : « Si vous pensez qu’un point a été mal compté, c’est une conversation à avoir avec le professeur concerné, en dehors de cette heure. »
Vigilance : rappeler cette règle à la première contestation, sans discuter.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7–15 min · Présentation des familles, 2 minutes maximum.
Verbatim : « Tout point perdu, dans n’importe quelle matière, tombe dans l’une de ces quatre familles. » Donner un exemple par famille, pas plus.
Vigilance : ne pas dépasser 2 minutes d’exposé — ce sont les extraits des écrans suivants qui font comprendre.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7–15 min · Classement collectif, vote à main levée pour chaque extrait, puis vous tranchez en une phrase.
Corrigé : 1 = CONSIGNE (équation ≠ inéquation) · 2 = CONNAISSANCE (date non sue, 1204) · 3 = MÉTHODE (citer puis interpréter, la démarche manque).
Vigilance : justifier chaque réponse, ne pas laisser un vote sans arbitrage.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7–15 min · Fin du classement collectif.
Corrigé : 4 = INATTENTION (sait faire, point perdu par étourderie) · 5 = CONNAISSANCE (comparaison et métaphore confondues).
Verbatim question-test : « L’inattention qui revient trois fois sur la même notion, c’est un cours mal su qui se déguise. »
Vigilance : cette question-test servira pendant tout l’atelier ; la faire répéter.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15–35 min · Lancement de l’atelier.
Verbatim : « Sortez vos deux copies et la fiche atelier. Pour chaque point perdu : surlignez l’endroit exact, reportez-le dans le tableau — question, points perdus, famille — puis comptez par famille. Copie après copie, question par question. Vous avez 20 minutes. »
Distribuer immédiatement les copies de secours (support 3 : maths · support 4 : histoire-géographie).
Vigilance : personne ne commence sans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15–35 min · Écran laissé affiché pendant tout l’atelier.
Circuler et aider à qualifier honnêtement. Cas le plus fréquent : tout classer en « inattention ». Réponse systématique : « Tu saurais répondre juste demain, seul ? Montre-moi : refais-le maintenant. »
Arbitrages : hors-sujet malgré un cours su → consigne ; réponse juste non justifiée alors que c’était demandé → méthode ; question blanche par manque de temps → méthode ; question blanche car cours non su → connaissance.
Si l’atelier déborde : annoncer à la minute 25 qu’une seule copie sera analysée à fond.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35–45 min · Diagnostic individuel, 5 minutes.
Verbatim : « Regardez vos totaux par famille. Votre famille dominante, c’est celle qui vous coûte le plus de points — pas forcément la plus fréquente. Écrivez la phrase complète sur la fiche. Le “donc je” se choisit dans la banque de parades. »
Rappel des parades : connaissance → fiche de récupération et auto-interrogation (B2) ; méthode → exercices types refaits seul à J–3 ; consigne → « on me demande de… » écrit avant de répondre ; inattention → checklist « avant de rendre ».
Vigilance : une parade non datable n’est pas une parade.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35–45 min · Contrôle croisé, 5 minutes.
Chacun lit le diagnostic de l’autre et pose les deux questions affichées. Refuser les parades vagues.
Vigilance : le binôme vérifie la cohérence avec les totaux, il ne commente ni les notes ni le niveau de la copie.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45–52 min · Mise en commun.
Comptage main levée famille par famille ; tracer les 4 barres au tableau au fur et à mesure et reporter les effectifs sur cet écran si vous animez sur ordinateur.
Anonymat strict : on compte des mains, on ne relève ni noms ni notes.
Si le temps manque : cette phase est la première à supprimer, reportée à la météo du transfert.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52–55 min · Trace écrite et engagement — incompressibles.
Verbatim : « Remplissez la trace écrite pour le carnet, page du pilier Retour d’information : vos 3 erreurs les plus récurrentes, leur famille, votre parade. L’engagement des 7 prochains jours : à la prochaine copie rendue, vous refaites exactement ce qu’on a fait aujourd’hui, en moins de 10 minutes. »
Météo du transfert à la prochaine vie de classe (3–5 min) : main levée « qui a analysé la dernière copie rendue ? », deux témoignages (un obstacle, une astuce), reformulation de l’engagement.
Suivi propre à E1 : après le DS suivant, 3 minutes — « votre famille dominante a-t-elle bougé ?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200" kern="0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E1 · Seconde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Reprendre ses copies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L’erreur est une information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417320" y="2880360"/>
            <a:ext cx="6309360" cy="1051560"/>
          </a:xfrm>
          <a:prstGeom prst="roundRect">
            <a:avLst>
              <a:gd name="adj" fmla="val 8696"/>
            </a:avLst>
          </a:prstGeom>
          <a:solidFill>
            <a:srgbClr val="2E5395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297180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3 · RETOUR D’INFORMATION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L’erreur est une information, pas une punition 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Dispositif « Apprendre à apprendre » · Institut Stanislas de Cannes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copie rendue, vous en faites quoi 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entière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· écran 2 / 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8229600" cy="1783080"/>
          </a:xfrm>
          <a:prstGeom prst="roundRect">
            <a:avLst>
              <a:gd name="adj" fmla="val 5128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371600"/>
            <a:ext cx="7589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regarde la note, je compare, je range.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relis les annotations du correcteur.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reprends les questions que j’ai ratées.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457200" y="315468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DEEAF6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329184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spc="100" kern="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règle de la séance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analyse. On ne renégocie pas les notes.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point perdu tient dans 4 familles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entière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· écran 3 / 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/>
        </p:spPr>
      </p:sp>
      <p:sp>
        <p:nvSpPr>
          <p:cNvPr id="8" name="Shape 5"/>
          <p:cNvSpPr/>
          <p:nvPr/>
        </p:nvSpPr>
        <p:spPr>
          <a:xfrm>
            <a:off x="658368" y="1389888"/>
            <a:ext cx="420624" cy="420624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1389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88720" y="1371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CONNAISSANCE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85800" y="190195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cours n’était pas su : définition, formule, date, notion fausse.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663440" y="11887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DEEAF6"/>
          </a:solidFill>
          <a:ln/>
        </p:spPr>
      </p:sp>
      <p:sp>
        <p:nvSpPr>
          <p:cNvPr id="13" name="Shape 10"/>
          <p:cNvSpPr/>
          <p:nvPr/>
        </p:nvSpPr>
        <p:spPr>
          <a:xfrm>
            <a:off x="4864608" y="1389888"/>
            <a:ext cx="420624" cy="420624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4" name="Text 11"/>
          <p:cNvSpPr/>
          <p:nvPr/>
        </p:nvSpPr>
        <p:spPr>
          <a:xfrm>
            <a:off x="4864608" y="1389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394960" y="1371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892040" y="190195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cours était su, mais je n’ai pas su m’en servir.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57200" y="292608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DEEAF6"/>
          </a:solidFill>
          <a:ln/>
        </p:spPr>
      </p:sp>
      <p:sp>
        <p:nvSpPr>
          <p:cNvPr id="18" name="Shape 15"/>
          <p:cNvSpPr/>
          <p:nvPr/>
        </p:nvSpPr>
        <p:spPr>
          <a:xfrm>
            <a:off x="658368" y="3127248"/>
            <a:ext cx="420624" cy="420624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9" name="Text 16"/>
          <p:cNvSpPr/>
          <p:nvPr/>
        </p:nvSpPr>
        <p:spPr>
          <a:xfrm>
            <a:off x="658368" y="3127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88720" y="3108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85800" y="363931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n’ai pas répondu à la question posée : hors-sujet, question à moitié traitée.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663440" y="292608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/>
        </p:spPr>
      </p:sp>
      <p:sp>
        <p:nvSpPr>
          <p:cNvPr id="23" name="Shape 20"/>
          <p:cNvSpPr/>
          <p:nvPr/>
        </p:nvSpPr>
        <p:spPr>
          <a:xfrm>
            <a:off x="4864608" y="3127248"/>
            <a:ext cx="420624" cy="420624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4" name="Text 21"/>
          <p:cNvSpPr/>
          <p:nvPr/>
        </p:nvSpPr>
        <p:spPr>
          <a:xfrm>
            <a:off x="4864608" y="3127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394960" y="3108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INATTENTION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892040" y="363931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savais faire : signe perdu, unité oubliée, question sautée.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vous : dans quelle famille 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entière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· écran 4 / 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2F2F2"/>
          </a:solidFill>
          <a:ln/>
        </p:spPr>
      </p:sp>
      <p:sp>
        <p:nvSpPr>
          <p:cNvPr id="8" name="Shape 5"/>
          <p:cNvSpPr/>
          <p:nvPr/>
        </p:nvSpPr>
        <p:spPr>
          <a:xfrm>
            <a:off x="685800" y="1545336"/>
            <a:ext cx="384048" cy="3840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1545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34440" y="1353312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Maths · « Résoudre l’inéquation 2x − 6 &gt; 0 »</a:t>
            </a:r>
            <a:endParaRPr lang="en-US" sz="15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L’élève résout l’équation 2x − 6 = 0.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457200" y="237744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DEEAF6"/>
          </a:solidFill>
          <a:ln/>
        </p:spPr>
      </p:sp>
      <p:sp>
        <p:nvSpPr>
          <p:cNvPr id="12" name="Shape 9"/>
          <p:cNvSpPr/>
          <p:nvPr/>
        </p:nvSpPr>
        <p:spPr>
          <a:xfrm>
            <a:off x="685800" y="2688336"/>
            <a:ext cx="384048" cy="3840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234440" y="2496312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Histoire · « Datez la prise de Constantinople »</a:t>
            </a:r>
            <a:endParaRPr lang="en-US" sz="15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: 1304.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457200" y="352044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2F2F2"/>
          </a:solidFill>
          <a:ln/>
        </p:spPr>
      </p:sp>
      <p:sp>
        <p:nvSpPr>
          <p:cNvPr id="16" name="Shape 13"/>
          <p:cNvSpPr/>
          <p:nvPr/>
        </p:nvSpPr>
        <p:spPr>
          <a:xfrm>
            <a:off x="685800" y="3831336"/>
            <a:ext cx="384048" cy="3840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234440" y="3639312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SVT · « Montrez, à partir du document, que… »</a:t>
            </a:r>
            <a:endParaRPr lang="en-US" sz="15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juste, aucune donnée du document citée.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vous : dans quelle famille 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entière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· écran 5 / 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/>
        </p:spPr>
      </p:sp>
      <p:sp>
        <p:nvSpPr>
          <p:cNvPr id="8" name="Shape 5"/>
          <p:cNvSpPr/>
          <p:nvPr/>
        </p:nvSpPr>
        <p:spPr>
          <a:xfrm>
            <a:off x="685800" y="1499616"/>
            <a:ext cx="384048" cy="3840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1499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34440" y="132588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Physique-chimie · calcul juste, résultat « 12 »</a:t>
            </a:r>
            <a:endParaRPr lang="en-US" sz="15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: « unité ! − 0,5 ».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457200" y="228600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/>
        </p:spPr>
      </p:sp>
      <p:sp>
        <p:nvSpPr>
          <p:cNvPr id="12" name="Shape 9"/>
          <p:cNvSpPr/>
          <p:nvPr/>
        </p:nvSpPr>
        <p:spPr>
          <a:xfrm>
            <a:off x="685800" y="2551176"/>
            <a:ext cx="384048" cy="3840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2551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234440" y="23774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Français · « comme un roc »</a:t>
            </a:r>
            <a:endParaRPr lang="en-US" sz="15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Identifié comme métaphore.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457200" y="3429000"/>
            <a:ext cx="8229600" cy="1234440"/>
          </a:xfrm>
          <a:prstGeom prst="roundRect">
            <a:avLst>
              <a:gd name="adj" fmla="val 7407"/>
            </a:avLst>
          </a:prstGeom>
          <a:solidFill>
            <a:srgbClr val="DEEAF6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3520440"/>
            <a:ext cx="7589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spc="100" kern="0" dirty="0">
                <a:solidFill>
                  <a:srgbClr val="2E5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hésitez ? La question-test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Si on me reposait la même question demain, seul, est-ce que je répondrais juste ? »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 → inattention.   Non → connaissance ou méthode.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: vos copies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· écran 6 / 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2F2F2"/>
          </a:solidFill>
          <a:ln/>
        </p:spPr>
      </p:sp>
      <p:sp>
        <p:nvSpPr>
          <p:cNvPr id="8" name="Shape 5"/>
          <p:cNvSpPr/>
          <p:nvPr/>
        </p:nvSpPr>
        <p:spPr>
          <a:xfrm>
            <a:off x="658368" y="1481328"/>
            <a:ext cx="384048" cy="3840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07008" y="130759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Surligner </a:t>
            </a:r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l’endroit exact du point perdu, sur la copie.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57200" y="224028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DEEAF6"/>
          </a:solidFill>
          <a:ln/>
        </p:spPr>
      </p:sp>
      <p:sp>
        <p:nvSpPr>
          <p:cNvPr id="12" name="Shape 9"/>
          <p:cNvSpPr/>
          <p:nvPr/>
        </p:nvSpPr>
        <p:spPr>
          <a:xfrm>
            <a:off x="658368" y="2487168"/>
            <a:ext cx="384048" cy="3840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207008" y="231343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Classer </a:t>
            </a:r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point perdu : C / M / CO / I, sur la fiche.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57200" y="324612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2F2F2"/>
          </a:solidFill>
          <a:ln/>
        </p:spPr>
      </p:sp>
      <p:sp>
        <p:nvSpPr>
          <p:cNvPr id="16" name="Shape 13"/>
          <p:cNvSpPr/>
          <p:nvPr/>
        </p:nvSpPr>
        <p:spPr>
          <a:xfrm>
            <a:off x="658368" y="3493008"/>
            <a:ext cx="384048" cy="3840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207008" y="331927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Compter </a:t>
            </a:r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points perdus, famille par famille.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035040" y="178308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F2F2F2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2318004"/>
            <a:ext cx="347472" cy="34747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601968" y="1856232"/>
            <a:ext cx="199339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20:00</a:t>
            </a:r>
            <a:endParaRPr lang="en-US" sz="4000" dirty="0"/>
          </a:p>
        </p:txBody>
      </p:sp>
      <p:sp>
        <p:nvSpPr>
          <p:cNvPr id="22" name="Text 18"/>
          <p:cNvSpPr/>
          <p:nvPr/>
        </p:nvSpPr>
        <p:spPr>
          <a:xfrm>
            <a:off x="6035040" y="28712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457200" y="411480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DEEAF6"/>
          </a:solidFill>
          <a:ln/>
        </p:spPr>
      </p:sp>
      <p:sp>
        <p:nvSpPr>
          <p:cNvPr id="24" name="Text 20"/>
          <p:cNvSpPr/>
          <p:nvPr/>
        </p:nvSpPr>
        <p:spPr>
          <a:xfrm>
            <a:off x="731520" y="4160520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copie aujourd’hui ? Prenez une copie d’entraînement au bureau : le geste est le même.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en cours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· écran 7 / 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37944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4128" y="1399032"/>
            <a:ext cx="20848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20:00</a:t>
            </a:r>
            <a:endParaRPr lang="en-US" sz="4000" dirty="0"/>
          </a:p>
        </p:txBody>
      </p:sp>
      <p:sp>
        <p:nvSpPr>
          <p:cNvPr id="10" name="Text 6"/>
          <p:cNvSpPr/>
          <p:nvPr/>
        </p:nvSpPr>
        <p:spPr>
          <a:xfrm>
            <a:off x="457200" y="23682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57200" y="297180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DEEAF6"/>
          </a:solidFill>
          <a:ln/>
        </p:spPr>
      </p:sp>
      <p:sp>
        <p:nvSpPr>
          <p:cNvPr id="12" name="Text 8"/>
          <p:cNvSpPr/>
          <p:nvPr/>
        </p:nvSpPr>
        <p:spPr>
          <a:xfrm>
            <a:off x="640080" y="30632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spc="100" kern="0" dirty="0">
                <a:solidFill>
                  <a:srgbClr val="2E5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question-test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Demain, seul : je répondrais juste ? »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 → I.   Non → C ou M.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3383280" y="1325880"/>
            <a:ext cx="5303520" cy="731520"/>
          </a:xfrm>
          <a:prstGeom prst="roundRect">
            <a:avLst>
              <a:gd name="adj" fmla="val 12500"/>
            </a:avLst>
          </a:prstGeom>
          <a:solidFill>
            <a:srgbClr val="F2F2F2"/>
          </a:solidFill>
          <a:ln/>
        </p:spPr>
      </p:sp>
      <p:sp>
        <p:nvSpPr>
          <p:cNvPr id="14" name="Shape 10"/>
          <p:cNvSpPr/>
          <p:nvPr/>
        </p:nvSpPr>
        <p:spPr>
          <a:xfrm>
            <a:off x="3566160" y="1499616"/>
            <a:ext cx="384048" cy="3840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5" name="Text 11"/>
          <p:cNvSpPr/>
          <p:nvPr/>
        </p:nvSpPr>
        <p:spPr>
          <a:xfrm>
            <a:off x="3566160" y="1499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114800" y="137160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CONNAISSANCE — le cours n’était pas su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3383280" y="2148840"/>
            <a:ext cx="5303520" cy="731520"/>
          </a:xfrm>
          <a:prstGeom prst="roundRect">
            <a:avLst>
              <a:gd name="adj" fmla="val 12500"/>
            </a:avLst>
          </a:prstGeom>
          <a:solidFill>
            <a:srgbClr val="DEEAF6"/>
          </a:solidFill>
          <a:ln/>
        </p:spPr>
      </p:sp>
      <p:sp>
        <p:nvSpPr>
          <p:cNvPr id="18" name="Shape 14"/>
          <p:cNvSpPr/>
          <p:nvPr/>
        </p:nvSpPr>
        <p:spPr>
          <a:xfrm>
            <a:off x="3566160" y="2322576"/>
            <a:ext cx="384048" cy="3840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9" name="Text 15"/>
          <p:cNvSpPr/>
          <p:nvPr/>
        </p:nvSpPr>
        <p:spPr>
          <a:xfrm>
            <a:off x="3566160" y="2322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4114800" y="219456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— su, mais mal utilisé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3383280" y="2971800"/>
            <a:ext cx="5303520" cy="731520"/>
          </a:xfrm>
          <a:prstGeom prst="roundRect">
            <a:avLst>
              <a:gd name="adj" fmla="val 12500"/>
            </a:avLst>
          </a:prstGeom>
          <a:solidFill>
            <a:srgbClr val="F2F2F2"/>
          </a:solidFill>
          <a:ln/>
        </p:spPr>
      </p:sp>
      <p:sp>
        <p:nvSpPr>
          <p:cNvPr id="22" name="Shape 18"/>
          <p:cNvSpPr/>
          <p:nvPr/>
        </p:nvSpPr>
        <p:spPr>
          <a:xfrm>
            <a:off x="3566160" y="3145536"/>
            <a:ext cx="384048" cy="3840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3" name="Text 19"/>
          <p:cNvSpPr/>
          <p:nvPr/>
        </p:nvSpPr>
        <p:spPr>
          <a:xfrm>
            <a:off x="3566160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114800" y="301752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CONSIGNE — la question posée n’a pas été traitée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3383280" y="3794760"/>
            <a:ext cx="5303520" cy="731520"/>
          </a:xfrm>
          <a:prstGeom prst="roundRect">
            <a:avLst>
              <a:gd name="adj" fmla="val 12500"/>
            </a:avLst>
          </a:prstGeom>
          <a:solidFill>
            <a:srgbClr val="DEEAF6"/>
          </a:solidFill>
          <a:ln/>
        </p:spPr>
      </p:sp>
      <p:sp>
        <p:nvSpPr>
          <p:cNvPr id="26" name="Shape 22"/>
          <p:cNvSpPr/>
          <p:nvPr/>
        </p:nvSpPr>
        <p:spPr>
          <a:xfrm>
            <a:off x="3566160" y="3968496"/>
            <a:ext cx="384048" cy="3840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7" name="Text 23"/>
          <p:cNvSpPr/>
          <p:nvPr/>
        </p:nvSpPr>
        <p:spPr>
          <a:xfrm>
            <a:off x="3566160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500" dirty="0"/>
          </a:p>
        </p:txBody>
      </p:sp>
      <p:sp>
        <p:nvSpPr>
          <p:cNvPr id="28" name="Text 24"/>
          <p:cNvSpPr/>
          <p:nvPr/>
        </p:nvSpPr>
        <p:spPr>
          <a:xfrm>
            <a:off x="4114800" y="384048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INATTENTION — su, mais perdu par étourderie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diagnostic, ma parade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· écran 8 / 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DEEAF6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3716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famille dominante est…</a:t>
            </a:r>
            <a:endParaRPr lang="en-US" sz="2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donc je…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035040" y="1280160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F2F2F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74650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01968" y="1353312"/>
            <a:ext cx="19933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5:00</a:t>
            </a:r>
            <a:endParaRPr lang="en-US" sz="4000" dirty="0"/>
          </a:p>
        </p:txBody>
      </p:sp>
      <p:sp>
        <p:nvSpPr>
          <p:cNvPr id="12" name="Text 8"/>
          <p:cNvSpPr/>
          <p:nvPr/>
        </p:nvSpPr>
        <p:spPr>
          <a:xfrm>
            <a:off x="6035040" y="22311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57200" y="27889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2F2F2"/>
          </a:solidFill>
          <a:ln/>
        </p:spPr>
      </p:sp>
      <p:sp>
        <p:nvSpPr>
          <p:cNvPr id="14" name="Text 10"/>
          <p:cNvSpPr/>
          <p:nvPr/>
        </p:nvSpPr>
        <p:spPr>
          <a:xfrm>
            <a:off x="777240" y="288036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action, choisie dans la banque de parades : précise, datable, faisable dès le prochain DS.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457200" y="393192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DEEAF6"/>
          </a:solidFill>
          <a:ln/>
        </p:spPr>
      </p:sp>
      <p:sp>
        <p:nvSpPr>
          <p:cNvPr id="16" name="Text 12"/>
          <p:cNvSpPr/>
          <p:nvPr/>
        </p:nvSpPr>
        <p:spPr>
          <a:xfrm>
            <a:off x="777240" y="4005072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comptent pas comme parades : </a:t>
            </a:r>
            <a:pPr indent="0" marL="0">
              <a:buNone/>
            </a:pPr>
            <a:r>
              <a:rPr lang="en-US" sz="15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je ferai plus attention », « je réviserai plus ».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en binôme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Binôme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· écran 9 / 11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0972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Échangez vos fiches. Deux questions, pas une de plus.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57200" y="164592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/>
        </p:spPr>
      </p:sp>
      <p:sp>
        <p:nvSpPr>
          <p:cNvPr id="9" name="Shape 6"/>
          <p:cNvSpPr/>
          <p:nvPr/>
        </p:nvSpPr>
        <p:spPr>
          <a:xfrm>
            <a:off x="658368" y="1911096"/>
            <a:ext cx="384048" cy="3840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0" name="Text 7"/>
          <p:cNvSpPr/>
          <p:nvPr/>
        </p:nvSpPr>
        <p:spPr>
          <a:xfrm>
            <a:off x="658368" y="1911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207008" y="171907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famille dominante correspond-elle vraiment à tes totaux ?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457200" y="269748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/>
        </p:spPr>
      </p:sp>
      <p:sp>
        <p:nvSpPr>
          <p:cNvPr id="13" name="Shape 10"/>
          <p:cNvSpPr/>
          <p:nvPr/>
        </p:nvSpPr>
        <p:spPr>
          <a:xfrm>
            <a:off x="658368" y="2962656"/>
            <a:ext cx="384048" cy="3840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4" name="Text 11"/>
          <p:cNvSpPr/>
          <p:nvPr/>
        </p:nvSpPr>
        <p:spPr>
          <a:xfrm>
            <a:off x="658368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207008" y="277063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parade est faisable au prochain DS — quand, concrètement ?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6035040" y="1783080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F2F2F2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2249424"/>
            <a:ext cx="347472" cy="34747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601968" y="1856232"/>
            <a:ext cx="19933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5:00</a:t>
            </a:r>
            <a:endParaRPr lang="en-US" sz="4000" dirty="0"/>
          </a:p>
        </p:txBody>
      </p:sp>
      <p:sp>
        <p:nvSpPr>
          <p:cNvPr id="19" name="Text 15"/>
          <p:cNvSpPr/>
          <p:nvPr/>
        </p:nvSpPr>
        <p:spPr>
          <a:xfrm>
            <a:off x="6035040" y="27340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DEEAF6"/>
          </a:solidFill>
          <a:ln/>
        </p:spPr>
      </p:sp>
      <p:sp>
        <p:nvSpPr>
          <p:cNvPr id="21" name="Text 17"/>
          <p:cNvSpPr/>
          <p:nvPr/>
        </p:nvSpPr>
        <p:spPr>
          <a:xfrm>
            <a:off x="777240" y="3913632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réponse est « non » ? On reformule avant de recopier au carnet.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L’histogramme de la classe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entière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· écran 10 / 11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0972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levée, personne n’est nommé : quelle est votre famille dominante ?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57200" y="1645920"/>
            <a:ext cx="1901952" cy="1691640"/>
          </a:xfrm>
          <a:prstGeom prst="roundRect">
            <a:avLst>
              <a:gd name="adj" fmla="val 5405"/>
            </a:avLst>
          </a:prstGeom>
          <a:solidFill>
            <a:srgbClr val="F2F2F2"/>
          </a:solidFill>
          <a:ln/>
        </p:spPr>
      </p:sp>
      <p:sp>
        <p:nvSpPr>
          <p:cNvPr id="9" name="Shape 6"/>
          <p:cNvSpPr/>
          <p:nvPr/>
        </p:nvSpPr>
        <p:spPr>
          <a:xfrm>
            <a:off x="1216152" y="1810512"/>
            <a:ext cx="384048" cy="3840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0" name="Text 7"/>
          <p:cNvSpPr/>
          <p:nvPr/>
        </p:nvSpPr>
        <p:spPr>
          <a:xfrm>
            <a:off x="1216152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28600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CONNAISSANCE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269748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 élèves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542032" y="1645920"/>
            <a:ext cx="1901952" cy="1691640"/>
          </a:xfrm>
          <a:prstGeom prst="roundRect">
            <a:avLst>
              <a:gd name="adj" fmla="val 5405"/>
            </a:avLst>
          </a:prstGeom>
          <a:solidFill>
            <a:srgbClr val="DEEAF6"/>
          </a:solidFill>
          <a:ln/>
        </p:spPr>
      </p:sp>
      <p:sp>
        <p:nvSpPr>
          <p:cNvPr id="14" name="Shape 11"/>
          <p:cNvSpPr/>
          <p:nvPr/>
        </p:nvSpPr>
        <p:spPr>
          <a:xfrm>
            <a:off x="3300984" y="1810512"/>
            <a:ext cx="384048" cy="3840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5" name="Text 12"/>
          <p:cNvSpPr/>
          <p:nvPr/>
        </p:nvSpPr>
        <p:spPr>
          <a:xfrm>
            <a:off x="3300984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2633472" y="228600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2633472" y="269748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 élèves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626864" y="1645920"/>
            <a:ext cx="1901952" cy="1691640"/>
          </a:xfrm>
          <a:prstGeom prst="roundRect">
            <a:avLst>
              <a:gd name="adj" fmla="val 5405"/>
            </a:avLst>
          </a:prstGeom>
          <a:solidFill>
            <a:srgbClr val="F2F2F2"/>
          </a:solidFill>
          <a:ln/>
        </p:spPr>
      </p:sp>
      <p:sp>
        <p:nvSpPr>
          <p:cNvPr id="19" name="Shape 16"/>
          <p:cNvSpPr/>
          <p:nvPr/>
        </p:nvSpPr>
        <p:spPr>
          <a:xfrm>
            <a:off x="5385816" y="1810512"/>
            <a:ext cx="384048" cy="3840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0" name="Text 17"/>
          <p:cNvSpPr/>
          <p:nvPr/>
        </p:nvSpPr>
        <p:spPr>
          <a:xfrm>
            <a:off x="5385816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718304" y="228600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CONSIGNE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718304" y="269748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 élèves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711696" y="1645920"/>
            <a:ext cx="1901952" cy="1691640"/>
          </a:xfrm>
          <a:prstGeom prst="roundRect">
            <a:avLst>
              <a:gd name="adj" fmla="val 5405"/>
            </a:avLst>
          </a:prstGeom>
          <a:solidFill>
            <a:srgbClr val="DEEAF6"/>
          </a:solidFill>
          <a:ln/>
        </p:spPr>
      </p:sp>
      <p:sp>
        <p:nvSpPr>
          <p:cNvPr id="24" name="Shape 21"/>
          <p:cNvSpPr/>
          <p:nvPr/>
        </p:nvSpPr>
        <p:spPr>
          <a:xfrm>
            <a:off x="7470648" y="1810512"/>
            <a:ext cx="384048" cy="3840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5" name="Text 22"/>
          <p:cNvSpPr/>
          <p:nvPr/>
        </p:nvSpPr>
        <p:spPr>
          <a:xfrm>
            <a:off x="7470648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803136" y="228600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INATTENTION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6803136" y="269748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 élèves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7200" y="352044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DEEAF6"/>
          </a:solidFill>
          <a:ln/>
        </p:spPr>
      </p:sp>
      <p:sp>
        <p:nvSpPr>
          <p:cNvPr id="29" name="Text 26"/>
          <p:cNvSpPr/>
          <p:nvPr/>
        </p:nvSpPr>
        <p:spPr>
          <a:xfrm>
            <a:off x="777240" y="36118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famille a sa parade.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Consigne et inattention sont les points les moins chers à récupérer : aucun cours supplémentaire à apprendre, seulement un geste à installer.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écrite et engagement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Carnet de méthodes · page « Retour d’information »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DEEAF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7160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spc="100" kern="0" dirty="0">
                <a:solidFill>
                  <a:srgbClr val="2E5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J’écris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3 erreurs les plus récurrentes → leur famille → ma parade.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663440" y="123444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DEEAF6"/>
          </a:solidFill>
          <a:ln/>
        </p:spPr>
      </p:sp>
      <p:sp>
        <p:nvSpPr>
          <p:cNvPr id="7" name="Text 5"/>
          <p:cNvSpPr/>
          <p:nvPr/>
        </p:nvSpPr>
        <p:spPr>
          <a:xfrm>
            <a:off x="4892040" y="137160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spc="100" kern="0" dirty="0">
                <a:solidFill>
                  <a:srgbClr val="2E5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phrase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Ma famille dominante est… donc je… »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2E5395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46120"/>
            <a:ext cx="7680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ENGAGEMENT 7 JOURS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prochaine copie rendue, quelle que soit la matière : je l’analyse avec la typologie — surligner, classer, compter — en moins de 10 minutes.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reporte le résultat au carnet — bilan à la prochaine vie de classe.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· écran 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E1 · Reprendre ses copies : l’erreur est une information</dc:title>
  <dc:subject>PptxGenJS Presentation</dc:subject>
  <dc:creator>Institut Stanislas de Cannes</dc:creator>
  <cp:lastModifiedBy>Institut Stanislas de Cannes</cp:lastModifiedBy>
  <cp:revision>1</cp:revision>
  <dcterms:created xsi:type="dcterms:W3CDTF">2026-07-18T11:01:23Z</dcterms:created>
  <dcterms:modified xsi:type="dcterms:W3CDTF">2026-07-18T11:01:23Z</dcterms:modified>
</cp:coreProperties>
</file>