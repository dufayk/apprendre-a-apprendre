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Avant de lancer : vérifier que chacun a son cahier d’une matière, son carnet de méthodes, de quoi écrire. Annonce (1 phrase) : « Aujourd’hui : rendre vos notes utiles dans 15 jours, et mettre votre environnement de travail au niveau du lycée. » Ne pas dévoiler les principes maintenant.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Ouvrez votre cahier à un cours d’il y a environ quinze jours, n’importe quelle matière. Une minute pour y retrouver trois informations précises. Top. » Puis sondage à main levée sans commenter les cahiers : qui a trouvé les 3 ? la page mais pas l’info ? notes incomplètes ? Faire formuler par un élève : des notes servent dans 15 jours, pas le jour même. Durée totale phase : 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Je vais vous faire un mini-cours de quatre minutes. Prenez des notes exactement comme d’habitude, sur une feuille libre. Une seule règle : je ne répète rien, même si on me le demande. » Préparer l’annexe A du guide (capsule 1 « L’eau douce »). Rien au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la capsule 1 (annexe A du guide) debout, rythme de parole normal, courte pause aux transitions en gras. Aucune répétition, rien au tableau, seul cet écran reste projeté. ≈ 4 min de lecture + 1 min de relecture silencieuse. Résultat attendu : notes hétérogènes, sans structure ni marge — c’est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Échangez vos notes. Sur la grille, répondez aux quatre questions — sur les notes de l’autre, pas les vôtres. Puis le test : en trente secondes, retrouvez les trois idées principales. Sept minutes. » Support 1 distribué. Circuler. Préparer la distribution du gabarit (support 2) pour la mise en commun.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Noter les réponses des élèves au tableau, puis les regrouper sous trois principes avant d’afficher l’écran suivant. Le PP complète, il ne dicte pas. Distribuer le gabarit (support 2, 2 exemplaires par élève) pendant cette mise en commun.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Installer le terme « marge de questions » ; le mot Cornell est facultatif. Rappel : chaque principe doit être relié à un constat fait par les binômes à l’écran précédent. Fin de phase à la minute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Deuxième mini-cours, autre sujet, même durée, mêmes règles. Notes à droite, la marge reste vide pour l’instant. Appliquez les trois principes. » Lire la capsule 2 (annexe B, « La déforestation ») au même rythme. Vérifier en circulant que la marge reste vide. Faire constater à chacun le progrès par rapport à l’essai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Maintenant, la marge. Écrivez trois questions auxquelles vos notes répondent — comme sur l’exemple. » 3 minutes, l’exemple reste projeté. Circuler : une question par idée importante, pas trois questions sur le même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30 d’auto-interrogation notes masquées (vérifier en circulant), puis 1 min 30 de vérification. Annonce mot pour mot : « Ce que vous venez de faire — vous interroger au lieu de relire — est le geste le plus rentable de vos révisions. En octobre, séance B2 : vos fiches entières sur ce principe. » Phase incompressible.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Au lycée, une soirée de travail, c’est deux à trois heures. Reconstituez votre soirée d’hier ou d’avant-hier sur le support : horaires, lieu, écrans, interruptions. » Support 3, étape 1. Aider à concrétiser, ne pas moraliser : l’audit décrit, il ne juge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3, étape 2 (6 min). Anciens de A1 : mise à jour du protocole de 3e (carnet de méthodes) — qu’est-ce qui a tenu, qu’est-ce qui ne tient plus à 2–3 h de travail ? Nouveaux : création directe avec les exemples du support. Refuser « plus jamais de téléphone » ; exiger des règles vérifiables avec pauses cadrées. Signature et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Verbatim : « Complétez la trace écrite et collez-la dans le carnet, page du pilier Attention, avec un gabarit vierge. Engagement : le gabarit dans une matière à chaque cours, le protocole chaque soir. Vous cochez chaque jour. Point à la prochaine vie de classe. » Annoncer le regard bienveillant sur 3 cahiers volontaires à J+7. Rituel météo du transfert : § 1.4 du cadre.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A2 · 2DE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notes qui servent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prise de notes et environnement de travail au lycée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 · ATTENTION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cerveau n’apprend que ce qu’il regarde vraiment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notes d’il y a 15 jours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2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002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Retrouvez 3 informations précises dans votre cours d’il y a 15 jours.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avec vos notes.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définition, une date, une formule, un argument.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1 — comme d’habitude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3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002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Mini-cours de 4 minutes, comme un professeur qui parle sans dicter.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Prenez des notes comme vous le faites d’habitude, sur feuille libre.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ne répète rien.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1 — à vos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4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063240" y="1600200"/>
            <a:ext cx="3017520" cy="164592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224942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30168" y="1673352"/>
            <a:ext cx="23591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3063240" y="2916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965960" y="356616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2148840" y="36393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1 minute : relisez vos notes en silence.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notes de votre voisin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5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544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notes. Remplissez la grille — sur les notes de l’autre.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03580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le test des 30 secondes : retrouvez les 3 idées principales du mini-cours.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commun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6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14400" y="1828800"/>
            <a:ext cx="7315200" cy="1554480"/>
          </a:xfrm>
          <a:prstGeom prst="roundRect">
            <a:avLst>
              <a:gd name="adj" fmla="val 5882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196596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Qu’est-ce qui rend des notes exploitables dans 15 jours ?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principes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7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1463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—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titres, hiérarchie visible au premier coup d’œil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2395728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578608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17320" y="248716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Abréger —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mots-clés, symboles — jamais de phrases complètes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457200" y="3419856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3602736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17320" y="3511296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une marge de questions — </a:t>
            </a:r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 pendant le cours, remplie après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inspiré de la méthode Cornell.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 2 — sur le gabarit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8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002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2, mêmes règles.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à droite. Marge de gauche : vide.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Appliquez les 3 principes.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Ensuite, 2 min 30 pour compléter et structurer vos notes.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marge de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9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63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Écrivez dans la marge 3 questions auxquelles vos notes répondent.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35040" y="128016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236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353312"/>
            <a:ext cx="19933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6035040" y="2185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08960" y="3017520"/>
            <a:ext cx="4663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312724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Qu’est-ce que la déforestation ?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218688" y="3127248"/>
            <a:ext cx="4443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NOTES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défor. = conversion durable forêt → autre usage (champ, pâturage, ville)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Cachez vos notes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10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545336"/>
            <a:ext cx="429768" cy="42976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54533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1417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Cachez toute la partie droite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258568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2386584"/>
            <a:ext cx="429768" cy="42976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38658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280160" y="22585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Répondez de tête à vos 3 questions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3099816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58368" y="3227832"/>
            <a:ext cx="429768" cy="42976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227832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280160" y="30998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S’interroger vaut mieux que relire (Roediger &amp; Karpicke, 2006). En octobre, séance B2 : vos fiches entières sur ce principe.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soirée de travail, vraiment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11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459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Reconstituez votre dernière soirée de travail :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· lieu · écrans · interruptions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3180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856232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simple présence du téléphone pèse sur l’attention (Ward et al., 2017).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écrans, version lycée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écran 12 /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8132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règles maximum, au format « quand… alors… », vérifiables, pauses prévues dedans.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035040" y="13716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8836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01968" y="1444752"/>
            <a:ext cx="19933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603504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« Quand je commence à travailler, alors mon téléphone est en mode avion, hors de la chambre. »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héroïques interdites.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+ engagement 7 jours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Attention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97480" y="1463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108960" y="146304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abréger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0640" y="146304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532120" y="146304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de questions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au carnet : la trace écrite (support 4) + un gabarit de notes vierge, avec le protocole écrans v2 recopié.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880360"/>
            <a:ext cx="7772400" cy="1691640"/>
          </a:xfrm>
          <a:prstGeom prst="roundRect">
            <a:avLst>
              <a:gd name="adj" fmla="val 5405"/>
            </a:avLst>
          </a:prstGeom>
          <a:solidFill>
            <a:srgbClr val="2E5395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01752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7 JOURS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gabarit de notes dans une matière de mon choix, à chaque cours.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protocole écrans tenu chaque soir de travail.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jour — bilan à la prochaine vie de classe.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Institut Stanislas de Cannes</dc:creator>
  <cp:lastModifiedBy>Institut Stanislas de Cannes</cp:lastModifiedBy>
  <cp:revision>1</cp:revision>
  <dcterms:created xsi:type="dcterms:W3CDTF">2026-07-18T06:50:18Z</dcterms:created>
  <dcterms:modified xsi:type="dcterms:W3CDTF">2026-07-18T06:50:18Z</dcterms:modified>
</cp:coreProperties>
</file>