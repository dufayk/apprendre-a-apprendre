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(0–8). Lancement : « Vous avez récupéré vos copies de bac blanc. On en tire aujourd’hui l’information qui servira en juin — c’est le seul essai grandeur nature avant les écrits. Une règle, valable 55 minutes : on analyse les copies, on ne commente ni les notes, ni les correcteurs. » Vigilance : poser la règle maintenant évite le défouloir plus tard ; toute relance sur un correcteur se renvoie à la grille.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(0–8), 3 min individuel. Si les prédictions ont été recueillies en fin d’épreuve : « Reprenez la prédiction que vous aviez écrite avant de rendre votre copie. » Sinon, reconstitution : « Pour chaque épreuve du bac blanc, écrivez la note que vous pensiez avoir en sortant de la salle — avant le rendu. Personne ne la verra : soyez honnêtes, c’est votre instrument de mesure. » Chrono 3:00. Puis histogramme à main levée sur l’EDS n°1 uniquement, par tranches d’écart (−4 et moins · −3 à −2 · −1 à +1 · +2 à +3 · +4 et plus), effectifs tracés au tableau. Jamais d’écart nominatif.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(0–8), 1 min classe. Commenter les trois lectures à partir des effectifs tracés au tableau, pas d’un discours. Rappel autoporté à dire : « Prédire son score puis mesurer l’écart, c’est la calibration : savoir si l’on sait vraiment — le geste de la matrice “je sais / je crois savoir / je ne sais pas”. » Ne jamais nommer un élève ni afficher un écart individuel.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(8–30), 20 min individuel. Lancement : « Prenez la copie de la matière qui pèse le plus pour votre projet. Vous allez la relire point perdu par point perdu, avec la grille officielle — celle qui servira en juin. Pour chaque poste de pertes, deux questions : quelle famille d’erreur ? et quel choix d’épreuve est en cause ? » Distribuer ou projeter la grille officielle par matière ; 2 minutes de lecture silencieuse de la grille AVANT d’ouvrir la copie. Circuler, imposer le passage critère par critère, challenger les causes complaisantes. Élève terminé → deuxième copie, même méthode. Élève absent au bac blanc → copie anonymisée de secours.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affiché pendant l’atelier de la phase 2 (8–30). Rappel autoporté pour les élèves qui n’ont pas vécu la séance socle : « Connaissance, méthode, consigne, inattention : les 4 familles posées en début d’année sur vos premières copies. » Ne pas exposer les familles en magistral : les élèves travaillent, l’écran sert de référence.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affiché pendant l’atelier de la phase 2 (8–30). C’est la nouveauté du jour par rapport aux séances précédentes : la conduite de l’épreuve. À dire en circulant : « La nouveauté du jour, c’est l’axe d’épreuve : temps, choix, plan — la part de la note qui ne dépend d’aucune révision. » Tous les postes de pertes n’ont pas d’axe : la colonne peut rester 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Écran affiché pendant l’atelier de la phase 2 (8–30). Sert à l’animateur pour challenger les diagnostics de complaisance en circulant. Ne pas moraliser : montrer le poste de pertes sur la copie et poser la question « qu’est-ce qui le prouve 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(30–40), 10 min binôme. Lancement : « Deux minutes chacun : vous présentez votre diagnostic, copie ouverte à l’appui. Le rôle de l’autre n’est pas d’approuver : il vérifie que le diagnostic correspond à ce qu’on voit réellement sur la copie. » Modéliser l’échange 1 minute sur un exemple (une question, une preuve montrée du doigt) avant de lancer le chrono. Le vérificateur signe le support 2. Plan B : réduire à 6 minutes et ne garder que la question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(40–52), 6 min individuel. Lancement : « Un diagnostic sans décision ne change rien. Vous arrêtez deux décisions — pas trois, pas cinq. Une sur vos révisions, une sur votre conduite d’épreuve. Chacune au format “quand… alors…”, datée, vérifiable par quelqu’un d’autre. » Rappel autoporté : le rétro-planning de réactivation (B4) et le cycle « un sujet par quinzaine et par spécialité » (D3) sont déjà en place ; la décision les ajuste, elle ne crée pas un dispositif de plus. Refuser toute décision vague ou multiple.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(40–52), 6 min individuel. La décision porte sur l’axe dominant repéré au support 2. Critères de validation, à faire vérifier en binôme sur la checklist du support 3 : une seule action par décision · un déclencheur daté ou situé · vérifiable par un tiers · testée au prochain sujet blanc ou DS. Performants méthodiquement fragiles : écart de calibration faible mais pertes en conduite d’épreuve → leur faire remplir le plan de passage minuté du support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(52–55), 3 min individuel. Verbatim : « Au carnet de méthodes, page Retour d’information : le diagnostic en trois lignes, les deux décisions datées. C’est ce qu’on relira au point mensuel. Et au prochain bac blanc ou DS commun : la prédiction s’écrit en fin d’épreuve, avant de rendre — l’écart doit se réduire. » Incompressible, même si le binôme a sauté. Suivi : météo du transfert à la prochaine vie de classe (§ 1.4) ; vérification des deux décisions au point mensuel C4/B4 ; recueil systématique des prédictions à la fin de chaque épreuve du prochain bac blanc.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E3 · Terminale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bac blanc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calibrer et ajuster sa stratégie d’épreuve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69748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7889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 · RETOUR D’INFORMATION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L’erreur est une information, pas une punition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des 55 minutes : on analyse les copies — on ne commente ni les notes, ni les correcteurs.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calibration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1 · pour chaque épreuve du bac blanc, trois colonnes 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DEEAF6"/>
          </a:solidFill>
          <a:ln/>
        </p:spPr>
      </p:sp>
      <p:sp>
        <p:nvSpPr>
          <p:cNvPr id="8" name="Shape 5"/>
          <p:cNvSpPr/>
          <p:nvPr/>
        </p:nvSpPr>
        <p:spPr>
          <a:xfrm>
            <a:off x="621792" y="1600200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15087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que je pensais avoir en sortant de la salle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167128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F2F2F2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" y="225856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" y="21671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obtenue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2825496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DEEAF6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" y="291693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282549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L’écart = obtenue − prédite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263640" y="150876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52244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30568" y="1581912"/>
            <a:ext cx="1764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4000" dirty="0"/>
          </a:p>
        </p:txBody>
      </p:sp>
      <p:sp>
        <p:nvSpPr>
          <p:cNvPr id="22" name="Text 18"/>
          <p:cNvSpPr/>
          <p:nvPr/>
        </p:nvSpPr>
        <p:spPr>
          <a:xfrm>
            <a:off x="6263640" y="2414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honnête : personne ne la verra. </a:t>
            </a:r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votre instrument de mesure.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son écart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écart n’est ni une honte ni un hasard : c’est un diagnostic.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169164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 SURESTIME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214884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J’ai révisé en relisant.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Familier n’est pas su — la zone dangereuse de ma matrice.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3456432" y="169164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 SOUS-ESTIME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56432" y="214884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d’épreuve, ou exigences mal comprises.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officielle va trancher.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26480" y="15544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DEEAF6"/>
          </a:solidFill>
          <a:ln/>
        </p:spPr>
      </p:sp>
      <p:sp>
        <p:nvSpPr>
          <p:cNvPr id="14" name="Text 11"/>
          <p:cNvSpPr/>
          <p:nvPr/>
        </p:nvSpPr>
        <p:spPr>
          <a:xfrm>
            <a:off x="6291072" y="169164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FAIBLE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91072" y="214884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ce que je sais.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points se gagnent dans la conduite de l’épreuve.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2E5395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931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 de la classe : anonyme, par tranches. Aucune note, aucun nom.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" y="45262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des jugements d’apprentissage — Bjork, Dunlosky &amp; Kornell, 2013.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copie, avec la grille de juin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DEEAF6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" y="1325880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2344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copie de la matière qui pèse le plus pour mon projet.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57200" y="1892808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" y="198424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18928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officielle, critère par critère — d’abord la lire.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57200" y="2551176"/>
            <a:ext cx="5577840" cy="566928"/>
          </a:xfrm>
          <a:prstGeom prst="roundRect">
            <a:avLst>
              <a:gd name="adj" fmla="val 16129"/>
            </a:avLst>
          </a:prstGeom>
          <a:solidFill>
            <a:srgbClr val="DEEAF6"/>
          </a:solidFill>
          <a:ln/>
        </p:spPr>
      </p:sp>
      <p:sp>
        <p:nvSpPr>
          <p:cNvPr id="15" name="Shape 12"/>
          <p:cNvSpPr/>
          <p:nvPr/>
        </p:nvSpPr>
        <p:spPr>
          <a:xfrm>
            <a:off x="621792" y="264261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" y="255117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perdu → support 2 : ce qui a manqué, la famille, l’axe.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263640" y="1234440"/>
            <a:ext cx="2423160" cy="128016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700784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30568" y="1307592"/>
            <a:ext cx="17647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6263640" y="21854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" y="3383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termine par la synthèse, en bas du support 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postes de pertes · ma famille dominante · mon axe d’épreuve dominant.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perdu a une famille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837944" cy="1783080"/>
          </a:xfrm>
          <a:prstGeom prst="roundRect">
            <a:avLst>
              <a:gd name="adj" fmla="val 5128"/>
            </a:avLst>
          </a:prstGeom>
          <a:solidFill>
            <a:srgbClr val="DEEAF6"/>
          </a:solidFill>
          <a:ln/>
        </p:spPr>
      </p:sp>
      <p:sp>
        <p:nvSpPr>
          <p:cNvPr id="7" name="Shape 4"/>
          <p:cNvSpPr/>
          <p:nvPr/>
        </p:nvSpPr>
        <p:spPr>
          <a:xfrm>
            <a:off x="1179576" y="157276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1179576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377440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n’était pas su.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587752" y="1417320"/>
            <a:ext cx="1837944" cy="1783080"/>
          </a:xfrm>
          <a:prstGeom prst="roundRect">
            <a:avLst>
              <a:gd name="adj" fmla="val 5128"/>
            </a:avLst>
          </a:prstGeom>
          <a:solidFill>
            <a:srgbClr val="F2F2F2"/>
          </a:solidFill>
          <a:ln/>
        </p:spPr>
      </p:sp>
      <p:sp>
        <p:nvSpPr>
          <p:cNvPr id="12" name="Shape 9"/>
          <p:cNvSpPr/>
          <p:nvPr/>
        </p:nvSpPr>
        <p:spPr>
          <a:xfrm>
            <a:off x="3310128" y="157276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33101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679192" y="205740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679192" y="2377440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Su, mais pas utilisable.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718304" y="1417320"/>
            <a:ext cx="1837944" cy="1783080"/>
          </a:xfrm>
          <a:prstGeom prst="roundRect">
            <a:avLst>
              <a:gd name="adj" fmla="val 5128"/>
            </a:avLst>
          </a:prstGeom>
          <a:solidFill>
            <a:srgbClr val="DEEAF6"/>
          </a:solidFill>
          <a:ln/>
        </p:spPr>
      </p:sp>
      <p:sp>
        <p:nvSpPr>
          <p:cNvPr id="17" name="Shape 14"/>
          <p:cNvSpPr/>
          <p:nvPr/>
        </p:nvSpPr>
        <p:spPr>
          <a:xfrm>
            <a:off x="5440680" y="157276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5"/>
          <p:cNvSpPr/>
          <p:nvPr/>
        </p:nvSpPr>
        <p:spPr>
          <a:xfrm>
            <a:off x="544068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09744" y="205740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809744" y="2377440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 chose que ce qui était demandé.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48856" y="1417320"/>
            <a:ext cx="1837944" cy="1783080"/>
          </a:xfrm>
          <a:prstGeom prst="roundRect">
            <a:avLst>
              <a:gd name="adj" fmla="val 5128"/>
            </a:avLst>
          </a:prstGeom>
          <a:solidFill>
            <a:srgbClr val="F2F2F2"/>
          </a:solidFill>
          <a:ln/>
        </p:spPr>
      </p:sp>
      <p:sp>
        <p:nvSpPr>
          <p:cNvPr id="22" name="Shape 19"/>
          <p:cNvSpPr/>
          <p:nvPr/>
        </p:nvSpPr>
        <p:spPr>
          <a:xfrm>
            <a:off x="7571232" y="157276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Text 20"/>
          <p:cNvSpPr/>
          <p:nvPr/>
        </p:nvSpPr>
        <p:spPr>
          <a:xfrm>
            <a:off x="757123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40296" y="2057400"/>
            <a:ext cx="1655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INATTENTION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940296" y="2377440"/>
            <a:ext cx="1655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Su, écrit, mais raté.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34290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2E5395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3429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familles de vos copies, installées en début d’année. Une par point perdu.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et souvent un axe d’épreuve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536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1792" y="196596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de passage : combien de minutes, pour quelle partie.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3429000" y="1536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456432" y="196596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sujet, l’exercice, la question retenue.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2648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15361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91072" y="196596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structure, le brouillon, l’ordre de la copie.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4290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E5395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429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 de la note qui ne dépend d’aucune révision — et qui s’ajuste dès le prochain sujet.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L’honnêteté paie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Inattention » qui revient sur les définitions  </a:t>
            </a:r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cours non su.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Manque de temps » sur toute la copie  </a:t>
            </a:r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plan de passage absent.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cause complaisante coûte les points de juin.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retour d’information ne sert que si on le traite, critère par critère.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452628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feedback n’agit que s’il est traité par l’élève — Hattie &amp; Timperley, 2007.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binôme vérificateur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: je présente mon diagnostic, copie ouverte. 2 min : l’autre vérifie.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on inverse. Le vérificateur n’approuve pas : il vérifie sur la copie.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63640" y="105156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38074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30568" y="112471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6263640" y="17282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5:00 · chrono projeté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57200" y="22402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DEEAF6"/>
          </a:solidFill>
          <a:ln/>
        </p:spPr>
      </p:sp>
      <p:sp>
        <p:nvSpPr>
          <p:cNvPr id="12" name="Shape 8"/>
          <p:cNvSpPr/>
          <p:nvPr/>
        </p:nvSpPr>
        <p:spPr>
          <a:xfrm>
            <a:off x="621792" y="2331720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9"/>
          <p:cNvSpPr/>
          <p:nvPr/>
        </p:nvSpPr>
        <p:spPr>
          <a:xfrm>
            <a:off x="621792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43000" y="22402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Montre-moi où tu perds le plus de points.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2898648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2F2F2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" y="2990088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3"/>
          <p:cNvSpPr/>
          <p:nvPr/>
        </p:nvSpPr>
        <p:spPr>
          <a:xfrm>
            <a:off x="621792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3000" y="28986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erreur-là, tu la classes où — et qu’est-ce qui le prouve sur la copie ?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3557016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DEEAF6"/>
          </a:solidFill>
          <a:ln/>
        </p:spPr>
      </p:sp>
      <p:sp>
        <p:nvSpPr>
          <p:cNvPr id="20" name="Shape 16"/>
          <p:cNvSpPr/>
          <p:nvPr/>
        </p:nvSpPr>
        <p:spPr>
          <a:xfrm>
            <a:off x="621792" y="3648456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7"/>
          <p:cNvSpPr/>
          <p:nvPr/>
        </p:nvSpPr>
        <p:spPr>
          <a:xfrm>
            <a:off x="621792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143000" y="355701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15 minutes de plus, qu’est-ce qui aurait changé ?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réponse à la question 3 est « rien » : le problème n’est pas le temps.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n°1 : mes révisions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515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</a:t>
            </a:r>
            <a:pPr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[déclencheur daté ou situé]</a:t>
            </a:r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alors </a:t>
            </a:r>
            <a:pPr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[une action d’auto-test].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63640" y="105156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49504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0568" y="1124712"/>
            <a:ext cx="1764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263640" y="1956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148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2148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entre dans l’existant : mon rétro-planning de réactivation ou mon cycle de sujets blancs.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EEAF6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" y="2926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« Quand dimanche 17 h, alors 20 minutes d’auto-test sur un chapitre “je crois savoir” de la matière du bac blanc raté. »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Réviser plus », « refaire toutes mes fiches » : ce ne sont pas des décisions.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n°2 : ma conduite d’épreuve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2E5395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51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377440" y="1051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2E5395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1051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0515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2E5395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1051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05156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49504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30568" y="1124712"/>
            <a:ext cx="1764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6263640" y="1956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169164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DEEAF6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" y="1691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</a:t>
            </a:r>
            <a:pPr indent="0" marL="0">
              <a:buNone/>
            </a:pPr>
            <a:r>
              <a:rPr lang="en-US" sz="15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 prochain sujet blanc ou DS]</a:t>
            </a:r>
            <a:pPr indent="0" marL="0">
              <a:buNone/>
            </a:pPr>
            <a:r>
              <a:rPr lang="en-US" sz="15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alors </a:t>
            </a:r>
            <a:pPr indent="0" marL="0">
              <a:buNone/>
            </a:pPr>
            <a:r>
              <a:rPr lang="en-US" sz="15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[une action, une seule].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457200" y="265176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" y="265176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…alors je pose mon plan de passage minuté dans les 5 premières minutes et je garde 15 minutes de relecture. »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…alors plan détaillé au brouillon avant toute rédaction, 20 minutes maximum. »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…alors lecture complète des deux sujets avant de choisir, 5 minutes chrono. »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Mieux gérer mon temps » n’existe pas. Une action, un déclencheur, une vérification.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 + mon engagement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Retour d’information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132588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écarts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/ obtenu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78608" y="13258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32588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famille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54296" y="13258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727448" y="132588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axe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d’épreuve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29984" y="13258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03136" y="1325880"/>
            <a:ext cx="1773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décisions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datées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8138160" cy="1600200"/>
          </a:xfrm>
          <a:prstGeom prst="roundRect">
            <a:avLst>
              <a:gd name="adj" fmla="val 6857"/>
            </a:avLst>
          </a:prstGeom>
          <a:solidFill>
            <a:srgbClr val="2E539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23160"/>
            <a:ext cx="7589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décision « révisions » est exécutée cette semaine, à la date écrite.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décision « conduite d’épreuve » est testée au prochain sujet blanc.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prochaine épreuve : ma prédiction s’écrit avant de rendre la copie.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semaine — bilan à la prochaine vie de classe, puis au point mensuel.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écran 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E3 · Après le bac blanc : calibrer et ajuster sa stratégie d’épreuve — Tle</dc:title>
  <dc:subject>PptxGenJS Presentation</dc:subject>
  <dc:creator>Institut Stanislas de Cannes</dc:creator>
  <cp:lastModifiedBy>Institut Stanislas de Cannes</cp:lastModifiedBy>
  <cp:revision>1</cp:revision>
  <dcterms:created xsi:type="dcterms:W3CDTF">2026-07-18T09:45:43Z</dcterms:created>
  <dcterms:modified xsi:type="dcterms:W3CDTF">2026-07-18T09:45:43Z</dcterms:modified>
</cp:coreProperties>
</file>