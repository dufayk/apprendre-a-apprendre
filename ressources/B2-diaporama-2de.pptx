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(0-7 min). Ouvrir sans annoncer l'objet de la seance : on montre d'abord, on nomme apres. Ne pas prononcer les mots "illusion de savoir" ni "calibration" avant l'ecran 7. Materiel a verifier avant de commencer : bulletins de prediction decoupes, quiz photocopies face cachee, corrige pret a projeter.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"Sortez la fiche de revision que vous avez apportee - si vous n'en avez pas, prenez la derniere page de cours que vous avez travaillee. Relisez-la, 90 secondes." Puis : "Retournez la fiche. Sur une feuille, notez tout ce que vous en retenez : notions, definitions, dates, formules. 2 minutes, fiche interdite." Mise en commun 2-3 min : faire constater l'ecart entre le sentiment de connaitre et la restitution reelle. Vigilance : ne rien nommer a ce stade.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(7-15 min). Verbatim : "Dans un instant, vous passez un quiz de 10 questions sur le chapitre annonce. Sans document, seul, 8 minutes. Avant de voir la moindre question : ecrivez sur le bulletin votre pronostic honnete, en points sur 10. Personne ne lira ce bulletin avec votre nom - il servira a un graphique anonyme." REGLE STRICTE : verifier d'un regard que tous les bulletins portent un chiffre AVANT de distribuer 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le quiz seulement une fois toutes les predictions ecrites. Lancer le chrono : 8 minutes, silence, sans document. Circuler pour tenir les conditions, ne repondre a aucune question de contenu.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(15-22 min). Projeter le corrige, bareme binaire, 15-20 secondes par question. Puis verbatim : "Calculez : score obtenu moins score predit. Ecrivez ce seul chiffre en bas du bulletin, pliez-le, passez-le au bout du rang." Ramasser rang par 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Depouiller les bulletins plies en batonnets sous chaque colonne (30 bulletins = environ 90 secondes). Resultat attendu : la masse est a gauche de zero. Protection absolue de l'anonymat : aucun bulletin nominatif, aucun "qui a eu -5 ?", aucun regard appuye. Plan B si le temps manque : vote tetes baissees, mains levees par colonne.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Nommage bref, appuye sur les chiffres de la classe : "Ce que vous venez de mesurer a deux noms. L'illusion de savoir : relire une fiche la rend familiere, et le cerveau confond familier et su - c'est exactement ce qui s'est passe avec la fiche retournee tout a l'heure. La calibration : savoir si l'on sait. Aujourd'hui la classe s'est trompee en moyenne de X points. La bonne nouvelle : ca se corrige." Ne pas depasser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Ecran de bascule vers l'atelier. Une phrase suffit : la regle d'or est la trace ecrite de la seance. Enchainer immediatement sur l'ecran 9, l'atelier fait 23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(22-45 min). Verbatim de lancement puis circulation avec la grille de controle (support 5). Trois interventions types : fiche qui raconte -&gt; "cache le verso : peux-tu t'interroger avec le recto seul ?" ; questions de pure definition -&gt; "ajoute un pourquoi, un comment, ou un mini-exercice" ; recopie decoree -&gt; "la couleur est permise, apres les questions". Plan B : descendre a 6 questions dont 1 pourquoi/comment et 1 application, jamais en dessous.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Ecran de reference a laisser affiche pendant l'atelier. Si la classe travaille une matiere litteraire, remplacer l'exemple avant/apres par celui du support 4 (histoire) : "A Athenes au Ve siecle, les citoyens votent les lois a l'Ecclesia..." devient "Q1. Qui vote les lois a Athenes, et ou ?". Rappel B1 pour les eleves venus du college de l'etablissement : ce sont les criteres de bonnes questions deja travailles en 3e.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(45-52 min). C'est le controle qualite : une fiche qui fonctionne dans les mains d'un autre fonctionnera seul a la maison. Veiller au cahier ferme et annoncer "on change" a 48 minutes. Plan B : test a sens unique (3 min), l'autre sens se fera a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6 (52-55 min). Trace ecrite collee ou recopiee au carnet, page du pilier Engagement actif, avec l'ecart du jour. Rituel meteo du transfert a la prochaine vie de classe (3 a 5 min) : main levee "qui a tenu au moins 5 jours sur 7 ?", deux temoignages (un obstacle, une astuce), reformulation de l'engagement. Suivi propre a B2 : refaire le barometre anonyme des ecarts apres le prochain DS - l'ecart moyen doit se resserrer.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B2 · Seconde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fiches qui interrogent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et savoir si l’on sait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n’apprends que si je fais l’effort de chercher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retournée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2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32688" y="118872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1133856" y="128016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Relisez votre fiche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fiche : la dernière page de cours travaillée.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17720" y="1234440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93208" y="118872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5294376" y="128016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Retournez-la. Notez tout ce qui reste.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feuille, de mémoire.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17320" y="251460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2F2F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293522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84248" y="25877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141732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77840" y="251460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2F2F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93522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44768" y="25877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3800" dirty="0"/>
          </a:p>
        </p:txBody>
      </p:sp>
      <p:sp>
        <p:nvSpPr>
          <p:cNvPr id="22" name="Text 17"/>
          <p:cNvSpPr/>
          <p:nvPr/>
        </p:nvSpPr>
        <p:spPr>
          <a:xfrm>
            <a:off x="557784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interdite pendant l’étape 2.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457200" y="42793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Comparez ensuite votre feuille et votre fiche : qu’est-ce qui a disparu entre les deux 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pronostic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3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280160"/>
            <a:ext cx="4672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dans un instant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· chapitre étudié en classe · 8 minutes · sans document.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97880" y="11887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007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126187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5897880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7909560" cy="1051560"/>
          </a:xfrm>
          <a:prstGeom prst="roundRect">
            <a:avLst>
              <a:gd name="adj" fmla="val 8696"/>
            </a:avLst>
          </a:prstGeom>
          <a:solidFill>
            <a:srgbClr val="DEEAF6"/>
          </a:solidFill>
          <a:ln/>
        </p:spPr>
      </p:sp>
      <p:sp>
        <p:nvSpPr>
          <p:cNvPr id="14" name="Text 10"/>
          <p:cNvSpPr/>
          <p:nvPr/>
        </p:nvSpPr>
        <p:spPr>
          <a:xfrm>
            <a:off x="658368" y="2834640"/>
            <a:ext cx="7507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voir la moindre question : écrivez sur le bulletin votre pronostic honnête.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/ 10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" y="39776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anonyme : aucun nom. Il servira à un graphique de classe.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quiz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4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657600" cy="265176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865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307592"/>
            <a:ext cx="299923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6400" dirty="0"/>
          </a:p>
        </p:txBody>
      </p:sp>
      <p:sp>
        <p:nvSpPr>
          <p:cNvPr id="10" name="Text 6"/>
          <p:cNvSpPr/>
          <p:nvPr/>
        </p:nvSpPr>
        <p:spPr>
          <a:xfrm>
            <a:off x="45720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80560" y="1234440"/>
            <a:ext cx="3886200" cy="2651760"/>
          </a:xfrm>
          <a:prstGeom prst="roundRect">
            <a:avLst>
              <a:gd name="adj" fmla="val 3448"/>
            </a:avLst>
          </a:prstGeom>
          <a:solidFill>
            <a:srgbClr val="DEEAF6"/>
          </a:solidFill>
          <a:ln/>
        </p:spPr>
      </p:sp>
      <p:sp>
        <p:nvSpPr>
          <p:cNvPr id="12" name="Text 8"/>
          <p:cNvSpPr/>
          <p:nvPr/>
        </p:nvSpPr>
        <p:spPr>
          <a:xfrm>
            <a:off x="4681728" y="1325880"/>
            <a:ext cx="3483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par question.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· en silence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document sur la table.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406908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bulletin de pronostic reste devant vous, face écrite dessous.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Correction, puis un seul chiffre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5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280160"/>
            <a:ext cx="4672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si la réponse contient l’attendu.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demi-point.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97880" y="118872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5407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1261872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5897880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423160"/>
            <a:ext cx="790956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14" name="Text 10"/>
          <p:cNvSpPr/>
          <p:nvPr/>
        </p:nvSpPr>
        <p:spPr>
          <a:xfrm>
            <a:off x="658368" y="2514600"/>
            <a:ext cx="7507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obtenu  −  score prédit  =  mon écart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" y="345643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j’avais prédit 8, j’ai eu 5 → mon écart est − 3.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886200"/>
            <a:ext cx="7909560" cy="6858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" y="3977640"/>
            <a:ext cx="7507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seul chiffre en bas du bulletin → pliez → passez au bout du rang.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écarts de la classe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6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moins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075688" y="132588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2075688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694176" y="132588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3694176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312664" y="132588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5312664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931152" y="132588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6931152" y="1325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plus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" y="3566160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bâtonnets reportés au tableau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7936992" cy="731520"/>
          </a:xfrm>
          <a:prstGeom prst="roundRect">
            <a:avLst>
              <a:gd name="adj" fmla="val 12500"/>
            </a:avLst>
          </a:prstGeom>
          <a:solidFill>
            <a:srgbClr val="DEEAF6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4023360"/>
            <a:ext cx="7534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négatif = je me croyais plus prêt que je ne l’étais.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noms pour ce que vous venez de mesurer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7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417320"/>
            <a:ext cx="3438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L’illusion de savoir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rend familier.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Familier n’est pas su.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26280" y="132588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4727448" y="1417320"/>
            <a:ext cx="3438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calibration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si l’on sait.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se mesure, et cela s’entraîne.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Bjork, Dunlosky &amp; Kornell, 2013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7909560" cy="914400"/>
          </a:xfrm>
          <a:prstGeom prst="roundRect">
            <a:avLst>
              <a:gd name="adj" fmla="val 10000"/>
            </a:avLst>
          </a:prstGeom>
          <a:solidFill>
            <a:srgbClr val="2E5395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3703320"/>
            <a:ext cx="7507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que vous fabriquez maintenant sert exactement à corriger cet écart.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d’or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8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05840" y="155448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1645920"/>
            <a:ext cx="6364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ne raconte pas.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pose des questions.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pour les trois ans de lycée.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convertir votre fiche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9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280160"/>
            <a:ext cx="4672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au recto · réponses au verso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97880" y="118872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180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1261872"/>
            <a:ext cx="1810512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5897880" y="3465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2240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8 questions numérotées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2 « pourquoi » ou « comment 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2 questions d’application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légendé → schéma à trous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3931920"/>
            <a:ext cx="790956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/>
        </p:spPr>
      </p:sp>
      <p:sp>
        <p:nvSpPr>
          <p:cNvPr id="15" name="Text 11"/>
          <p:cNvSpPr/>
          <p:nvPr/>
        </p:nvSpPr>
        <p:spPr>
          <a:xfrm>
            <a:off x="658368" y="4023360"/>
            <a:ext cx="7507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fiche ? Créez-la directement à ce format depuis votre cours — c’est même plus rapide.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10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234440"/>
            <a:ext cx="3438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spc="10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RECTO — les questions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… ?   Q2. … ?   Q3. … ?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(application). … ?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à trous : 1 … 2 … 3 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26280" y="114300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7448" y="1234440"/>
            <a:ext cx="3438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spc="10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— les réponses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R1. …   R2. …   R3. …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R4. …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Légendes dans l’ordre des numéros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3017520"/>
            <a:ext cx="3438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masse volumique ρ = m/V permet d’identifier une espèce chimique. Celle de l’eau vaut 1,00 g/mL à 20 °C. »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26280" y="292608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/>
        </p:spPr>
      </p:sp>
      <p:sp>
        <p:nvSpPr>
          <p:cNvPr id="14" name="Text 11"/>
          <p:cNvSpPr/>
          <p:nvPr/>
        </p:nvSpPr>
        <p:spPr>
          <a:xfrm>
            <a:off x="4727448" y="3017520"/>
            <a:ext cx="3438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spc="10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Formule de la masse volumique ?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Sa valeur pour l’eau à 20 °C ?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(application). Un liquide à 0,79 g/mL peut-il être de l’eau 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fiche fonctionne-t-elle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11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280160"/>
            <a:ext cx="4672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fiches.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interroge l’autre avec la fiche de l’autre — 3 minutes chacun.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97880" y="1188720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322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1261872"/>
            <a:ext cx="18105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5897880" y="2093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8978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fermé.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2560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Cotation en marge, question par question :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68680" y="2926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920240" y="2926080"/>
            <a:ext cx="347472" cy="347472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9" name="Text 15"/>
          <p:cNvSpPr/>
          <p:nvPr/>
        </p:nvSpPr>
        <p:spPr>
          <a:xfrm>
            <a:off x="19202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331720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611880" y="2926080"/>
            <a:ext cx="347472" cy="347472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" name="Text 18"/>
          <p:cNvSpPr/>
          <p:nvPr/>
        </p:nvSpPr>
        <p:spPr>
          <a:xfrm>
            <a:off x="361188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02336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su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457200" y="3611880"/>
            <a:ext cx="790956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25" name="Text 21"/>
          <p:cNvSpPr/>
          <p:nvPr/>
        </p:nvSpPr>
        <p:spPr>
          <a:xfrm>
            <a:off x="658368" y="3703320"/>
            <a:ext cx="7507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impossible à poser telle quelle ? C’est un défaut de la fiche :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entourez-la, l’auteur la réécrit.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Engagement actif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79095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ne raconte pas : une fiche pose des questions.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mesure du jour :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prédit … / 10   ·   score obtenu … / 10   ·   écart 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909560" cy="1600200"/>
          </a:xfrm>
          <a:prstGeom prst="roundRect">
            <a:avLst>
              <a:gd name="adj" fmla="val 5714"/>
            </a:avLst>
          </a:prstGeom>
          <a:solidFill>
            <a:srgbClr val="2E539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97480"/>
            <a:ext cx="7452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2 autres fiches dans les 15 jours.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DS : écrire mon pronostic de note, puis le comparer à la note reçue.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jour — bilan à la prochaine vie de classe.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écran 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B2 - Des fiches qui interrogent, et savoir si l’on sait - 2de</dc:title>
  <dc:subject>PptxGenJS Presentation</dc:subject>
  <dc:creator>Institut Stanislas de Cannes</dc:creator>
  <cp:lastModifiedBy>Institut Stanislas de Cannes</cp:lastModifiedBy>
  <cp:revision>1</cp:revision>
  <dcterms:created xsi:type="dcterms:W3CDTF">2026-07-18T07:01:51Z</dcterms:created>
  <dcterms:modified xsi:type="dcterms:W3CDTF">2026-07-18T07:01:51Z</dcterms:modified>
</cp:coreProperties>
</file>